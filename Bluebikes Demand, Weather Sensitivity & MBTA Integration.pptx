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notesSlides/notesSlide4.xml" ContentType="application/vnd.openxmlformats-officedocument.presentationml.notesSlide+xml"/>
  <Override PartName="/ppt/tags/tag8.xml" ContentType="application/vnd.openxmlformats-officedocument.presentationml.tags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ags/tag23.xml" ContentType="application/vnd.openxmlformats-officedocument.presentationml.tags+xml"/>
  <Override PartName="/ppt/notesSlides/notesSlide7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tags/tag56.xml" ContentType="application/vnd.openxmlformats-officedocument.presentationml.tags+xml"/>
  <Override PartName="/ppt/notesSlides/notesSlide10.xml" ContentType="application/vnd.openxmlformats-officedocument.presentationml.notesSlide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notesSlides/notesSlide11.xml" ContentType="application/vnd.openxmlformats-officedocument.presentationml.notesSlide+xml"/>
  <Override PartName="/ppt/charts/chart5.xml" ContentType="application/vnd.openxmlformats-officedocument.drawingml.chart+xml"/>
  <Override PartName="/ppt/tags/tag62.xml" ContentType="application/vnd.openxmlformats-officedocument.presentationml.tags+xml"/>
  <Override PartName="/ppt/notesSlides/notesSlide12.xml" ContentType="application/vnd.openxmlformats-officedocument.presentationml.notesSlide+xml"/>
  <Override PartName="/ppt/tags/tag63.xml" ContentType="application/vnd.openxmlformats-officedocument.presentationml.tags+xml"/>
  <Override PartName="/ppt/notesSlides/notesSlide13.xml" ContentType="application/vnd.openxmlformats-officedocument.presentationml.notesSlide+xml"/>
  <Override PartName="/ppt/tags/tag64.xml" ContentType="application/vnd.openxmlformats-officedocument.presentationml.tags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17"/>
  </p:notesMasterIdLst>
  <p:sldIdLst>
    <p:sldId id="256" r:id="rId2"/>
    <p:sldId id="259" r:id="rId3"/>
    <p:sldId id="277" r:id="rId4"/>
    <p:sldId id="304" r:id="rId5"/>
    <p:sldId id="291" r:id="rId6"/>
    <p:sldId id="305" r:id="rId7"/>
    <p:sldId id="293" r:id="rId8"/>
    <p:sldId id="306" r:id="rId9"/>
    <p:sldId id="296" r:id="rId10"/>
    <p:sldId id="297" r:id="rId11"/>
    <p:sldId id="307" r:id="rId12"/>
    <p:sldId id="299" r:id="rId13"/>
    <p:sldId id="308" r:id="rId14"/>
    <p:sldId id="302" r:id="rId15"/>
    <p:sldId id="303" r:id="rId16"/>
  </p:sldIdLst>
  <p:sldSz cx="12192000" cy="6858000"/>
  <p:notesSz cx="6858000" cy="9144000"/>
  <p:custDataLst>
    <p:tags r:id="rId1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0D2F"/>
    <a:srgbClr val="4777AE"/>
    <a:srgbClr val="2E4485"/>
    <a:srgbClr val="EA8735"/>
    <a:srgbClr val="2CA3E1"/>
    <a:srgbClr val="0090DA"/>
    <a:srgbClr val="D75E4E"/>
    <a:srgbClr val="091F2F"/>
    <a:srgbClr val="FB4D42"/>
    <a:srgbClr val="4272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17" autoAdjust="0"/>
    <p:restoredTop sz="65639" autoAdjust="0"/>
  </p:normalViewPr>
  <p:slideViewPr>
    <p:cSldViewPr snapToGrid="0">
      <p:cViewPr varScale="1">
        <p:scale>
          <a:sx n="41" d="100"/>
          <a:sy n="41" d="100"/>
        </p:scale>
        <p:origin x="192" y="1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1776155717761553E-2"/>
          <c:y val="3.4946236559139782E-2"/>
          <c:w val="0.85371046228710468"/>
          <c:h val="0.75"/>
        </c:manualLayout>
      </c:layout>
      <c:scatterChart>
        <c:scatterStyle val="lineMarker"/>
        <c:varyColors val="0"/>
        <c:ser>
          <c:idx val="0"/>
          <c:order val="0"/>
          <c:spPr>
            <a:ln w="38100" cmpd="sng" algn="ctr">
              <a:solidFill>
                <a:srgbClr val="EA8735"/>
              </a:solidFill>
              <a:prstDash val="solid"/>
            </a:ln>
          </c:spPr>
          <c:marker>
            <c:symbol val="none"/>
          </c:marker>
          <c:xVal>
            <c:numRef>
              <c:f>Sheet1!$A$1:$G$1</c:f>
              <c:numCache>
                <c:formatCode>General</c:formatCode>
                <c:ptCount val="7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</c:numCache>
            </c:numRef>
          </c:xVal>
          <c:yVal>
            <c:numRef>
              <c:f>Sheet1!$A$2:$G$2</c:f>
              <c:numCache>
                <c:formatCode>General</c:formatCode>
                <c:ptCount val="7"/>
                <c:pt idx="0">
                  <c:v>1.5</c:v>
                </c:pt>
                <c:pt idx="1">
                  <c:v>2.5</c:v>
                </c:pt>
                <c:pt idx="2">
                  <c:v>1.8</c:v>
                </c:pt>
                <c:pt idx="3">
                  <c:v>3</c:v>
                </c:pt>
                <c:pt idx="4">
                  <c:v>3.8</c:v>
                </c:pt>
                <c:pt idx="5">
                  <c:v>4.2</c:v>
                </c:pt>
                <c:pt idx="6">
                  <c:v>4.7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B4E-471B-BFE6-61F68556CB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"/>
        <c:axId val="5"/>
      </c:scatterChart>
      <c:valAx>
        <c:axId val="4"/>
        <c:scaling>
          <c:orientation val="minMax"/>
          <c:max val="2024"/>
          <c:min val="2018"/>
        </c:scaling>
        <c:delete val="0"/>
        <c:axPos val="b"/>
        <c:majorGridlines>
          <c:spPr>
            <a:ln>
              <a:noFill/>
            </a:ln>
          </c:spPr>
        </c:majorGridlines>
        <c:numFmt formatCode="0;&quot;-&quot;0" sourceLinked="0"/>
        <c:majorTickMark val="none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rgbClr val="0D0D2F"/>
                </a:solidFill>
                <a:latin typeface="Lyft Pro UI"/>
                <a:ea typeface="+mn-ea"/>
                <a:cs typeface="+mn-cs"/>
                <a:sym typeface="Lyft Pro UI"/>
              </a:defRPr>
            </a:pPr>
            <a:endParaRPr lang="en-US"/>
          </a:p>
        </c:txPr>
        <c:crossAx val="5"/>
        <c:crosses val="min"/>
        <c:crossBetween val="midCat"/>
        <c:majorUnit val="1"/>
      </c:valAx>
      <c:valAx>
        <c:axId val="5"/>
        <c:scaling>
          <c:orientation val="minMax"/>
          <c:max val="6"/>
          <c:min val="0"/>
        </c:scaling>
        <c:delete val="0"/>
        <c:axPos val="l"/>
        <c:majorGridlines>
          <c:spPr>
            <a:ln w="3175" cmpd="sng" algn="ctr">
              <a:solidFill>
                <a:srgbClr val="DBDBDB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4"/>
        <c:crosses val="min"/>
        <c:crossBetween val="midCat"/>
        <c:majorUnit val="2"/>
      </c:valAx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3922984356197352"/>
          <c:y val="0.13562895291637386"/>
          <c:w val="0.34873646209386283"/>
          <c:h val="0.72874209416725233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EA8735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.26714801444043323"/>
                  <c:y val="2.1082220660576245E-3"/>
                </c:manualLayout>
              </c:layout>
              <c:numFmt formatCode="#,##0&quot; Thousands&quot;;&quot;-&quot;#,##0&quot; Thousands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Lyft Pro UI"/>
                      <a:ea typeface="Lyft Pro UI"/>
                      <a:cs typeface="Lyft Pro UI"/>
                      <a:sym typeface="Lyft Pro U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88C5-4A6F-AE73-F7F1F736F45E}"/>
                </c:ext>
              </c:extLst>
            </c:dLbl>
            <c:dLbl>
              <c:idx val="1"/>
              <c:layout>
                <c:manualLayout>
                  <c:x val="0.23249097472924188"/>
                  <c:y val="2.1082220660576245E-3"/>
                </c:manualLayout>
              </c:layout>
              <c:numFmt formatCode="#,##0&quot; Thousands&quot;;&quot;-&quot;#,##0&quot; Thousands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Lyft Pro UI"/>
                      <a:ea typeface="Lyft Pro UI"/>
                      <a:cs typeface="Lyft Pro UI"/>
                      <a:sym typeface="Lyft Pro U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88C5-4A6F-AE73-F7F1F736F45E}"/>
                </c:ext>
              </c:extLst>
            </c:dLbl>
            <c:dLbl>
              <c:idx val="2"/>
              <c:layout>
                <c:manualLayout>
                  <c:x val="0.20866425992779783"/>
                  <c:y val="2.1082220660576245E-3"/>
                </c:manualLayout>
              </c:layout>
              <c:numFmt formatCode="#,##0&quot; Thousands&quot;;&quot;-&quot;#,##0&quot; Thousands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Lyft Pro UI"/>
                      <a:ea typeface="Lyft Pro UI"/>
                      <a:cs typeface="Lyft Pro UI"/>
                      <a:sym typeface="Lyft Pro U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88C5-4A6F-AE73-F7F1F736F45E}"/>
                </c:ext>
              </c:extLst>
            </c:dLbl>
            <c:dLbl>
              <c:idx val="3"/>
              <c:layout>
                <c:manualLayout>
                  <c:x val="0.19205776173285199"/>
                  <c:y val="2.1082220660576245E-3"/>
                </c:manualLayout>
              </c:layout>
              <c:numFmt formatCode="#,##0&quot; Thousands&quot;;&quot;-&quot;#,##0&quot; Thousands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Lyft Pro UI"/>
                      <a:ea typeface="Lyft Pro UI"/>
                      <a:cs typeface="Lyft Pro UI"/>
                      <a:sym typeface="Lyft Pro U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88C5-4A6F-AE73-F7F1F736F45E}"/>
                </c:ext>
              </c:extLst>
            </c:dLbl>
            <c:dLbl>
              <c:idx val="4"/>
              <c:layout>
                <c:manualLayout>
                  <c:x val="0.18676293622141998"/>
                  <c:y val="2.1082220660576245E-3"/>
                </c:manualLayout>
              </c:layout>
              <c:numFmt formatCode="#,##0&quot; Thousands&quot;;&quot;-&quot;#,##0&quot; Thousands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Lyft Pro UI"/>
                      <a:ea typeface="Lyft Pro UI"/>
                      <a:cs typeface="Lyft Pro UI"/>
                      <a:sym typeface="Lyft Pro U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88C5-4A6F-AE73-F7F1F736F45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Sheet1!$A$1:$E$1</c:f>
              <c:numCache>
                <c:formatCode>General</c:formatCode>
                <c:ptCount val="5"/>
                <c:pt idx="0">
                  <c:v>517</c:v>
                </c:pt>
                <c:pt idx="1">
                  <c:v>413</c:v>
                </c:pt>
                <c:pt idx="2">
                  <c:v>337</c:v>
                </c:pt>
                <c:pt idx="3">
                  <c:v>284</c:v>
                </c:pt>
                <c:pt idx="4">
                  <c:v>268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8C5-4A6F-AE73-F7F1F736F4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928572512"/>
        <c:axId val="1"/>
      </c:barChart>
      <c:catAx>
        <c:axId val="1928572512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17"/>
          <c:min val="0"/>
        </c:scaling>
        <c:delete val="0"/>
        <c:axPos val="t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928572512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6440088523553588E-2"/>
          <c:y val="2.1035598705501618E-2"/>
          <c:w val="0.96711982295289278"/>
          <c:h val="0.95307443365695788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EA8735"/>
            </a:solidFill>
            <a:ln>
              <a:noFill/>
            </a:ln>
          </c:spPr>
          <c:invertIfNegative val="0"/>
          <c:val>
            <c:numRef>
              <c:f>Sheet1!$A$1:$F$1</c:f>
              <c:numCache>
                <c:formatCode>General</c:formatCode>
                <c:ptCount val="6"/>
                <c:pt idx="0">
                  <c:v>10670</c:v>
                </c:pt>
                <c:pt idx="1">
                  <c:v>11152</c:v>
                </c:pt>
                <c:pt idx="2">
                  <c:v>9938</c:v>
                </c:pt>
                <c:pt idx="3">
                  <c:v>9355</c:v>
                </c:pt>
                <c:pt idx="4">
                  <c:v>8735</c:v>
                </c:pt>
                <c:pt idx="5">
                  <c:v>3757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70-404B-9801-E39D5668E4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928517312"/>
        <c:axId val="1"/>
      </c:barChart>
      <c:catAx>
        <c:axId val="192851731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2000"/>
          <c:min val="0"/>
        </c:scaling>
        <c:delete val="0"/>
        <c:axPos val="l"/>
        <c:majorGridlines>
          <c:spPr>
            <a:ln w="3175" cmpd="sng" algn="ctr">
              <a:solidFill>
                <a:srgbClr val="DBDBDB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928517312"/>
        <c:crosses val="min"/>
        <c:crossBetween val="between"/>
        <c:majorUnit val="3000"/>
      </c:valAx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6440088523553588E-2"/>
          <c:y val="2.2452504317789293E-2"/>
          <c:w val="0.96711982295289278"/>
          <c:h val="0.94991364421416236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FB4D42"/>
            </a:solidFill>
            <a:ln>
              <a:noFill/>
            </a:ln>
          </c:spPr>
          <c:invertIfNegative val="0"/>
          <c:val>
            <c:numRef>
              <c:f>Sheet1!$A$1:$E$1</c:f>
              <c:numCache>
                <c:formatCode>General</c:formatCode>
                <c:ptCount val="5"/>
                <c:pt idx="0">
                  <c:v>2998</c:v>
                </c:pt>
                <c:pt idx="1">
                  <c:v>4823</c:v>
                </c:pt>
                <c:pt idx="2">
                  <c:v>9279</c:v>
                </c:pt>
                <c:pt idx="3">
                  <c:v>11165</c:v>
                </c:pt>
                <c:pt idx="4">
                  <c:v>9574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7C-4B75-BF3D-374AAF44B3E9}"/>
            </c:ext>
          </c:extLst>
        </c:ser>
        <c:ser>
          <c:idx val="1"/>
          <c:order val="1"/>
          <c:spPr>
            <a:solidFill>
              <a:srgbClr val="4272B7"/>
            </a:solidFill>
            <a:ln>
              <a:noFill/>
            </a:ln>
          </c:spPr>
          <c:invertIfNegative val="0"/>
          <c:val>
            <c:numRef>
              <c:f>Sheet1!$A$2:$E$2</c:f>
              <c:numCache>
                <c:formatCode>General</c:formatCode>
                <c:ptCount val="5"/>
                <c:pt idx="0">
                  <c:v>3716</c:v>
                </c:pt>
                <c:pt idx="1">
                  <c:v>6135</c:v>
                </c:pt>
                <c:pt idx="2">
                  <c:v>11923</c:v>
                </c:pt>
                <c:pt idx="3">
                  <c:v>13021</c:v>
                </c:pt>
                <c:pt idx="4">
                  <c:v>9464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D7C-4B75-BF3D-374AAF44B3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928544672"/>
        <c:axId val="1"/>
      </c:barChart>
      <c:catAx>
        <c:axId val="192854467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5000"/>
          <c:min val="0"/>
        </c:scaling>
        <c:delete val="0"/>
        <c:axPos val="l"/>
        <c:majorGridlines>
          <c:spPr>
            <a:ln w="3175" cmpd="sng" algn="ctr">
              <a:solidFill>
                <a:srgbClr val="DBDBDB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928544672"/>
        <c:crosses val="min"/>
        <c:crossBetween val="between"/>
        <c:majorUnit val="3000"/>
      </c:valAx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0649819494584837"/>
          <c:y val="6.4462257849031396E-2"/>
          <c:w val="0.58628158844765343"/>
          <c:h val="0.8710754843019371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BEBEBE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002004008016032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Lyft Pro UI"/>
                      <a:ea typeface="Lyft Pro UI"/>
                      <a:cs typeface="Lyft Pro UI"/>
                      <a:sym typeface="Lyft Pro U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6489-4000-B7E8-F686DB8A165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36.883116883116884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489-4000-B7E8-F686DB8A165A}"/>
            </c:ext>
          </c:extLst>
        </c:ser>
        <c:ser>
          <c:idx val="1"/>
          <c:order val="1"/>
          <c:spPr>
            <a:solidFill>
              <a:srgbClr val="D2B52D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3360053440213762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Lyft Pro UI"/>
                      <a:ea typeface="Lyft Pro UI"/>
                      <a:cs typeface="Lyft Pro UI"/>
                      <a:sym typeface="Lyft Pro U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6489-4000-B7E8-F686DB8A165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21.038961038961034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489-4000-B7E8-F686DB8A165A}"/>
            </c:ext>
          </c:extLst>
        </c:ser>
        <c:ser>
          <c:idx val="2"/>
          <c:order val="2"/>
          <c:spPr>
            <a:solidFill>
              <a:schemeClr val="accent6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3360053440213762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Lyft Pro UI"/>
                      <a:ea typeface="Lyft Pro UI"/>
                      <a:cs typeface="Lyft Pro UI"/>
                      <a:sym typeface="Lyft Pro U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6489-4000-B7E8-F686DB8A165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</c:f>
              <c:numCache>
                <c:formatCode>General</c:formatCode>
                <c:ptCount val="1"/>
                <c:pt idx="0">
                  <c:v>42.077922077922082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489-4000-B7E8-F686DB8A16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928504832"/>
        <c:axId val="1"/>
      </c:barChart>
      <c:catAx>
        <c:axId val="192850483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>
            <a:noFill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928504832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EE1AB4-EB49-44F3-B41E-CD8304EFFC68}" type="datetimeFigureOut">
              <a:rPr lang="en-US" smtClean="0"/>
              <a:t>12/9/25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D5BF09-DDF6-47C3-B0D4-A25DBE677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097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D2417-A535-3A77-A46A-3E006B36B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3A105F-D8C2-F434-B714-461E66E480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6FB180-91B3-A1FA-D73B-F96B647D0A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83F7D7-1A29-2F41-8AE2-C581570C00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5BF09-DDF6-47C3-B0D4-A25DBE6771A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2891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BC893-9ED3-03B0-49BB-4369A1055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831E0B-962B-6941-D0A3-A89D9CF8FC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448EC6-F10C-2115-0E25-559B0444DC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01A02D-BD44-695E-4DED-4EBC0F91ED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5BF09-DDF6-47C3-B0D4-A25DBE6771A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1550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73796-BEBF-C10E-3202-CD8B65900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E2BB06-5D03-F925-A01E-3E3198A43B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EA2B98-7901-AF80-7751-B4035291A8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5F66D4-9698-23CB-9BF2-45BB5C177E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5BF09-DDF6-47C3-B0D4-A25DBE6771A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1291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58FE3-094D-E05E-AA71-8C5AC22E6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DA149A-A999-E895-C96C-F5F86F528D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25AEBA-1E61-EAB9-0800-D0083406F4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D6EE36-2229-1D56-2FD0-534B9226CC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5BF09-DDF6-47C3-B0D4-A25DBE6771A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9069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DA4DE-CC1B-AEA2-2CCC-DE7BD017F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EC69E7-570E-50B1-9FC0-3EEAFED494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4A7F2C-5C8B-3D76-98AD-05D2CB6835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069D81-E62A-C47E-C574-3F6C1A81B5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5BF09-DDF6-47C3-B0D4-A25DBE6771A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9965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F6DBE-2A49-5BA7-4A90-038901070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7EA570-2D96-7AC1-3EB4-877F90F716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4592C1-809B-1EFC-A7EF-D79F52A594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75A200-1435-5A09-40A5-15E03E3530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5BF09-DDF6-47C3-B0D4-A25DBE6771A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3832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2739D-2C30-9D78-EDD2-C1A77CE5F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50A8E4-2168-B5F0-06E4-C546D9E3F0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9C7BF0-E26C-221F-EDF5-99C3799202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B69084-21A5-512C-76F6-4E796B5ADD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5BF09-DDF6-47C3-B0D4-A25DBE6771A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3719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F4EAC-EDD6-E668-8789-233D8A22A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F68C96-B358-8877-73D1-45F6F3A65E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6DF4CB-CCCF-9651-5207-84D9A5992C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A2F589-A8CB-A28C-62FD-0F7F2C5B27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5BF09-DDF6-47C3-B0D4-A25DBE6771A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9315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8119D-EB0E-51E2-BB2B-EBED43110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852B23-AFF7-1E7D-CC98-6F6231E10F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80CCD6-2D97-27F5-D92B-9F6AD25D33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0B8AA8-9D4D-6945-179F-91790ECF9E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5BF09-DDF6-47C3-B0D4-A25DBE6771A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0347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D5D68-51C3-E015-B6DC-85132A03D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254F8B-43C8-1C0C-EC1E-2AE476FFE7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C61E19-3B70-5CD3-63C8-4248597ADC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BAE9EE-DEC4-2ADE-89B6-8B79D91576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5BF09-DDF6-47C3-B0D4-A25DBE6771A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3148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C8874-941D-7F38-D1B4-4329B8728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D5FC18-3965-C940-A262-4DAE70720D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A2BF7B-1F51-9BF2-802A-319BCD59FA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FBA7E0-CD3D-9FE4-3EE9-304344D9ED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5BF09-DDF6-47C3-B0D4-A25DBE6771A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4793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2EE32-4CB4-BF1C-52B7-1863FDAE7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AEBFCE-0E20-964B-6906-F5EE07F7E6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8C90F9-7874-7B51-0195-242A402A68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C4325C-6B0D-468C-7913-5997B302AD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5BF09-DDF6-47C3-B0D4-A25DBE6771A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7914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89F39-A3B2-3247-2EDB-781D3A5D8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CA0C13-A450-739C-4ECD-6B68711AB9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C1B2D7-2E32-9C61-17D7-B83A8F7FB7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B720DB-F2AB-57D9-DF27-58139BC018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5BF09-DDF6-47C3-B0D4-A25DBE6771A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8712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22516-7C14-5077-B838-342CD16CF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CB70AA-B2BB-3864-0515-292F7D5EF8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AA8285-9D36-AC2F-89C0-B9A14FDFD9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D4DF0F-B51A-AEC2-B496-839B793DB9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5BF09-DDF6-47C3-B0D4-A25DBE6771A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160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036EF-71BD-EE84-739A-6846E8F5DD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1F4FD5-64C0-E45E-C1E4-A824CC3CAB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280C7B-D4FA-FD62-59DB-D2DB4A72C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851B8-147F-406A-8ECB-B77C553BFAC7}" type="datetime1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8723EC-1421-11D1-DD96-67D1F650A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 descr="A row of bicycles with blue and white logos&#10;&#10;AI-generated content may be incorrect.">
            <a:extLst>
              <a:ext uri="{FF2B5EF4-FFF2-40B4-BE49-F238E27FC236}">
                <a16:creationId xmlns:a16="http://schemas.microsoft.com/office/drawing/2014/main" id="{CA9CFDC8-4167-4D14-EF01-BF0258CA32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80" b="13282"/>
          <a:stretch>
            <a:fillRect/>
          </a:stretch>
        </p:blipFill>
        <p:spPr>
          <a:xfrm>
            <a:off x="-1" y="0"/>
            <a:ext cx="12191999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CAEB7B9-D783-6B0A-A280-348A410FEE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80000"/>
                </a:schemeClr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7CE61-58C2-9F92-7A92-105B48392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12A66-822E-4D68-834D-298940211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422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41629-3461-2C51-236A-B387A59C3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227F6-8846-5F2A-27C6-FD4FCE706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14E15-E01B-FD0C-BA1D-4D5375752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B3B3F-F5D3-4C89-9CE5-D47398BD99E4}" type="datetime1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357214-0986-C62B-04F9-B24850636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 descr="A row of bicycles with blue and white logos&#10;&#10;AI-generated content may be incorrect.">
            <a:extLst>
              <a:ext uri="{FF2B5EF4-FFF2-40B4-BE49-F238E27FC236}">
                <a16:creationId xmlns:a16="http://schemas.microsoft.com/office/drawing/2014/main" id="{DDFF3F15-894D-62E5-F85F-175628AAE2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80" b="13282"/>
          <a:stretch>
            <a:fillRect/>
          </a:stretch>
        </p:blipFill>
        <p:spPr>
          <a:xfrm>
            <a:off x="-1" y="0"/>
            <a:ext cx="12191999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93AF13E-4319-E942-CB9C-6C8BC2A463E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DE0F77-2A48-1209-7A13-22CB90C9D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8588" y="6364896"/>
            <a:ext cx="2743200" cy="365125"/>
          </a:xfrm>
        </p:spPr>
        <p:txBody>
          <a:bodyPr/>
          <a:lstStyle>
            <a:lvl1pPr>
              <a:defRPr sz="1400">
                <a:solidFill>
                  <a:srgbClr val="0090DA"/>
                </a:solidFill>
                <a:latin typeface="Lyft Pro UI" panose="02000503030000000000" pitchFamily="50" charset="0"/>
              </a:defRPr>
            </a:lvl1pPr>
          </a:lstStyle>
          <a:p>
            <a:fld id="{47912A66-822E-4D68-834D-298940211017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7A87D13-E94D-1A50-6A69-9E45622CDFAF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523824" y="6371722"/>
            <a:ext cx="494499" cy="334378"/>
            <a:chOff x="7857722" y="318591"/>
            <a:chExt cx="2080112" cy="1406566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A21A4023-B1CD-5112-150C-2FD68A116AD0}"/>
                </a:ext>
              </a:extLst>
            </p:cNvPr>
            <p:cNvGrpSpPr/>
            <p:nvPr userDrawn="1"/>
          </p:nvGrpSpPr>
          <p:grpSpPr>
            <a:xfrm>
              <a:off x="7857724" y="318591"/>
              <a:ext cx="2080110" cy="584948"/>
              <a:chOff x="7857724" y="318591"/>
              <a:chExt cx="2080110" cy="584948"/>
            </a:xfrm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AD7EEFB-2BD1-E9D2-816E-609FBBDA9E81}"/>
                  </a:ext>
                </a:extLst>
              </p:cNvPr>
              <p:cNvSpPr/>
              <p:nvPr/>
            </p:nvSpPr>
            <p:spPr>
              <a:xfrm>
                <a:off x="7857724" y="318591"/>
                <a:ext cx="1528161" cy="584948"/>
              </a:xfrm>
              <a:custGeom>
                <a:avLst/>
                <a:gdLst>
                  <a:gd name="connsiteX0" fmla="*/ 152967 w 1528161"/>
                  <a:gd name="connsiteY0" fmla="*/ 453381 h 584948"/>
                  <a:gd name="connsiteX1" fmla="*/ 275518 w 1528161"/>
                  <a:gd name="connsiteY1" fmla="*/ 453381 h 584948"/>
                  <a:gd name="connsiteX2" fmla="*/ 357751 w 1528161"/>
                  <a:gd name="connsiteY2" fmla="*/ 389181 h 584948"/>
                  <a:gd name="connsiteX3" fmla="*/ 275518 w 1528161"/>
                  <a:gd name="connsiteY3" fmla="*/ 321813 h 584948"/>
                  <a:gd name="connsiteX4" fmla="*/ 152967 w 1528161"/>
                  <a:gd name="connsiteY4" fmla="*/ 321813 h 584948"/>
                  <a:gd name="connsiteX5" fmla="*/ 152967 w 1528161"/>
                  <a:gd name="connsiteY5" fmla="*/ 225513 h 584948"/>
                  <a:gd name="connsiteX6" fmla="*/ 271381 w 1528161"/>
                  <a:gd name="connsiteY6" fmla="*/ 225513 h 584948"/>
                  <a:gd name="connsiteX7" fmla="*/ 333926 w 1528161"/>
                  <a:gd name="connsiteY7" fmla="*/ 170957 h 584948"/>
                  <a:gd name="connsiteX8" fmla="*/ 271409 w 1528161"/>
                  <a:gd name="connsiteY8" fmla="*/ 115603 h 584948"/>
                  <a:gd name="connsiteX9" fmla="*/ 152996 w 1528161"/>
                  <a:gd name="connsiteY9" fmla="*/ 115603 h 584948"/>
                  <a:gd name="connsiteX10" fmla="*/ 0 w 1528161"/>
                  <a:gd name="connsiteY10" fmla="*/ 71 h 584948"/>
                  <a:gd name="connsiteX11" fmla="*/ 274691 w 1528161"/>
                  <a:gd name="connsiteY11" fmla="*/ 71 h 584948"/>
                  <a:gd name="connsiteX12" fmla="*/ 486865 w 1528161"/>
                  <a:gd name="connsiteY12" fmla="*/ 143679 h 584948"/>
                  <a:gd name="connsiteX13" fmla="*/ 409568 w 1528161"/>
                  <a:gd name="connsiteY13" fmla="*/ 259240 h 584948"/>
                  <a:gd name="connsiteX14" fmla="*/ 510747 w 1528161"/>
                  <a:gd name="connsiteY14" fmla="*/ 394802 h 584948"/>
                  <a:gd name="connsiteX15" fmla="*/ 282081 w 1528161"/>
                  <a:gd name="connsiteY15" fmla="*/ 572936 h 584948"/>
                  <a:gd name="connsiteX16" fmla="*/ 0 w 1528161"/>
                  <a:gd name="connsiteY16" fmla="*/ 572936 h 584948"/>
                  <a:gd name="connsiteX17" fmla="*/ 564904 w 1528161"/>
                  <a:gd name="connsiteY17" fmla="*/ 42 h 584948"/>
                  <a:gd name="connsiteX18" fmla="*/ 717899 w 1528161"/>
                  <a:gd name="connsiteY18" fmla="*/ 42 h 584948"/>
                  <a:gd name="connsiteX19" fmla="*/ 717899 w 1528161"/>
                  <a:gd name="connsiteY19" fmla="*/ 444535 h 584948"/>
                  <a:gd name="connsiteX20" fmla="*/ 991763 w 1528161"/>
                  <a:gd name="connsiteY20" fmla="*/ 444535 h 584948"/>
                  <a:gd name="connsiteX21" fmla="*/ 991763 w 1528161"/>
                  <a:gd name="connsiteY21" fmla="*/ 572936 h 584948"/>
                  <a:gd name="connsiteX22" fmla="*/ 564904 w 1528161"/>
                  <a:gd name="connsiteY22" fmla="*/ 572936 h 584948"/>
                  <a:gd name="connsiteX23" fmla="*/ 1528161 w 1528161"/>
                  <a:gd name="connsiteY23" fmla="*/ 336223 h 584948"/>
                  <a:gd name="connsiteX24" fmla="*/ 1272360 w 1528161"/>
                  <a:gd name="connsiteY24" fmla="*/ 584948 h 584948"/>
                  <a:gd name="connsiteX25" fmla="*/ 1016587 w 1528161"/>
                  <a:gd name="connsiteY25" fmla="*/ 336223 h 584948"/>
                  <a:gd name="connsiteX26" fmla="*/ 1016587 w 1528161"/>
                  <a:gd name="connsiteY26" fmla="*/ 42 h 584948"/>
                  <a:gd name="connsiteX27" fmla="*/ 1169583 w 1528161"/>
                  <a:gd name="connsiteY27" fmla="*/ 42 h 584948"/>
                  <a:gd name="connsiteX28" fmla="*/ 1169583 w 1528161"/>
                  <a:gd name="connsiteY28" fmla="*/ 345068 h 584948"/>
                  <a:gd name="connsiteX29" fmla="*/ 1272360 w 1528161"/>
                  <a:gd name="connsiteY29" fmla="*/ 456576 h 584948"/>
                  <a:gd name="connsiteX30" fmla="*/ 1375194 w 1528161"/>
                  <a:gd name="connsiteY30" fmla="*/ 345068 h 584948"/>
                  <a:gd name="connsiteX31" fmla="*/ 1375194 w 1528161"/>
                  <a:gd name="connsiteY31" fmla="*/ 14 h 584948"/>
                  <a:gd name="connsiteX32" fmla="*/ 1528161 w 1528161"/>
                  <a:gd name="connsiteY32" fmla="*/ 14 h 5849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28161" h="584948">
                    <a:moveTo>
                      <a:pt x="152967" y="453381"/>
                    </a:moveTo>
                    <a:lnTo>
                      <a:pt x="275518" y="453381"/>
                    </a:lnTo>
                    <a:cubicBezTo>
                      <a:pt x="324025" y="453381"/>
                      <a:pt x="357751" y="436546"/>
                      <a:pt x="357751" y="389181"/>
                    </a:cubicBezTo>
                    <a:cubicBezTo>
                      <a:pt x="357751" y="338677"/>
                      <a:pt x="321571" y="321813"/>
                      <a:pt x="275518" y="321813"/>
                    </a:cubicBezTo>
                    <a:lnTo>
                      <a:pt x="152967" y="321813"/>
                    </a:lnTo>
                    <a:close/>
                    <a:moveTo>
                      <a:pt x="152967" y="225513"/>
                    </a:moveTo>
                    <a:lnTo>
                      <a:pt x="271381" y="225513"/>
                    </a:lnTo>
                    <a:cubicBezTo>
                      <a:pt x="297717" y="225513"/>
                      <a:pt x="333926" y="211874"/>
                      <a:pt x="333926" y="170957"/>
                    </a:cubicBezTo>
                    <a:cubicBezTo>
                      <a:pt x="333926" y="129242"/>
                      <a:pt x="303481" y="115603"/>
                      <a:pt x="271409" y="115603"/>
                    </a:cubicBezTo>
                    <a:lnTo>
                      <a:pt x="152996" y="115603"/>
                    </a:lnTo>
                    <a:close/>
                    <a:moveTo>
                      <a:pt x="0" y="71"/>
                    </a:moveTo>
                    <a:lnTo>
                      <a:pt x="274691" y="71"/>
                    </a:lnTo>
                    <a:cubicBezTo>
                      <a:pt x="375870" y="-1555"/>
                      <a:pt x="486865" y="24125"/>
                      <a:pt x="486865" y="143679"/>
                    </a:cubicBezTo>
                    <a:cubicBezTo>
                      <a:pt x="486865" y="195040"/>
                      <a:pt x="455621" y="236755"/>
                      <a:pt x="409568" y="259240"/>
                    </a:cubicBezTo>
                    <a:cubicBezTo>
                      <a:pt x="472085" y="276845"/>
                      <a:pt x="510747" y="329831"/>
                      <a:pt x="510747" y="394802"/>
                    </a:cubicBezTo>
                    <a:cubicBezTo>
                      <a:pt x="510747" y="531191"/>
                      <a:pt x="407942" y="572936"/>
                      <a:pt x="282081" y="572936"/>
                    </a:cubicBezTo>
                    <a:lnTo>
                      <a:pt x="0" y="572936"/>
                    </a:lnTo>
                    <a:close/>
                    <a:moveTo>
                      <a:pt x="564904" y="42"/>
                    </a:moveTo>
                    <a:lnTo>
                      <a:pt x="717899" y="42"/>
                    </a:lnTo>
                    <a:lnTo>
                      <a:pt x="717899" y="444535"/>
                    </a:lnTo>
                    <a:lnTo>
                      <a:pt x="991763" y="444535"/>
                    </a:lnTo>
                    <a:lnTo>
                      <a:pt x="991763" y="572936"/>
                    </a:lnTo>
                    <a:lnTo>
                      <a:pt x="564904" y="572936"/>
                    </a:lnTo>
                    <a:close/>
                    <a:moveTo>
                      <a:pt x="1528161" y="336223"/>
                    </a:moveTo>
                    <a:cubicBezTo>
                      <a:pt x="1528161" y="502315"/>
                      <a:pt x="1450009" y="584948"/>
                      <a:pt x="1272360" y="584948"/>
                    </a:cubicBezTo>
                    <a:cubicBezTo>
                      <a:pt x="1094711" y="584948"/>
                      <a:pt x="1016587" y="502315"/>
                      <a:pt x="1016587" y="336223"/>
                    </a:cubicBezTo>
                    <a:lnTo>
                      <a:pt x="1016587" y="42"/>
                    </a:lnTo>
                    <a:lnTo>
                      <a:pt x="1169583" y="42"/>
                    </a:lnTo>
                    <a:lnTo>
                      <a:pt x="1169583" y="345068"/>
                    </a:lnTo>
                    <a:cubicBezTo>
                      <a:pt x="1169583" y="418855"/>
                      <a:pt x="1197545" y="456576"/>
                      <a:pt x="1272360" y="456576"/>
                    </a:cubicBezTo>
                    <a:cubicBezTo>
                      <a:pt x="1347203" y="456576"/>
                      <a:pt x="1375194" y="418855"/>
                      <a:pt x="1375194" y="345068"/>
                    </a:cubicBezTo>
                    <a:lnTo>
                      <a:pt x="1375194" y="14"/>
                    </a:lnTo>
                    <a:lnTo>
                      <a:pt x="1528161" y="14"/>
                    </a:lnTo>
                    <a:close/>
                  </a:path>
                </a:pathLst>
              </a:custGeom>
              <a:solidFill>
                <a:srgbClr val="2CA3E1"/>
              </a:solidFill>
              <a:ln w="285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CF063280-EB98-EDA8-B8E5-DB8FD31B8AD8}"/>
                  </a:ext>
                </a:extLst>
              </p:cNvPr>
              <p:cNvSpPr/>
              <p:nvPr/>
            </p:nvSpPr>
            <p:spPr>
              <a:xfrm>
                <a:off x="9461613" y="318634"/>
                <a:ext cx="476221" cy="572893"/>
              </a:xfrm>
              <a:custGeom>
                <a:avLst/>
                <a:gdLst>
                  <a:gd name="connsiteX0" fmla="*/ 0 w 476221"/>
                  <a:gd name="connsiteY0" fmla="*/ 0 h 572893"/>
                  <a:gd name="connsiteX1" fmla="*/ 467976 w 476221"/>
                  <a:gd name="connsiteY1" fmla="*/ 0 h 572893"/>
                  <a:gd name="connsiteX2" fmla="*/ 467976 w 476221"/>
                  <a:gd name="connsiteY2" fmla="*/ 119555 h 572893"/>
                  <a:gd name="connsiteX3" fmla="*/ 152967 w 476221"/>
                  <a:gd name="connsiteY3" fmla="*/ 119555 h 572893"/>
                  <a:gd name="connsiteX4" fmla="*/ 152967 w 476221"/>
                  <a:gd name="connsiteY4" fmla="*/ 219850 h 572893"/>
                  <a:gd name="connsiteX5" fmla="*/ 440869 w 476221"/>
                  <a:gd name="connsiteY5" fmla="*/ 219850 h 572893"/>
                  <a:gd name="connsiteX6" fmla="*/ 440869 w 476221"/>
                  <a:gd name="connsiteY6" fmla="*/ 335410 h 572893"/>
                  <a:gd name="connsiteX7" fmla="*/ 152967 w 476221"/>
                  <a:gd name="connsiteY7" fmla="*/ 335410 h 572893"/>
                  <a:gd name="connsiteX8" fmla="*/ 152967 w 476221"/>
                  <a:gd name="connsiteY8" fmla="*/ 444493 h 572893"/>
                  <a:gd name="connsiteX9" fmla="*/ 476222 w 476221"/>
                  <a:gd name="connsiteY9" fmla="*/ 444493 h 572893"/>
                  <a:gd name="connsiteX10" fmla="*/ 476222 w 476221"/>
                  <a:gd name="connsiteY10" fmla="*/ 572893 h 572893"/>
                  <a:gd name="connsiteX11" fmla="*/ 0 w 476221"/>
                  <a:gd name="connsiteY11" fmla="*/ 572893 h 5728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76221" h="572893">
                    <a:moveTo>
                      <a:pt x="0" y="0"/>
                    </a:moveTo>
                    <a:lnTo>
                      <a:pt x="467976" y="0"/>
                    </a:lnTo>
                    <a:lnTo>
                      <a:pt x="467976" y="119555"/>
                    </a:lnTo>
                    <a:lnTo>
                      <a:pt x="152967" y="119555"/>
                    </a:lnTo>
                    <a:lnTo>
                      <a:pt x="152967" y="219850"/>
                    </a:lnTo>
                    <a:lnTo>
                      <a:pt x="440869" y="219850"/>
                    </a:lnTo>
                    <a:lnTo>
                      <a:pt x="440869" y="335410"/>
                    </a:lnTo>
                    <a:lnTo>
                      <a:pt x="152967" y="335410"/>
                    </a:lnTo>
                    <a:lnTo>
                      <a:pt x="152967" y="444493"/>
                    </a:lnTo>
                    <a:lnTo>
                      <a:pt x="476222" y="444493"/>
                    </a:lnTo>
                    <a:lnTo>
                      <a:pt x="476222" y="572893"/>
                    </a:lnTo>
                    <a:lnTo>
                      <a:pt x="0" y="572893"/>
                    </a:lnTo>
                    <a:close/>
                  </a:path>
                </a:pathLst>
              </a:custGeom>
              <a:solidFill>
                <a:srgbClr val="2CA3E1"/>
              </a:solidFill>
              <a:ln w="285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0FFFA1C-2385-A0FD-4BB6-E6113DB1C835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7857722" y="1038476"/>
              <a:ext cx="2080110" cy="686681"/>
              <a:chOff x="10011822" y="312071"/>
              <a:chExt cx="1789355" cy="590698"/>
            </a:xfrm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F443D886-F411-BC2F-8170-8DA98CC68955}"/>
                  </a:ext>
                </a:extLst>
              </p:cNvPr>
              <p:cNvSpPr/>
              <p:nvPr userDrawn="1"/>
            </p:nvSpPr>
            <p:spPr>
              <a:xfrm>
                <a:off x="10011822" y="318605"/>
                <a:ext cx="1020238" cy="584106"/>
              </a:xfrm>
              <a:custGeom>
                <a:avLst/>
                <a:gdLst>
                  <a:gd name="connsiteX0" fmla="*/ 209720 w 1020238"/>
                  <a:gd name="connsiteY0" fmla="*/ 219108 h 584106"/>
                  <a:gd name="connsiteX1" fmla="*/ 90479 w 1020238"/>
                  <a:gd name="connsiteY1" fmla="*/ 365912 h 584106"/>
                  <a:gd name="connsiteX2" fmla="*/ 209749 w 1020238"/>
                  <a:gd name="connsiteY2" fmla="*/ 511917 h 584106"/>
                  <a:gd name="connsiteX3" fmla="*/ 327363 w 1020238"/>
                  <a:gd name="connsiteY3" fmla="*/ 365912 h 584106"/>
                  <a:gd name="connsiteX4" fmla="*/ 209720 w 1020238"/>
                  <a:gd name="connsiteY4" fmla="*/ 219079 h 584106"/>
                  <a:gd name="connsiteX5" fmla="*/ 0 w 1020238"/>
                  <a:gd name="connsiteY5" fmla="*/ 0 h 584106"/>
                  <a:gd name="connsiteX6" fmla="*/ 93761 w 1020238"/>
                  <a:gd name="connsiteY6" fmla="*/ 0 h 584106"/>
                  <a:gd name="connsiteX7" fmla="*/ 93761 w 1020238"/>
                  <a:gd name="connsiteY7" fmla="*/ 211832 h 584106"/>
                  <a:gd name="connsiteX8" fmla="*/ 95415 w 1020238"/>
                  <a:gd name="connsiteY8" fmla="*/ 211832 h 584106"/>
                  <a:gd name="connsiteX9" fmla="*/ 222075 w 1020238"/>
                  <a:gd name="connsiteY9" fmla="*/ 146833 h 584106"/>
                  <a:gd name="connsiteX10" fmla="*/ 421095 w 1020238"/>
                  <a:gd name="connsiteY10" fmla="*/ 367481 h 584106"/>
                  <a:gd name="connsiteX11" fmla="*/ 237683 w 1020238"/>
                  <a:gd name="connsiteY11" fmla="*/ 584107 h 584106"/>
                  <a:gd name="connsiteX12" fmla="*/ 90451 w 1020238"/>
                  <a:gd name="connsiteY12" fmla="*/ 515912 h 584106"/>
                  <a:gd name="connsiteX13" fmla="*/ 88824 w 1020238"/>
                  <a:gd name="connsiteY13" fmla="*/ 515912 h 584106"/>
                  <a:gd name="connsiteX14" fmla="*/ 88824 w 1020238"/>
                  <a:gd name="connsiteY14" fmla="*/ 572865 h 584106"/>
                  <a:gd name="connsiteX15" fmla="*/ 29 w 1020238"/>
                  <a:gd name="connsiteY15" fmla="*/ 572865 h 584106"/>
                  <a:gd name="connsiteX16" fmla="*/ 467148 w 1020238"/>
                  <a:gd name="connsiteY16" fmla="*/ 572922 h 584106"/>
                  <a:gd name="connsiteX17" fmla="*/ 560909 w 1020238"/>
                  <a:gd name="connsiteY17" fmla="*/ 572922 h 584106"/>
                  <a:gd name="connsiteX18" fmla="*/ 560909 w 1020238"/>
                  <a:gd name="connsiteY18" fmla="*/ 158075 h 584106"/>
                  <a:gd name="connsiteX19" fmla="*/ 467148 w 1020238"/>
                  <a:gd name="connsiteY19" fmla="*/ 158075 h 584106"/>
                  <a:gd name="connsiteX20" fmla="*/ 626307 w 1020238"/>
                  <a:gd name="connsiteY20" fmla="*/ 29 h 584106"/>
                  <a:gd name="connsiteX21" fmla="*/ 720039 w 1020238"/>
                  <a:gd name="connsiteY21" fmla="*/ 29 h 584106"/>
                  <a:gd name="connsiteX22" fmla="*/ 720039 w 1020238"/>
                  <a:gd name="connsiteY22" fmla="*/ 325823 h 584106"/>
                  <a:gd name="connsiteX23" fmla="*/ 889470 w 1020238"/>
                  <a:gd name="connsiteY23" fmla="*/ 158132 h 584106"/>
                  <a:gd name="connsiteX24" fmla="*/ 1004603 w 1020238"/>
                  <a:gd name="connsiteY24" fmla="*/ 158132 h 584106"/>
                  <a:gd name="connsiteX25" fmla="*/ 841763 w 1020238"/>
                  <a:gd name="connsiteY25" fmla="*/ 310586 h 584106"/>
                  <a:gd name="connsiteX26" fmla="*/ 1020239 w 1020238"/>
                  <a:gd name="connsiteY26" fmla="*/ 572950 h 584106"/>
                  <a:gd name="connsiteX27" fmla="*/ 905934 w 1020238"/>
                  <a:gd name="connsiteY27" fmla="*/ 572950 h 584106"/>
                  <a:gd name="connsiteX28" fmla="*/ 775993 w 1020238"/>
                  <a:gd name="connsiteY28" fmla="*/ 371562 h 584106"/>
                  <a:gd name="connsiteX29" fmla="*/ 720039 w 1020238"/>
                  <a:gd name="connsiteY29" fmla="*/ 424491 h 584106"/>
                  <a:gd name="connsiteX30" fmla="*/ 720039 w 1020238"/>
                  <a:gd name="connsiteY30" fmla="*/ 572950 h 584106"/>
                  <a:gd name="connsiteX31" fmla="*/ 626279 w 1020238"/>
                  <a:gd name="connsiteY31" fmla="*/ 572950 h 5841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020238" h="584106">
                    <a:moveTo>
                      <a:pt x="209720" y="219108"/>
                    </a:moveTo>
                    <a:cubicBezTo>
                      <a:pt x="130797" y="219108"/>
                      <a:pt x="90479" y="277658"/>
                      <a:pt x="90479" y="365912"/>
                    </a:cubicBezTo>
                    <a:cubicBezTo>
                      <a:pt x="90479" y="449344"/>
                      <a:pt x="134078" y="511917"/>
                      <a:pt x="209749" y="511917"/>
                    </a:cubicBezTo>
                    <a:cubicBezTo>
                      <a:pt x="295263" y="511917"/>
                      <a:pt x="327363" y="438101"/>
                      <a:pt x="327363" y="365912"/>
                    </a:cubicBezTo>
                    <a:cubicBezTo>
                      <a:pt x="327363" y="290498"/>
                      <a:pt x="287046" y="219079"/>
                      <a:pt x="209720" y="219079"/>
                    </a:cubicBezTo>
                    <a:moveTo>
                      <a:pt x="0" y="0"/>
                    </a:moveTo>
                    <a:lnTo>
                      <a:pt x="93761" y="0"/>
                    </a:lnTo>
                    <a:lnTo>
                      <a:pt x="93761" y="211832"/>
                    </a:lnTo>
                    <a:lnTo>
                      <a:pt x="95415" y="211832"/>
                    </a:lnTo>
                    <a:cubicBezTo>
                      <a:pt x="120924" y="171714"/>
                      <a:pt x="174396" y="146833"/>
                      <a:pt x="222075" y="146833"/>
                    </a:cubicBezTo>
                    <a:cubicBezTo>
                      <a:pt x="356125" y="146833"/>
                      <a:pt x="421095" y="246329"/>
                      <a:pt x="421095" y="367481"/>
                    </a:cubicBezTo>
                    <a:cubicBezTo>
                      <a:pt x="421095" y="478990"/>
                      <a:pt x="363544" y="584107"/>
                      <a:pt x="237683" y="584107"/>
                    </a:cubicBezTo>
                    <a:cubicBezTo>
                      <a:pt x="180131" y="584107"/>
                      <a:pt x="118442" y="570468"/>
                      <a:pt x="90451" y="515912"/>
                    </a:cubicBezTo>
                    <a:lnTo>
                      <a:pt x="88824" y="515912"/>
                    </a:lnTo>
                    <a:lnTo>
                      <a:pt x="88824" y="572865"/>
                    </a:lnTo>
                    <a:lnTo>
                      <a:pt x="29" y="572865"/>
                    </a:lnTo>
                    <a:close/>
                    <a:moveTo>
                      <a:pt x="467148" y="572922"/>
                    </a:moveTo>
                    <a:lnTo>
                      <a:pt x="560909" y="572922"/>
                    </a:lnTo>
                    <a:lnTo>
                      <a:pt x="560909" y="158075"/>
                    </a:lnTo>
                    <a:lnTo>
                      <a:pt x="467148" y="158075"/>
                    </a:lnTo>
                    <a:close/>
                    <a:moveTo>
                      <a:pt x="626307" y="29"/>
                    </a:moveTo>
                    <a:lnTo>
                      <a:pt x="720039" y="29"/>
                    </a:lnTo>
                    <a:lnTo>
                      <a:pt x="720039" y="325823"/>
                    </a:lnTo>
                    <a:lnTo>
                      <a:pt x="889470" y="158132"/>
                    </a:lnTo>
                    <a:lnTo>
                      <a:pt x="1004603" y="158132"/>
                    </a:lnTo>
                    <a:lnTo>
                      <a:pt x="841763" y="310586"/>
                    </a:lnTo>
                    <a:lnTo>
                      <a:pt x="1020239" y="572950"/>
                    </a:lnTo>
                    <a:lnTo>
                      <a:pt x="905934" y="572950"/>
                    </a:lnTo>
                    <a:lnTo>
                      <a:pt x="775993" y="371562"/>
                    </a:lnTo>
                    <a:lnTo>
                      <a:pt x="720039" y="424491"/>
                    </a:lnTo>
                    <a:lnTo>
                      <a:pt x="720039" y="572950"/>
                    </a:lnTo>
                    <a:lnTo>
                      <a:pt x="626279" y="572950"/>
                    </a:lnTo>
                    <a:close/>
                  </a:path>
                </a:pathLst>
              </a:custGeom>
              <a:solidFill>
                <a:srgbClr val="0090DA"/>
              </a:solidFill>
              <a:ln w="285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1C807ED-53A3-5C81-03B2-E99E89E10245}"/>
                  </a:ext>
                </a:extLst>
              </p:cNvPr>
              <p:cNvSpPr/>
              <p:nvPr/>
            </p:nvSpPr>
            <p:spPr>
              <a:xfrm>
                <a:off x="11000788" y="464411"/>
                <a:ext cx="800389" cy="438358"/>
              </a:xfrm>
              <a:custGeom>
                <a:avLst/>
                <a:gdLst>
                  <a:gd name="connsiteX0" fmla="*/ 312555 w 800389"/>
                  <a:gd name="connsiteY0" fmla="*/ 183184 h 438358"/>
                  <a:gd name="connsiteX1" fmla="*/ 205611 w 800389"/>
                  <a:gd name="connsiteY1" fmla="*/ 73274 h 438358"/>
                  <a:gd name="connsiteX2" fmla="*/ 93761 w 800389"/>
                  <a:gd name="connsiteY2" fmla="*/ 183184 h 438358"/>
                  <a:gd name="connsiteX3" fmla="*/ 93761 w 800389"/>
                  <a:gd name="connsiteY3" fmla="*/ 243390 h 438358"/>
                  <a:gd name="connsiteX4" fmla="*/ 208094 w 800389"/>
                  <a:gd name="connsiteY4" fmla="*/ 366112 h 438358"/>
                  <a:gd name="connsiteX5" fmla="*/ 311727 w 800389"/>
                  <a:gd name="connsiteY5" fmla="*/ 297118 h 438358"/>
                  <a:gd name="connsiteX6" fmla="*/ 400551 w 800389"/>
                  <a:gd name="connsiteY6" fmla="*/ 297118 h 438358"/>
                  <a:gd name="connsiteX7" fmla="*/ 208094 w 800389"/>
                  <a:gd name="connsiteY7" fmla="*/ 438358 h 438358"/>
                  <a:gd name="connsiteX8" fmla="*/ 0 w 800389"/>
                  <a:gd name="connsiteY8" fmla="*/ 220106 h 438358"/>
                  <a:gd name="connsiteX9" fmla="*/ 205611 w 800389"/>
                  <a:gd name="connsiteY9" fmla="*/ 1084 h 438358"/>
                  <a:gd name="connsiteX10" fmla="*/ 406287 w 800389"/>
                  <a:gd name="connsiteY10" fmla="*/ 243390 h 438358"/>
                  <a:gd name="connsiteX11" fmla="*/ 515826 w 800389"/>
                  <a:gd name="connsiteY11" fmla="*/ 292867 h 438358"/>
                  <a:gd name="connsiteX12" fmla="*/ 612012 w 800389"/>
                  <a:gd name="connsiteY12" fmla="*/ 365056 h 438358"/>
                  <a:gd name="connsiteX13" fmla="*/ 706629 w 800389"/>
                  <a:gd name="connsiteY13" fmla="*/ 310500 h 438358"/>
                  <a:gd name="connsiteX14" fmla="*/ 567643 w 800389"/>
                  <a:gd name="connsiteY14" fmla="*/ 241507 h 438358"/>
                  <a:gd name="connsiteX15" fmla="*/ 431111 w 800389"/>
                  <a:gd name="connsiteY15" fmla="*/ 118756 h 438358"/>
                  <a:gd name="connsiteX16" fmla="*/ 608760 w 800389"/>
                  <a:gd name="connsiteY16" fmla="*/ 0 h 438358"/>
                  <a:gd name="connsiteX17" fmla="*/ 786408 w 800389"/>
                  <a:gd name="connsiteY17" fmla="*/ 127573 h 438358"/>
                  <a:gd name="connsiteX18" fmla="*/ 688539 w 800389"/>
                  <a:gd name="connsiteY18" fmla="*/ 127573 h 438358"/>
                  <a:gd name="connsiteX19" fmla="*/ 602168 w 800389"/>
                  <a:gd name="connsiteY19" fmla="*/ 72218 h 438358"/>
                  <a:gd name="connsiteX20" fmla="*/ 524871 w 800389"/>
                  <a:gd name="connsiteY20" fmla="*/ 114733 h 438358"/>
                  <a:gd name="connsiteX21" fmla="*/ 663030 w 800389"/>
                  <a:gd name="connsiteY21" fmla="*/ 181330 h 438358"/>
                  <a:gd name="connsiteX22" fmla="*/ 800389 w 800389"/>
                  <a:gd name="connsiteY22" fmla="*/ 302482 h 438358"/>
                  <a:gd name="connsiteX23" fmla="*/ 610386 w 800389"/>
                  <a:gd name="connsiteY23" fmla="*/ 437274 h 438358"/>
                  <a:gd name="connsiteX24" fmla="*/ 422066 w 800389"/>
                  <a:gd name="connsiteY24" fmla="*/ 292867 h 4383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800389" h="438358">
                    <a:moveTo>
                      <a:pt x="312555" y="183184"/>
                    </a:moveTo>
                    <a:cubicBezTo>
                      <a:pt x="309245" y="125433"/>
                      <a:pt x="268956" y="73274"/>
                      <a:pt x="205611" y="73274"/>
                    </a:cubicBezTo>
                    <a:cubicBezTo>
                      <a:pt x="140641" y="73274"/>
                      <a:pt x="96215" y="121410"/>
                      <a:pt x="93761" y="183184"/>
                    </a:cubicBezTo>
                    <a:close/>
                    <a:moveTo>
                      <a:pt x="93761" y="243390"/>
                    </a:moveTo>
                    <a:cubicBezTo>
                      <a:pt x="93761" y="308360"/>
                      <a:pt x="129941" y="366112"/>
                      <a:pt x="208094" y="366112"/>
                    </a:cubicBezTo>
                    <a:cubicBezTo>
                      <a:pt x="262364" y="366112"/>
                      <a:pt x="295263" y="342857"/>
                      <a:pt x="311727" y="297118"/>
                    </a:cubicBezTo>
                    <a:lnTo>
                      <a:pt x="400551" y="297118"/>
                    </a:lnTo>
                    <a:cubicBezTo>
                      <a:pt x="379979" y="387797"/>
                      <a:pt x="301027" y="438358"/>
                      <a:pt x="208094" y="438358"/>
                    </a:cubicBezTo>
                    <a:cubicBezTo>
                      <a:pt x="74843" y="438358"/>
                      <a:pt x="0" y="347679"/>
                      <a:pt x="0" y="220106"/>
                    </a:cubicBezTo>
                    <a:cubicBezTo>
                      <a:pt x="0" y="102178"/>
                      <a:pt x="78952" y="1084"/>
                      <a:pt x="205611" y="1084"/>
                    </a:cubicBezTo>
                    <a:cubicBezTo>
                      <a:pt x="339690" y="1084"/>
                      <a:pt x="421923" y="119013"/>
                      <a:pt x="406287" y="243390"/>
                    </a:cubicBezTo>
                    <a:close/>
                    <a:moveTo>
                      <a:pt x="515826" y="292867"/>
                    </a:moveTo>
                    <a:cubicBezTo>
                      <a:pt x="520734" y="345796"/>
                      <a:pt x="561850" y="365056"/>
                      <a:pt x="612012" y="365056"/>
                    </a:cubicBezTo>
                    <a:cubicBezTo>
                      <a:pt x="647393" y="365056"/>
                      <a:pt x="709083" y="357837"/>
                      <a:pt x="706629" y="310500"/>
                    </a:cubicBezTo>
                    <a:cubicBezTo>
                      <a:pt x="704146" y="262364"/>
                      <a:pt x="635894" y="256743"/>
                      <a:pt x="567643" y="241507"/>
                    </a:cubicBezTo>
                    <a:cubicBezTo>
                      <a:pt x="498535" y="227040"/>
                      <a:pt x="431111" y="202986"/>
                      <a:pt x="431111" y="118756"/>
                    </a:cubicBezTo>
                    <a:cubicBezTo>
                      <a:pt x="431111" y="28105"/>
                      <a:pt x="531434" y="0"/>
                      <a:pt x="608760" y="0"/>
                    </a:cubicBezTo>
                    <a:cubicBezTo>
                      <a:pt x="695929" y="0"/>
                      <a:pt x="774881" y="35296"/>
                      <a:pt x="786408" y="127573"/>
                    </a:cubicBezTo>
                    <a:lnTo>
                      <a:pt x="688539" y="127573"/>
                    </a:lnTo>
                    <a:cubicBezTo>
                      <a:pt x="680292" y="84259"/>
                      <a:pt x="643285" y="72218"/>
                      <a:pt x="602168" y="72218"/>
                    </a:cubicBezTo>
                    <a:cubicBezTo>
                      <a:pt x="575033" y="72218"/>
                      <a:pt x="524871" y="78638"/>
                      <a:pt x="524871" y="114733"/>
                    </a:cubicBezTo>
                    <a:cubicBezTo>
                      <a:pt x="524871" y="159673"/>
                      <a:pt x="593950" y="166093"/>
                      <a:pt x="663030" y="181330"/>
                    </a:cubicBezTo>
                    <a:cubicBezTo>
                      <a:pt x="731282" y="196566"/>
                      <a:pt x="800389" y="220649"/>
                      <a:pt x="800389" y="302482"/>
                    </a:cubicBezTo>
                    <a:cubicBezTo>
                      <a:pt x="800389" y="401179"/>
                      <a:pt x="698383" y="437274"/>
                      <a:pt x="610386" y="437274"/>
                    </a:cubicBezTo>
                    <a:cubicBezTo>
                      <a:pt x="503471" y="437274"/>
                      <a:pt x="423692" y="390765"/>
                      <a:pt x="422066" y="292867"/>
                    </a:cubicBezTo>
                    <a:close/>
                  </a:path>
                </a:pathLst>
              </a:custGeom>
              <a:solidFill>
                <a:srgbClr val="0090DA"/>
              </a:solidFill>
              <a:ln w="285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CFFA2D69-0370-9627-48A0-C427F940D11F}"/>
                  </a:ext>
                </a:extLst>
              </p:cNvPr>
              <p:cNvSpPr/>
              <p:nvPr/>
            </p:nvSpPr>
            <p:spPr>
              <a:xfrm>
                <a:off x="10470924" y="312071"/>
                <a:ext cx="109853" cy="107057"/>
              </a:xfrm>
              <a:custGeom>
                <a:avLst/>
                <a:gdLst>
                  <a:gd name="connsiteX0" fmla="*/ 109853 w 109853"/>
                  <a:gd name="connsiteY0" fmla="*/ 53529 h 107057"/>
                  <a:gd name="connsiteX1" fmla="*/ 54927 w 109853"/>
                  <a:gd name="connsiteY1" fmla="*/ 107057 h 107057"/>
                  <a:gd name="connsiteX2" fmla="*/ 0 w 109853"/>
                  <a:gd name="connsiteY2" fmla="*/ 53529 h 107057"/>
                  <a:gd name="connsiteX3" fmla="*/ 54927 w 109853"/>
                  <a:gd name="connsiteY3" fmla="*/ 0 h 107057"/>
                  <a:gd name="connsiteX4" fmla="*/ 109853 w 109853"/>
                  <a:gd name="connsiteY4" fmla="*/ 53529 h 1070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9853" h="107057">
                    <a:moveTo>
                      <a:pt x="109853" y="53529"/>
                    </a:moveTo>
                    <a:cubicBezTo>
                      <a:pt x="109853" y="83089"/>
                      <a:pt x="85258" y="107057"/>
                      <a:pt x="54927" y="107057"/>
                    </a:cubicBezTo>
                    <a:cubicBezTo>
                      <a:pt x="24596" y="107057"/>
                      <a:pt x="0" y="83089"/>
                      <a:pt x="0" y="53529"/>
                    </a:cubicBezTo>
                    <a:cubicBezTo>
                      <a:pt x="0" y="23968"/>
                      <a:pt x="24596" y="0"/>
                      <a:pt x="54927" y="0"/>
                    </a:cubicBezTo>
                    <a:cubicBezTo>
                      <a:pt x="85258" y="0"/>
                      <a:pt x="109853" y="23968"/>
                      <a:pt x="109853" y="53529"/>
                    </a:cubicBezTo>
                  </a:path>
                </a:pathLst>
              </a:custGeom>
              <a:solidFill>
                <a:srgbClr val="EA8735"/>
              </a:solidFill>
              <a:ln w="285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0144D15-33C7-0D8B-1947-3AA0ADD04315}"/>
              </a:ext>
            </a:extLst>
          </p:cNvPr>
          <p:cNvCxnSpPr/>
          <p:nvPr userDrawn="1"/>
        </p:nvCxnSpPr>
        <p:spPr>
          <a:xfrm>
            <a:off x="11411339" y="6356791"/>
            <a:ext cx="0" cy="364243"/>
          </a:xfrm>
          <a:prstGeom prst="line">
            <a:avLst/>
          </a:prstGeom>
          <a:ln>
            <a:solidFill>
              <a:srgbClr val="EA87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7705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2DD6D-E5C4-A8DF-E5B5-864267939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E71001-D821-8F01-5D6D-7742A6B6E3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08A67-233F-266A-EC62-8985E6776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D2071-3C7F-4F68-A1B5-21E00996A400}" type="datetime1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AF0E6-0146-A94E-C6C4-C1B282BFE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D1C4C-58E6-C2AA-4521-BFFF88F80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12A66-822E-4D68-834D-298940211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762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6E2CD-0DCC-D1E9-4FA9-956FE764B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EC580-5F8C-9ED4-495E-DE4B1FAAAF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5AFE25-A611-F467-B964-7E608E272A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38FCC0-F017-583F-3BEC-2387C1A10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DC46F-C957-4AF3-B605-0B01B1F63CD0}" type="datetime1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3C3826-18B2-6A41-0FA1-77B8C437A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3EAD08-6130-D827-E89F-CB569437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12A66-822E-4D68-834D-298940211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160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5D381-744C-8DDA-4929-1417C9C06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25A11-8ACB-DFF6-D3BD-074DAC626C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F52D51-2CC9-3402-D643-DC39661B96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2F8241-5A07-84FE-D584-26507254DE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714ACF-158C-5B90-6C47-00E095562D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B67E90-48B6-A845-3ECE-C0486A080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EC40C-80A7-4B60-858C-0BE8626BAA33}" type="datetime1">
              <a:rPr lang="en-US" smtClean="0"/>
              <a:t>12/9/25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96AE27-CC74-6142-14D8-0009C70EA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A7F590-A0CC-2C87-6FB2-0A1FB4D8A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12A66-822E-4D68-834D-298940211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760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234EE-E275-8C17-CFEA-D13632B8F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56A51D-6F81-880B-79EE-0A472D403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1719E-DEF9-4231-8BA4-045159640D25}" type="datetime1">
              <a:rPr lang="en-US" smtClean="0"/>
              <a:t>12/9/25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51DF96-AC6D-6A4D-2617-7F7DEB2DF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4BC04-10C6-3C05-BB9C-94A0A4D67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12A66-822E-4D68-834D-298940211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195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1520F7-A480-A591-7751-E4A2B1048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FED1D-4458-4A15-A900-6490CD99562A}" type="datetime1">
              <a:rPr lang="en-US" smtClean="0"/>
              <a:t>12/9/25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A74D20-9401-4588-FDD1-3293CEF84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C362A4-F935-994E-5445-C076D7512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12A66-822E-4D68-834D-298940211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563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E2BEA-3CD0-4E85-A74B-B52F84B13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3110A-A8A5-9F7C-A034-8F19393816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736DA3-1D91-E49C-4164-15BCA8FDC8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347E4A-204F-011C-BFA5-74D4B7183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B5897-5CA0-4CF8-A057-0197CE198C59}" type="datetime1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F0CB33-5F0E-4C37-9B86-C5B94CADA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F897E0-568B-9119-FAF4-C88F39E75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12A66-822E-4D68-834D-298940211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574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5AF8F-A27F-CCAB-9A0A-12471856A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D0673D-5529-078D-5AAD-B356C41AC6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87411C-505C-0FF7-143A-92B60F497F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0DF20A-3178-A650-AC90-AD1EAC0E6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4BE9D-55E5-4F93-8717-CE54BB1A2A5C}" type="datetime1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0622FD-C4D5-33B2-20A0-E3A455499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854BCB-ABD6-7E2E-C9A0-F930D43EF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12A66-822E-4D68-834D-298940211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748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DE798-F103-4B18-6A87-FC1C6AAF1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F0918E-2DAA-73F1-D259-A08AB96521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7B4199-DD36-CD8B-EB8E-B1B81F5CF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07CC4-A1C2-4BFD-B967-A0B3D3429233}" type="datetime1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59C05E-BD13-58CA-0F11-3AB1D4A4B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044880-A49F-001B-22B8-83CFBA29E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12A66-822E-4D68-834D-298940211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24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F3D234-C153-6B4F-E5BA-754D185CD0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F5DD6E-D59C-9A7E-3981-0F9C84BEC2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6B655D-4CA6-63BC-3D06-053FCFDEB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ACDA2-D4ED-4067-A63D-FA1FE770EC65}" type="datetime1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E5C48-7E3D-A9A2-4F63-1B4880C11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B72A0-E16A-0A57-4B8D-4254FBB6D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12A66-822E-4D68-834D-298940211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966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A8F424B6-10E6-078B-B9C0-3D8DF760D5AE}"/>
              </a:ext>
            </a:extLst>
          </p:cNvPr>
          <p:cNvGraphicFramePr>
            <a:graphicFrameLocks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5976976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417" imgH="416" progId="TCLayout.ActiveDocument.1">
                  <p:embed/>
                </p:oleObj>
              </mc:Choice>
              <mc:Fallback>
                <p:oleObj name="think-cell Slide" r:id="rId14" imgW="417" imgH="4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CEAC5A-DF31-03D9-0BA1-150F5C8CB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1CFB34-34DB-7207-74FE-44F216A380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9AB9D-EBFB-C8F6-0588-F1E4C1F404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208CC6-6482-4B25-A588-43F55A3DDBAA}" type="datetime1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3201C-4D3A-DDAC-3893-FA2A61F2A3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31A3A-1F6F-D9A7-674B-CA005954DC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912A66-822E-4D68-834D-298940211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734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1.emf"/><Relationship Id="rId10" Type="http://schemas.openxmlformats.org/officeDocument/2006/relationships/image" Target="../media/image9.png"/><Relationship Id="rId4" Type="http://schemas.openxmlformats.org/officeDocument/2006/relationships/oleObject" Target="../embeddings/oleObject3.bin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12.sv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4.svg"/><Relationship Id="rId12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13.png"/><Relationship Id="rId11" Type="http://schemas.openxmlformats.org/officeDocument/2006/relationships/image" Target="../media/image6.svg"/><Relationship Id="rId5" Type="http://schemas.openxmlformats.org/officeDocument/2006/relationships/image" Target="../media/image1.emf"/><Relationship Id="rId15" Type="http://schemas.openxmlformats.org/officeDocument/2006/relationships/image" Target="../media/image10.svg"/><Relationship Id="rId10" Type="http://schemas.openxmlformats.org/officeDocument/2006/relationships/image" Target="../media/image5.png"/><Relationship Id="rId4" Type="http://schemas.openxmlformats.org/officeDocument/2006/relationships/oleObject" Target="../embeddings/oleObject4.bin"/><Relationship Id="rId9" Type="http://schemas.openxmlformats.org/officeDocument/2006/relationships/image" Target="../media/image16.svg"/><Relationship Id="rId1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sv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6.svg"/><Relationship Id="rId12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15.png"/><Relationship Id="rId11" Type="http://schemas.openxmlformats.org/officeDocument/2006/relationships/image" Target="../media/image12.svg"/><Relationship Id="rId5" Type="http://schemas.openxmlformats.org/officeDocument/2006/relationships/image" Target="../media/image1.emf"/><Relationship Id="rId15" Type="http://schemas.openxmlformats.org/officeDocument/2006/relationships/image" Target="../media/image14.svg"/><Relationship Id="rId10" Type="http://schemas.openxmlformats.org/officeDocument/2006/relationships/image" Target="../media/image11.png"/><Relationship Id="rId4" Type="http://schemas.openxmlformats.org/officeDocument/2006/relationships/oleObject" Target="../embeddings/oleObject5.bin"/><Relationship Id="rId9" Type="http://schemas.openxmlformats.org/officeDocument/2006/relationships/image" Target="../media/image6.svg"/><Relationship Id="rId1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10.sv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4.svg"/><Relationship Id="rId12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13.png"/><Relationship Id="rId11" Type="http://schemas.openxmlformats.org/officeDocument/2006/relationships/image" Target="../media/image12.svg"/><Relationship Id="rId5" Type="http://schemas.openxmlformats.org/officeDocument/2006/relationships/image" Target="../media/image1.emf"/><Relationship Id="rId1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oleObject" Target="../embeddings/oleObject7.bin"/><Relationship Id="rId9" Type="http://schemas.openxmlformats.org/officeDocument/2006/relationships/image" Target="../media/image16.svg"/><Relationship Id="rId1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16.xml"/><Relationship Id="rId13" Type="http://schemas.openxmlformats.org/officeDocument/2006/relationships/tags" Target="../tags/tag21.xml"/><Relationship Id="rId18" Type="http://schemas.openxmlformats.org/officeDocument/2006/relationships/image" Target="../media/image1.emf"/><Relationship Id="rId3" Type="http://schemas.openxmlformats.org/officeDocument/2006/relationships/tags" Target="../tags/tag11.xml"/><Relationship Id="rId7" Type="http://schemas.openxmlformats.org/officeDocument/2006/relationships/tags" Target="../tags/tag15.xml"/><Relationship Id="rId12" Type="http://schemas.openxmlformats.org/officeDocument/2006/relationships/tags" Target="../tags/tag20.xml"/><Relationship Id="rId17" Type="http://schemas.openxmlformats.org/officeDocument/2006/relationships/oleObject" Target="../embeddings/oleObject8.bin"/><Relationship Id="rId2" Type="http://schemas.openxmlformats.org/officeDocument/2006/relationships/tags" Target="../tags/tag10.xml"/><Relationship Id="rId16" Type="http://schemas.openxmlformats.org/officeDocument/2006/relationships/notesSlide" Target="../notesSlides/notesSlide6.xml"/><Relationship Id="rId20" Type="http://schemas.openxmlformats.org/officeDocument/2006/relationships/chart" Target="../charts/chart2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tags" Target="../tags/tag19.xml"/><Relationship Id="rId5" Type="http://schemas.openxmlformats.org/officeDocument/2006/relationships/tags" Target="../tags/tag13.xml"/><Relationship Id="rId15" Type="http://schemas.openxmlformats.org/officeDocument/2006/relationships/slideLayout" Target="../slideLayouts/slideLayout2.xml"/><Relationship Id="rId10" Type="http://schemas.openxmlformats.org/officeDocument/2006/relationships/tags" Target="../tags/tag18.xml"/><Relationship Id="rId19" Type="http://schemas.openxmlformats.org/officeDocument/2006/relationships/chart" Target="../charts/chart1.xml"/><Relationship Id="rId4" Type="http://schemas.openxmlformats.org/officeDocument/2006/relationships/tags" Target="../tags/tag12.xml"/><Relationship Id="rId9" Type="http://schemas.openxmlformats.org/officeDocument/2006/relationships/tags" Target="../tags/tag17.xml"/><Relationship Id="rId14" Type="http://schemas.openxmlformats.org/officeDocument/2006/relationships/tags" Target="../tags/tag2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0.sv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6.svg"/><Relationship Id="rId12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Relationship Id="rId6" Type="http://schemas.openxmlformats.org/officeDocument/2006/relationships/image" Target="../media/image5.png"/><Relationship Id="rId11" Type="http://schemas.openxmlformats.org/officeDocument/2006/relationships/image" Target="../media/image16.svg"/><Relationship Id="rId5" Type="http://schemas.openxmlformats.org/officeDocument/2006/relationships/image" Target="../media/image1.emf"/><Relationship Id="rId15" Type="http://schemas.openxmlformats.org/officeDocument/2006/relationships/image" Target="../media/image12.svg"/><Relationship Id="rId10" Type="http://schemas.openxmlformats.org/officeDocument/2006/relationships/image" Target="../media/image15.png"/><Relationship Id="rId4" Type="http://schemas.openxmlformats.org/officeDocument/2006/relationships/oleObject" Target="../embeddings/oleObject9.bin"/><Relationship Id="rId9" Type="http://schemas.openxmlformats.org/officeDocument/2006/relationships/image" Target="../media/image14.svg"/><Relationship Id="rId1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31.xml"/><Relationship Id="rId13" Type="http://schemas.openxmlformats.org/officeDocument/2006/relationships/tags" Target="../tags/tag36.xml"/><Relationship Id="rId18" Type="http://schemas.openxmlformats.org/officeDocument/2006/relationships/image" Target="../media/image1.emf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12" Type="http://schemas.openxmlformats.org/officeDocument/2006/relationships/tags" Target="../tags/tag35.xml"/><Relationship Id="rId17" Type="http://schemas.openxmlformats.org/officeDocument/2006/relationships/oleObject" Target="../embeddings/oleObject10.bin"/><Relationship Id="rId2" Type="http://schemas.openxmlformats.org/officeDocument/2006/relationships/tags" Target="../tags/tag25.xml"/><Relationship Id="rId16" Type="http://schemas.openxmlformats.org/officeDocument/2006/relationships/notesSlide" Target="../notesSlides/notesSlide8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11" Type="http://schemas.openxmlformats.org/officeDocument/2006/relationships/tags" Target="../tags/tag34.xml"/><Relationship Id="rId5" Type="http://schemas.openxmlformats.org/officeDocument/2006/relationships/tags" Target="../tags/tag28.xml"/><Relationship Id="rId15" Type="http://schemas.openxmlformats.org/officeDocument/2006/relationships/slideLayout" Target="../slideLayouts/slideLayout2.xml"/><Relationship Id="rId10" Type="http://schemas.openxmlformats.org/officeDocument/2006/relationships/tags" Target="../tags/tag33.xml"/><Relationship Id="rId19" Type="http://schemas.openxmlformats.org/officeDocument/2006/relationships/chart" Target="../charts/chart3.xml"/><Relationship Id="rId4" Type="http://schemas.openxmlformats.org/officeDocument/2006/relationships/tags" Target="../tags/tag27.xml"/><Relationship Id="rId9" Type="http://schemas.openxmlformats.org/officeDocument/2006/relationships/tags" Target="../tags/tag32.xml"/><Relationship Id="rId14" Type="http://schemas.openxmlformats.org/officeDocument/2006/relationships/tags" Target="../tags/tag3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45.xml"/><Relationship Id="rId13" Type="http://schemas.openxmlformats.org/officeDocument/2006/relationships/tags" Target="../tags/tag50.xml"/><Relationship Id="rId18" Type="http://schemas.openxmlformats.org/officeDocument/2006/relationships/tags" Target="../tags/tag55.xml"/><Relationship Id="rId3" Type="http://schemas.openxmlformats.org/officeDocument/2006/relationships/tags" Target="../tags/tag40.xml"/><Relationship Id="rId21" Type="http://schemas.openxmlformats.org/officeDocument/2006/relationships/oleObject" Target="../embeddings/oleObject11.bin"/><Relationship Id="rId7" Type="http://schemas.openxmlformats.org/officeDocument/2006/relationships/tags" Target="../tags/tag44.xml"/><Relationship Id="rId12" Type="http://schemas.openxmlformats.org/officeDocument/2006/relationships/tags" Target="../tags/tag49.xml"/><Relationship Id="rId17" Type="http://schemas.openxmlformats.org/officeDocument/2006/relationships/tags" Target="../tags/tag54.xml"/><Relationship Id="rId2" Type="http://schemas.openxmlformats.org/officeDocument/2006/relationships/tags" Target="../tags/tag39.xml"/><Relationship Id="rId16" Type="http://schemas.openxmlformats.org/officeDocument/2006/relationships/tags" Target="../tags/tag53.xml"/><Relationship Id="rId20" Type="http://schemas.openxmlformats.org/officeDocument/2006/relationships/notesSlide" Target="../notesSlides/notesSlide9.xml"/><Relationship Id="rId1" Type="http://schemas.openxmlformats.org/officeDocument/2006/relationships/tags" Target="../tags/tag38.xml"/><Relationship Id="rId6" Type="http://schemas.openxmlformats.org/officeDocument/2006/relationships/tags" Target="../tags/tag43.xml"/><Relationship Id="rId11" Type="http://schemas.openxmlformats.org/officeDocument/2006/relationships/tags" Target="../tags/tag48.xml"/><Relationship Id="rId5" Type="http://schemas.openxmlformats.org/officeDocument/2006/relationships/tags" Target="../tags/tag42.xml"/><Relationship Id="rId15" Type="http://schemas.openxmlformats.org/officeDocument/2006/relationships/tags" Target="../tags/tag52.xml"/><Relationship Id="rId23" Type="http://schemas.openxmlformats.org/officeDocument/2006/relationships/chart" Target="../charts/chart4.xml"/><Relationship Id="rId10" Type="http://schemas.openxmlformats.org/officeDocument/2006/relationships/tags" Target="../tags/tag47.xml"/><Relationship Id="rId19" Type="http://schemas.openxmlformats.org/officeDocument/2006/relationships/slideLayout" Target="../slideLayouts/slideLayout2.xml"/><Relationship Id="rId4" Type="http://schemas.openxmlformats.org/officeDocument/2006/relationships/tags" Target="../tags/tag41.xml"/><Relationship Id="rId9" Type="http://schemas.openxmlformats.org/officeDocument/2006/relationships/tags" Target="../tags/tag46.xml"/><Relationship Id="rId14" Type="http://schemas.openxmlformats.org/officeDocument/2006/relationships/tags" Target="../tags/tag51.xml"/><Relationship Id="rId22" Type="http://schemas.openxmlformats.org/officeDocument/2006/relationships/image" Target="../media/image1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6.sv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2.svg"/><Relationship Id="rId12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6.xml"/><Relationship Id="rId6" Type="http://schemas.openxmlformats.org/officeDocument/2006/relationships/image" Target="../media/image11.png"/><Relationship Id="rId11" Type="http://schemas.openxmlformats.org/officeDocument/2006/relationships/image" Target="../media/image14.svg"/><Relationship Id="rId5" Type="http://schemas.openxmlformats.org/officeDocument/2006/relationships/image" Target="../media/image1.emf"/><Relationship Id="rId15" Type="http://schemas.openxmlformats.org/officeDocument/2006/relationships/image" Target="../media/image10.svg"/><Relationship Id="rId10" Type="http://schemas.openxmlformats.org/officeDocument/2006/relationships/image" Target="../media/image13.png"/><Relationship Id="rId4" Type="http://schemas.openxmlformats.org/officeDocument/2006/relationships/oleObject" Target="../embeddings/oleObject12.bin"/><Relationship Id="rId9" Type="http://schemas.openxmlformats.org/officeDocument/2006/relationships/image" Target="../media/image6.svg"/><Relationship Id="rId1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tags" Target="../tags/tag59.xml"/><Relationship Id="rId7" Type="http://schemas.openxmlformats.org/officeDocument/2006/relationships/notesSlide" Target="../notesSlides/notesSlide11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1.xml"/><Relationship Id="rId10" Type="http://schemas.openxmlformats.org/officeDocument/2006/relationships/chart" Target="../charts/chart5.xml"/><Relationship Id="rId4" Type="http://schemas.openxmlformats.org/officeDocument/2006/relationships/tags" Target="../tags/tag60.xml"/><Relationship Id="rId9" Type="http://schemas.openxmlformats.org/officeDocument/2006/relationships/image" Target="../media/image1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4.svg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10.svg"/><Relationship Id="rId12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2.xml"/><Relationship Id="rId6" Type="http://schemas.openxmlformats.org/officeDocument/2006/relationships/image" Target="../media/image9.png"/><Relationship Id="rId11" Type="http://schemas.openxmlformats.org/officeDocument/2006/relationships/image" Target="../media/image6.svg"/><Relationship Id="rId5" Type="http://schemas.openxmlformats.org/officeDocument/2006/relationships/image" Target="../media/image1.emf"/><Relationship Id="rId15" Type="http://schemas.openxmlformats.org/officeDocument/2006/relationships/image" Target="../media/image16.svg"/><Relationship Id="rId10" Type="http://schemas.openxmlformats.org/officeDocument/2006/relationships/image" Target="../media/image5.png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2.svg"/><Relationship Id="rId1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5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E7D9AA94-8A2B-7C93-1EA6-BC39444569F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1744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7" imgH="416" progId="TCLayout.ActiveDocument.1">
                  <p:embed/>
                </p:oleObj>
              </mc:Choice>
              <mc:Fallback>
                <p:oleObj name="think-cell Slide" r:id="rId3" imgW="417" imgH="4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1AAC0EF-346C-0CEE-5E79-EAD3210FCC2B}"/>
              </a:ext>
            </a:extLst>
          </p:cNvPr>
          <p:cNvSpPr txBox="1"/>
          <p:nvPr/>
        </p:nvSpPr>
        <p:spPr>
          <a:xfrm>
            <a:off x="697114" y="2459504"/>
            <a:ext cx="90605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err="1">
                <a:solidFill>
                  <a:srgbClr val="0D0D2F"/>
                </a:solidFill>
                <a:latin typeface="Lyft Pro UI" panose="02000503030000000000" pitchFamily="50" charset="0"/>
              </a:rPr>
              <a:t>Bluebikes</a:t>
            </a:r>
            <a:r>
              <a:rPr lang="en-US" sz="4400" b="1" dirty="0">
                <a:solidFill>
                  <a:srgbClr val="0D0D2F"/>
                </a:solidFill>
                <a:latin typeface="Lyft Pro UI" panose="02000503030000000000" pitchFamily="50" charset="0"/>
              </a:rPr>
              <a:t> Usage Analysis</a:t>
            </a:r>
          </a:p>
          <a:p>
            <a:r>
              <a:rPr lang="en-US" sz="3200" dirty="0">
                <a:solidFill>
                  <a:srgbClr val="4777AE"/>
                </a:solidFill>
              </a:rPr>
              <a:t>Weather Impact, MBTA Integration, and Demand Forecasting for Operational Optimization</a:t>
            </a:r>
            <a:endParaRPr lang="en-US" sz="3200" dirty="0">
              <a:solidFill>
                <a:srgbClr val="4777AE"/>
              </a:solidFill>
              <a:effectLst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FF0059-CF51-6A3D-8EFB-C484C233FED4}"/>
              </a:ext>
            </a:extLst>
          </p:cNvPr>
          <p:cNvSpPr txBox="1"/>
          <p:nvPr/>
        </p:nvSpPr>
        <p:spPr>
          <a:xfrm>
            <a:off x="697114" y="5384474"/>
            <a:ext cx="90605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1">
                    <a:lumMod val="65000"/>
                    <a:lumOff val="35000"/>
                    <a:alpha val="75000"/>
                  </a:schemeClr>
                </a:solidFill>
                <a:latin typeface="Lyft Pro UI" panose="02000503030000000000" pitchFamily="50" charset="0"/>
              </a:rPr>
              <a:t>December 2025</a:t>
            </a:r>
            <a:endParaRPr lang="en-US" dirty="0">
              <a:solidFill>
                <a:schemeClr val="tx1">
                  <a:lumMod val="65000"/>
                  <a:lumOff val="35000"/>
                  <a:alpha val="75000"/>
                </a:schemeClr>
              </a:solidFill>
              <a:latin typeface="Lyft Pro UI" panose="02000503030000000000" pitchFamily="50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1EC1E5-4379-EAAC-8F87-39FFD96B9DC4}"/>
              </a:ext>
            </a:extLst>
          </p:cNvPr>
          <p:cNvSpPr/>
          <p:nvPr/>
        </p:nvSpPr>
        <p:spPr>
          <a:xfrm>
            <a:off x="10996397" y="6457890"/>
            <a:ext cx="1195602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>
                <a:solidFill>
                  <a:srgbClr val="0D0D2F"/>
                </a:solidFill>
                <a:latin typeface="Lyft Pro UI" panose="02000503030000000000" pitchFamily="50" charset="0"/>
              </a:rPr>
              <a:t>Team 5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788C1ADC-DA58-5C9B-7FBB-D25881284F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58124" y="265505"/>
            <a:ext cx="4080271" cy="684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582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1F3C0-43CB-90B1-7D1F-4350C33AA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6D91EBB7-CBEC-AF60-8C34-2E5ED8AA1A3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097981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17" imgH="416" progId="TCLayout.ActiveDocument.1">
                  <p:embed/>
                </p:oleObj>
              </mc:Choice>
              <mc:Fallback>
                <p:oleObj name="think-cell Slide" r:id="rId4" imgW="417" imgH="41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9D706F0-0C0D-A0A1-5483-9FC8EDB83E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97827F-E4EA-CD33-8EF8-3B9931528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12A66-822E-4D68-834D-298940211017}" type="slidenum">
              <a:rPr lang="en-US" smtClean="0"/>
              <a:t>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55D7BF-EDD0-A1E3-E3AF-F3D595514ADD}"/>
              </a:ext>
            </a:extLst>
          </p:cNvPr>
          <p:cNvSpPr txBox="1"/>
          <p:nvPr/>
        </p:nvSpPr>
        <p:spPr>
          <a:xfrm>
            <a:off x="194678" y="171081"/>
            <a:ext cx="117810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D0D2F"/>
                </a:solidFill>
                <a:latin typeface="Lyft Pro UI" panose="02000503030000000000" pitchFamily="50" charset="0"/>
              </a:rPr>
              <a:t>Executive Summary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056A47-8140-6F46-2833-F5FB79EA3B16}"/>
              </a:ext>
            </a:extLst>
          </p:cNvPr>
          <p:cNvSpPr txBox="1"/>
          <p:nvPr/>
        </p:nvSpPr>
        <p:spPr>
          <a:xfrm>
            <a:off x="80817" y="6535572"/>
            <a:ext cx="3557733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-US" sz="1100" dirty="0">
                <a:solidFill>
                  <a:srgbClr val="0D0D2F"/>
                </a:solidFill>
                <a:latin typeface="Lyft Pro UI" panose="02000503030000000000" pitchFamily="50" charset="0"/>
              </a:rPr>
              <a:t>Source: </a:t>
            </a:r>
            <a:r>
              <a:rPr lang="en-US" sz="1100" dirty="0" err="1">
                <a:solidFill>
                  <a:srgbClr val="0D0D2F"/>
                </a:solidFill>
                <a:latin typeface="Lyft Pro UI" panose="02000503030000000000" pitchFamily="50" charset="0"/>
              </a:rPr>
              <a:t>Bluebikes</a:t>
            </a:r>
            <a:r>
              <a:rPr lang="en-US" sz="1100" dirty="0">
                <a:solidFill>
                  <a:srgbClr val="0D0D2F"/>
                </a:solidFill>
                <a:latin typeface="Lyft Pro UI" panose="02000503030000000000" pitchFamily="50" charset="0"/>
              </a:rPr>
              <a:t> trip &amp; station data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03F8254-F3CF-89AF-9A64-9176783B13D4}"/>
              </a:ext>
            </a:extLst>
          </p:cNvPr>
          <p:cNvSpPr/>
          <p:nvPr/>
        </p:nvSpPr>
        <p:spPr>
          <a:xfrm>
            <a:off x="-12422" y="1113503"/>
            <a:ext cx="3695700" cy="5025486"/>
          </a:xfrm>
          <a:prstGeom prst="rect">
            <a:avLst/>
          </a:prstGeom>
          <a:solidFill>
            <a:srgbClr val="4777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EDE9BF1-08EB-8513-AA08-5B142DBC474F}"/>
              </a:ext>
            </a:extLst>
          </p:cNvPr>
          <p:cNvGrpSpPr/>
          <p:nvPr/>
        </p:nvGrpSpPr>
        <p:grpSpPr>
          <a:xfrm>
            <a:off x="175405" y="1406304"/>
            <a:ext cx="3320046" cy="4439885"/>
            <a:chOff x="175405" y="1381182"/>
            <a:chExt cx="3320046" cy="443988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EFE6691-DD8A-F109-2B58-55E4864B598E}"/>
                </a:ext>
              </a:extLst>
            </p:cNvPr>
            <p:cNvSpPr txBox="1"/>
            <p:nvPr/>
          </p:nvSpPr>
          <p:spPr>
            <a:xfrm>
              <a:off x="175405" y="1381182"/>
              <a:ext cx="3320046" cy="113877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000" b="1" dirty="0">
                  <a:solidFill>
                    <a:schemeClr val="bg1"/>
                  </a:solidFill>
                  <a:latin typeface="Lyft Pro UI" panose="02000503030000000000" pitchFamily="50" charset="0"/>
                </a:rPr>
                <a:t>9K</a:t>
              </a:r>
            </a:p>
            <a:p>
              <a:r>
                <a:rPr lang="en-US" sz="2800" dirty="0">
                  <a:solidFill>
                    <a:schemeClr val="bg1"/>
                  </a:solidFill>
                  <a:latin typeface="Lyft Pro UI" panose="02000503030000000000" pitchFamily="50" charset="0"/>
                </a:rPr>
                <a:t>Avg. daily trips</a:t>
              </a:r>
              <a:endParaRPr lang="en-US" sz="3600" dirty="0">
                <a:solidFill>
                  <a:schemeClr val="bg1"/>
                </a:solidFill>
                <a:latin typeface="Lyft Pro UI" panose="02000503030000000000" pitchFamily="50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C950BAA-AC97-8674-7D59-5AA46208E5DD}"/>
                </a:ext>
              </a:extLst>
            </p:cNvPr>
            <p:cNvSpPr txBox="1"/>
            <p:nvPr/>
          </p:nvSpPr>
          <p:spPr>
            <a:xfrm>
              <a:off x="175405" y="3031738"/>
              <a:ext cx="3320046" cy="113877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000" b="1" dirty="0">
                  <a:solidFill>
                    <a:schemeClr val="bg1"/>
                  </a:solidFill>
                  <a:latin typeface="Lyft Pro UI" panose="02000503030000000000" pitchFamily="50" charset="0"/>
                </a:rPr>
                <a:t>75%</a:t>
              </a:r>
            </a:p>
            <a:p>
              <a:r>
                <a:rPr lang="en-US" sz="2800" dirty="0">
                  <a:solidFill>
                    <a:schemeClr val="bg1"/>
                  </a:solidFill>
                  <a:latin typeface="Lyft Pro UI" panose="02000503030000000000" pitchFamily="50" charset="0"/>
                </a:rPr>
                <a:t>Trips from members</a:t>
              </a:r>
              <a:endParaRPr lang="en-US" sz="3600" dirty="0">
                <a:solidFill>
                  <a:schemeClr val="bg1"/>
                </a:solidFill>
                <a:latin typeface="Lyft Pro UI" panose="02000503030000000000" pitchFamily="50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23DADEE-1A3F-8795-A299-C91C3D7AFB0F}"/>
                </a:ext>
              </a:extLst>
            </p:cNvPr>
            <p:cNvSpPr txBox="1"/>
            <p:nvPr/>
          </p:nvSpPr>
          <p:spPr>
            <a:xfrm>
              <a:off x="175405" y="4682294"/>
              <a:ext cx="3320046" cy="113877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000" b="1" dirty="0">
                  <a:solidFill>
                    <a:schemeClr val="bg1"/>
                  </a:solidFill>
                  <a:latin typeface="Lyft Pro UI" panose="02000503030000000000" pitchFamily="50" charset="0"/>
                </a:rPr>
                <a:t>79%</a:t>
              </a:r>
            </a:p>
            <a:p>
              <a:r>
                <a:rPr lang="en-US" sz="2800" dirty="0">
                  <a:solidFill>
                    <a:schemeClr val="bg1"/>
                  </a:solidFill>
                  <a:latin typeface="Lyft Pro UI" panose="02000503030000000000" pitchFamily="50" charset="0"/>
                </a:rPr>
                <a:t>Trips MBTA-linked</a:t>
              </a:r>
              <a:endParaRPr lang="en-US" sz="3600" dirty="0">
                <a:solidFill>
                  <a:schemeClr val="bg1"/>
                </a:solidFill>
                <a:latin typeface="Lyft Pro UI" panose="02000503030000000000" pitchFamily="50" charset="0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B03CC29-0DB0-A2C2-027D-4F9D5AA79AE8}"/>
              </a:ext>
            </a:extLst>
          </p:cNvPr>
          <p:cNvGrpSpPr/>
          <p:nvPr/>
        </p:nvGrpSpPr>
        <p:grpSpPr>
          <a:xfrm>
            <a:off x="4101045" y="1370988"/>
            <a:ext cx="7650040" cy="4649017"/>
            <a:chOff x="4148670" y="1370988"/>
            <a:chExt cx="7650040" cy="4649017"/>
          </a:xfrm>
        </p:grpSpPr>
        <p:pic>
          <p:nvPicPr>
            <p:cNvPr id="7" name="Graphic 6" descr="Signal with solid fill">
              <a:extLst>
                <a:ext uri="{FF2B5EF4-FFF2-40B4-BE49-F238E27FC236}">
                  <a16:creationId xmlns:a16="http://schemas.microsoft.com/office/drawing/2014/main" id="{E0F39212-5CC8-1BA1-486F-1790F5F8202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148670" y="1437737"/>
              <a:ext cx="512832" cy="512832"/>
            </a:xfrm>
            <a:prstGeom prst="rect">
              <a:avLst/>
            </a:prstGeom>
          </p:spPr>
        </p:pic>
        <p:pic>
          <p:nvPicPr>
            <p:cNvPr id="16" name="Graphic 15" descr="Bar graph with upward trend with solid fill">
              <a:extLst>
                <a:ext uri="{FF2B5EF4-FFF2-40B4-BE49-F238E27FC236}">
                  <a16:creationId xmlns:a16="http://schemas.microsoft.com/office/drawing/2014/main" id="{76771137-209B-F59B-A6D0-B012803FEBD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48670" y="5301923"/>
              <a:ext cx="512832" cy="512832"/>
            </a:xfrm>
            <a:prstGeom prst="rect">
              <a:avLst/>
            </a:prstGeom>
          </p:spPr>
        </p:pic>
        <p:pic>
          <p:nvPicPr>
            <p:cNvPr id="22" name="Graphic 21" descr="Streetcar with solid fill">
              <a:extLst>
                <a:ext uri="{FF2B5EF4-FFF2-40B4-BE49-F238E27FC236}">
                  <a16:creationId xmlns:a16="http://schemas.microsoft.com/office/drawing/2014/main" id="{20CA8CE6-0C1A-F33C-A8FA-17A77027B91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148670" y="4013861"/>
              <a:ext cx="512832" cy="512832"/>
            </a:xfrm>
            <a:prstGeom prst="rect">
              <a:avLst/>
            </a:prstGeom>
          </p:spPr>
        </p:pic>
        <p:pic>
          <p:nvPicPr>
            <p:cNvPr id="29" name="Graphic 28" descr="Partial sun with solid fill">
              <a:extLst>
                <a:ext uri="{FF2B5EF4-FFF2-40B4-BE49-F238E27FC236}">
                  <a16:creationId xmlns:a16="http://schemas.microsoft.com/office/drawing/2014/main" id="{8506489E-B551-2D10-B44F-26B275860D1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148670" y="2725799"/>
              <a:ext cx="512832" cy="512832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76CA5BD-FBBB-9474-DD0F-B30FCCF4D004}"/>
                </a:ext>
              </a:extLst>
            </p:cNvPr>
            <p:cNvSpPr txBox="1"/>
            <p:nvPr/>
          </p:nvSpPr>
          <p:spPr>
            <a:xfrm>
              <a:off x="4804975" y="1370988"/>
              <a:ext cx="699373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0D0D2F"/>
                  </a:solidFill>
                  <a:latin typeface="Lyft Pro UI" panose="02000503030000000000" pitchFamily="50" charset="0"/>
                </a:rPr>
                <a:t>Bluebikes</a:t>
              </a:r>
              <a:r>
                <a:rPr lang="en-US" dirty="0">
                  <a:solidFill>
                    <a:srgbClr val="0D0D2F"/>
                  </a:solidFill>
                  <a:latin typeface="Lyft Pro UI" panose="02000503030000000000" pitchFamily="50" charset="0"/>
                </a:rPr>
                <a:t> ridership has grown significantly, from 1.5M trips in 2018 to 4.7M in 2024, with members driving steady usage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EEA2FFE-A274-DDB0-3F64-797395CDB8AA}"/>
                </a:ext>
              </a:extLst>
            </p:cNvPr>
            <p:cNvSpPr txBox="1"/>
            <p:nvPr/>
          </p:nvSpPr>
          <p:spPr>
            <a:xfrm>
              <a:off x="4804975" y="2659050"/>
              <a:ext cx="699373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D0D2F"/>
                  </a:solidFill>
                  <a:latin typeface="Lyft Pro UI" panose="02000503030000000000" pitchFamily="50" charset="0"/>
                </a:rPr>
                <a:t>Weather strongly influences demand: Warm, sunny days boost trips; cold or hazardous conditions reduce them by 20-65%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59F7468-650A-8040-44D5-4C0F9993F9A5}"/>
                </a:ext>
              </a:extLst>
            </p:cNvPr>
            <p:cNvSpPr txBox="1"/>
            <p:nvPr/>
          </p:nvSpPr>
          <p:spPr>
            <a:xfrm>
              <a:off x="4804975" y="3947112"/>
              <a:ext cx="699373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D0D2F"/>
                  </a:solidFill>
                  <a:latin typeface="Lyft Pro UI" panose="02000503030000000000" pitchFamily="50" charset="0"/>
                </a:rPr>
                <a:t>Tight MBTA links: 70% of trips connect to transit, enhancing first/last-mile access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F2A4105-73F5-5225-3FBB-DE0626DD80E8}"/>
                </a:ext>
              </a:extLst>
            </p:cNvPr>
            <p:cNvSpPr txBox="1"/>
            <p:nvPr/>
          </p:nvSpPr>
          <p:spPr>
            <a:xfrm>
              <a:off x="4804975" y="5096675"/>
              <a:ext cx="699373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D0D2F"/>
                  </a:solidFill>
                  <a:latin typeface="Lyft Pro UI" panose="02000503030000000000" pitchFamily="50" charset="0"/>
                </a:rPr>
                <a:t>These findings help </a:t>
              </a:r>
              <a:r>
                <a:rPr lang="en-US" dirty="0" err="1">
                  <a:solidFill>
                    <a:srgbClr val="0D0D2F"/>
                  </a:solidFill>
                  <a:latin typeface="Lyft Pro UI" panose="02000503030000000000" pitchFamily="50" charset="0"/>
                </a:rPr>
                <a:t>Bluebikes</a:t>
              </a:r>
              <a:r>
                <a:rPr lang="en-US" dirty="0">
                  <a:solidFill>
                    <a:srgbClr val="0D0D2F"/>
                  </a:solidFill>
                  <a:latin typeface="Lyft Pro UI" panose="02000503030000000000" pitchFamily="50" charset="0"/>
                </a:rPr>
                <a:t> plan better: Add bikes near transit hubs, cut staff on bad weather days, and grow rides for a smoother city network.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5938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EC9EF-D5EC-8C62-9CD7-41FE63905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9A313053-806D-C0B7-D55F-BF077F1A15E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17" imgH="416" progId="TCLayout.ActiveDocument.1">
                  <p:embed/>
                </p:oleObj>
              </mc:Choice>
              <mc:Fallback>
                <p:oleObj name="think-cell Slide" r:id="rId4" imgW="417" imgH="41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91DB113-9A36-C4C9-D950-7FC722839F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158527-E327-099F-DFBF-5D0778376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12A66-822E-4D68-834D-298940211017}" type="slidenum">
              <a:rPr lang="en-US" smtClean="0"/>
              <a:t>2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2777EE-382C-586E-AC1D-F4657E6FE691}"/>
              </a:ext>
            </a:extLst>
          </p:cNvPr>
          <p:cNvSpPr txBox="1"/>
          <p:nvPr/>
        </p:nvSpPr>
        <p:spPr>
          <a:xfrm>
            <a:off x="194678" y="171081"/>
            <a:ext cx="117810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D0D2F"/>
                </a:solidFill>
                <a:latin typeface="Lyft Pro UI" panose="02000503030000000000" pitchFamily="50" charset="0"/>
              </a:rPr>
              <a:t>Table of Contents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F20A303-73E9-8C5A-508E-767BB126D115}"/>
              </a:ext>
            </a:extLst>
          </p:cNvPr>
          <p:cNvGrpSpPr/>
          <p:nvPr/>
        </p:nvGrpSpPr>
        <p:grpSpPr>
          <a:xfrm>
            <a:off x="2563813" y="1233975"/>
            <a:ext cx="7064374" cy="523220"/>
            <a:chOff x="2563813" y="1233975"/>
            <a:chExt cx="7064374" cy="523220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4839759-AB2E-FA7E-1D42-BD5D86BFA38B}"/>
                </a:ext>
              </a:extLst>
            </p:cNvPr>
            <p:cNvSpPr txBox="1"/>
            <p:nvPr/>
          </p:nvSpPr>
          <p:spPr>
            <a:xfrm>
              <a:off x="3302421" y="1233975"/>
              <a:ext cx="632576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2800" b="1">
                  <a:solidFill>
                    <a:srgbClr val="091F2F"/>
                  </a:solidFill>
                  <a:latin typeface="Montserrat" pitchFamily="2" charset="0"/>
                </a:defRPr>
              </a:lvl1pPr>
            </a:lstStyle>
            <a:p>
              <a:r>
                <a:rPr lang="en-US" dirty="0">
                  <a:solidFill>
                    <a:srgbClr val="0D0D2F"/>
                  </a:solidFill>
                  <a:latin typeface="Lyft Pro UI" panose="02000503030000000000" pitchFamily="50" charset="0"/>
                </a:rPr>
                <a:t>Problem Definition and Objectives</a:t>
              </a:r>
            </a:p>
          </p:txBody>
        </p:sp>
        <p:pic>
          <p:nvPicPr>
            <p:cNvPr id="26" name="Graphic 25" descr="Bullseye with solid fill">
              <a:extLst>
                <a:ext uri="{FF2B5EF4-FFF2-40B4-BE49-F238E27FC236}">
                  <a16:creationId xmlns:a16="http://schemas.microsoft.com/office/drawing/2014/main" id="{D8252F17-E379-A532-0268-4BEC41661FB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563813" y="1239169"/>
              <a:ext cx="512832" cy="512832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E33B76E-8DFD-F91C-9873-8EEE05DA6B4C}"/>
              </a:ext>
            </a:extLst>
          </p:cNvPr>
          <p:cNvGrpSpPr/>
          <p:nvPr/>
        </p:nvGrpSpPr>
        <p:grpSpPr>
          <a:xfrm>
            <a:off x="2563813" y="5357221"/>
            <a:ext cx="7064374" cy="523220"/>
            <a:chOff x="2563813" y="5774927"/>
            <a:chExt cx="7064374" cy="523220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5B8DB0B-ACCC-0584-E141-75A71B31E0D8}"/>
                </a:ext>
              </a:extLst>
            </p:cNvPr>
            <p:cNvSpPr txBox="1"/>
            <p:nvPr/>
          </p:nvSpPr>
          <p:spPr>
            <a:xfrm>
              <a:off x="3302421" y="5774927"/>
              <a:ext cx="632576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2800" b="1">
                  <a:solidFill>
                    <a:srgbClr val="091F2F"/>
                  </a:solidFill>
                  <a:latin typeface="Montserrat" pitchFamily="2" charset="0"/>
                </a:defRPr>
              </a:lvl1pPr>
            </a:lstStyle>
            <a:p>
              <a:r>
                <a:rPr lang="en-US" dirty="0">
                  <a:solidFill>
                    <a:srgbClr val="0D0D2F"/>
                  </a:solidFill>
                  <a:latin typeface="Lyft Pro UI" panose="02000503030000000000" pitchFamily="50" charset="0"/>
                </a:rPr>
                <a:t>Conclusion</a:t>
              </a:r>
            </a:p>
          </p:txBody>
        </p:sp>
        <p:pic>
          <p:nvPicPr>
            <p:cNvPr id="6" name="Graphic 5" descr="Rewind with solid fill">
              <a:extLst>
                <a:ext uri="{FF2B5EF4-FFF2-40B4-BE49-F238E27FC236}">
                  <a16:creationId xmlns:a16="http://schemas.microsoft.com/office/drawing/2014/main" id="{A889A74E-688D-92F9-81F9-10711786D39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flipH="1">
              <a:off x="2563813" y="5780121"/>
              <a:ext cx="512832" cy="512832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9F3D3CE-6484-E61A-E124-E7B07BC52633}"/>
              </a:ext>
            </a:extLst>
          </p:cNvPr>
          <p:cNvGrpSpPr/>
          <p:nvPr/>
        </p:nvGrpSpPr>
        <p:grpSpPr>
          <a:xfrm>
            <a:off x="2563813" y="2264787"/>
            <a:ext cx="7064374" cy="523220"/>
            <a:chOff x="2563813" y="2142165"/>
            <a:chExt cx="7064374" cy="523220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06F446C-6377-79B7-C17E-636FD62517F4}"/>
                </a:ext>
              </a:extLst>
            </p:cNvPr>
            <p:cNvSpPr txBox="1"/>
            <p:nvPr/>
          </p:nvSpPr>
          <p:spPr>
            <a:xfrm>
              <a:off x="3302421" y="2142165"/>
              <a:ext cx="632576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rgbClr val="0D0D2F"/>
                  </a:solidFill>
                  <a:latin typeface="Lyft Pro UI" panose="02000503030000000000" pitchFamily="50" charset="0"/>
                </a:rPr>
                <a:t>Usage Profile</a:t>
              </a:r>
            </a:p>
          </p:txBody>
        </p:sp>
        <p:pic>
          <p:nvPicPr>
            <p:cNvPr id="2" name="Graphic 1" descr="Signal with solid fill">
              <a:extLst>
                <a:ext uri="{FF2B5EF4-FFF2-40B4-BE49-F238E27FC236}">
                  <a16:creationId xmlns:a16="http://schemas.microsoft.com/office/drawing/2014/main" id="{66D1F2D1-83F5-C4E5-BC72-5A39AF3625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563813" y="2147359"/>
              <a:ext cx="512832" cy="512832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EAD2588-9CF1-2058-4408-2E47E8E1CCC6}"/>
              </a:ext>
            </a:extLst>
          </p:cNvPr>
          <p:cNvGrpSpPr/>
          <p:nvPr/>
        </p:nvGrpSpPr>
        <p:grpSpPr>
          <a:xfrm>
            <a:off x="2563813" y="3295599"/>
            <a:ext cx="7064374" cy="523220"/>
            <a:chOff x="2563813" y="3050355"/>
            <a:chExt cx="7064374" cy="52322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30170D2-C74A-7C98-154F-6B726CFBF01D}"/>
                </a:ext>
              </a:extLst>
            </p:cNvPr>
            <p:cNvSpPr txBox="1"/>
            <p:nvPr/>
          </p:nvSpPr>
          <p:spPr>
            <a:xfrm>
              <a:off x="3302421" y="3050355"/>
              <a:ext cx="632576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2800" b="1">
                  <a:solidFill>
                    <a:srgbClr val="091F2F"/>
                  </a:solidFill>
                  <a:latin typeface="Montserrat" pitchFamily="2" charset="0"/>
                </a:defRPr>
              </a:lvl1pPr>
            </a:lstStyle>
            <a:p>
              <a:r>
                <a:rPr lang="en-US" dirty="0">
                  <a:solidFill>
                    <a:srgbClr val="0D0D2F"/>
                  </a:solidFill>
                  <a:latin typeface="Lyft Pro UI" panose="02000503030000000000" pitchFamily="50" charset="0"/>
                </a:rPr>
                <a:t>Weather Impact</a:t>
              </a:r>
            </a:p>
          </p:txBody>
        </p:sp>
        <p:pic>
          <p:nvPicPr>
            <p:cNvPr id="8" name="Graphic 7" descr="Partial sun with solid fill">
              <a:extLst>
                <a:ext uri="{FF2B5EF4-FFF2-40B4-BE49-F238E27FC236}">
                  <a16:creationId xmlns:a16="http://schemas.microsoft.com/office/drawing/2014/main" id="{F14F62D5-7A6A-B462-9360-91DD5B3332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563813" y="3055549"/>
              <a:ext cx="512832" cy="512832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72E8346-7ED2-14EE-4858-CFF496061639}"/>
              </a:ext>
            </a:extLst>
          </p:cNvPr>
          <p:cNvGrpSpPr/>
          <p:nvPr/>
        </p:nvGrpSpPr>
        <p:grpSpPr>
          <a:xfrm>
            <a:off x="2563813" y="4326411"/>
            <a:ext cx="7064374" cy="523220"/>
            <a:chOff x="2563813" y="3958545"/>
            <a:chExt cx="7064374" cy="523220"/>
          </a:xfrm>
        </p:grpSpPr>
        <p:pic>
          <p:nvPicPr>
            <p:cNvPr id="7" name="Graphic 6" descr="Streetcar with solid fill">
              <a:extLst>
                <a:ext uri="{FF2B5EF4-FFF2-40B4-BE49-F238E27FC236}">
                  <a16:creationId xmlns:a16="http://schemas.microsoft.com/office/drawing/2014/main" id="{E800EE73-C29C-4DA4-71D1-60A4C5846D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2563813" y="3963739"/>
              <a:ext cx="512832" cy="512832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D506090-BA98-7670-E308-186E233F66DE}"/>
                </a:ext>
              </a:extLst>
            </p:cNvPr>
            <p:cNvSpPr txBox="1"/>
            <p:nvPr/>
          </p:nvSpPr>
          <p:spPr>
            <a:xfrm>
              <a:off x="3302421" y="3958545"/>
              <a:ext cx="632576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2800" b="1">
                  <a:solidFill>
                    <a:srgbClr val="091F2F"/>
                  </a:solidFill>
                  <a:latin typeface="Montserrat" pitchFamily="2" charset="0"/>
                </a:defRPr>
              </a:lvl1pPr>
            </a:lstStyle>
            <a:p>
              <a:r>
                <a:rPr lang="en-US" dirty="0">
                  <a:solidFill>
                    <a:srgbClr val="0D0D2F"/>
                  </a:solidFill>
                  <a:latin typeface="Lyft Pro UI" panose="02000503030000000000" pitchFamily="50" charset="0"/>
                </a:rPr>
                <a:t>MBTA Integration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15857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3C894-D925-56E4-C4CE-A3F839DA2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2F839A3-F874-B874-191C-5E97BD4AE28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013265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17" imgH="416" progId="TCLayout.ActiveDocument.1">
                  <p:embed/>
                </p:oleObj>
              </mc:Choice>
              <mc:Fallback>
                <p:oleObj name="think-cell Slide" r:id="rId4" imgW="417" imgH="41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A313053-806D-C0B7-D55F-BF077F1A15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ED174DDA-ECB5-360D-70CC-E1A775405628}"/>
              </a:ext>
            </a:extLst>
          </p:cNvPr>
          <p:cNvGrpSpPr/>
          <p:nvPr/>
        </p:nvGrpSpPr>
        <p:grpSpPr>
          <a:xfrm>
            <a:off x="2563813" y="5357221"/>
            <a:ext cx="7064374" cy="523220"/>
            <a:chOff x="2563813" y="5774927"/>
            <a:chExt cx="7064374" cy="523220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0393D6B-E154-67B3-DC9E-3E9FD18BB9E5}"/>
                </a:ext>
              </a:extLst>
            </p:cNvPr>
            <p:cNvSpPr txBox="1"/>
            <p:nvPr/>
          </p:nvSpPr>
          <p:spPr>
            <a:xfrm>
              <a:off x="3302421" y="5774927"/>
              <a:ext cx="632576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2800" b="1">
                  <a:solidFill>
                    <a:srgbClr val="091F2F"/>
                  </a:solidFill>
                  <a:latin typeface="Montserrat" pitchFamily="2" charset="0"/>
                </a:defRPr>
              </a:lvl1pPr>
            </a:lstStyle>
            <a:p>
              <a:r>
                <a:rPr lang="en-US" dirty="0">
                  <a:solidFill>
                    <a:srgbClr val="0D0D2F"/>
                  </a:solidFill>
                  <a:latin typeface="Lyft Pro UI" panose="02000503030000000000" pitchFamily="50" charset="0"/>
                </a:rPr>
                <a:t>Conclusion</a:t>
              </a:r>
            </a:p>
          </p:txBody>
        </p:sp>
        <p:pic>
          <p:nvPicPr>
            <p:cNvPr id="6" name="Graphic 5" descr="Rewind with solid fill">
              <a:extLst>
                <a:ext uri="{FF2B5EF4-FFF2-40B4-BE49-F238E27FC236}">
                  <a16:creationId xmlns:a16="http://schemas.microsoft.com/office/drawing/2014/main" id="{5EB2B1F3-32DD-95A9-E1C2-F339815C714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flipH="1">
              <a:off x="2563813" y="5780121"/>
              <a:ext cx="512832" cy="512832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1FCEDA6-5F82-9563-D59A-32F486A84D94}"/>
              </a:ext>
            </a:extLst>
          </p:cNvPr>
          <p:cNvGrpSpPr/>
          <p:nvPr/>
        </p:nvGrpSpPr>
        <p:grpSpPr>
          <a:xfrm>
            <a:off x="2563813" y="2264787"/>
            <a:ext cx="7064374" cy="523220"/>
            <a:chOff x="2563813" y="2142165"/>
            <a:chExt cx="7064374" cy="523220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C671984-9C07-57BA-4F2C-CDBADEFDD345}"/>
                </a:ext>
              </a:extLst>
            </p:cNvPr>
            <p:cNvSpPr txBox="1"/>
            <p:nvPr/>
          </p:nvSpPr>
          <p:spPr>
            <a:xfrm>
              <a:off x="3302421" y="2142165"/>
              <a:ext cx="632576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rgbClr val="0D0D2F"/>
                  </a:solidFill>
                  <a:latin typeface="Lyft Pro UI" panose="02000503030000000000" pitchFamily="50" charset="0"/>
                </a:rPr>
                <a:t>Usage Profile</a:t>
              </a:r>
            </a:p>
          </p:txBody>
        </p:sp>
        <p:pic>
          <p:nvPicPr>
            <p:cNvPr id="2" name="Graphic 1" descr="Signal with solid fill">
              <a:extLst>
                <a:ext uri="{FF2B5EF4-FFF2-40B4-BE49-F238E27FC236}">
                  <a16:creationId xmlns:a16="http://schemas.microsoft.com/office/drawing/2014/main" id="{B1C7A765-7E19-13E2-79FC-23CC2D34DB8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563813" y="2147359"/>
              <a:ext cx="512832" cy="512832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74CF4A0-D0B6-E258-8F73-F7C2D438E113}"/>
              </a:ext>
            </a:extLst>
          </p:cNvPr>
          <p:cNvGrpSpPr/>
          <p:nvPr/>
        </p:nvGrpSpPr>
        <p:grpSpPr>
          <a:xfrm>
            <a:off x="2563813" y="3295599"/>
            <a:ext cx="7064374" cy="523220"/>
            <a:chOff x="2563813" y="3050355"/>
            <a:chExt cx="7064374" cy="52322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04F11B4-D1A9-C436-0CD8-131CA3D7FEB0}"/>
                </a:ext>
              </a:extLst>
            </p:cNvPr>
            <p:cNvSpPr txBox="1"/>
            <p:nvPr/>
          </p:nvSpPr>
          <p:spPr>
            <a:xfrm>
              <a:off x="3302421" y="3050355"/>
              <a:ext cx="632576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2800" b="1">
                  <a:solidFill>
                    <a:srgbClr val="091F2F"/>
                  </a:solidFill>
                  <a:latin typeface="Montserrat" pitchFamily="2" charset="0"/>
                </a:defRPr>
              </a:lvl1pPr>
            </a:lstStyle>
            <a:p>
              <a:r>
                <a:rPr lang="en-US" dirty="0">
                  <a:solidFill>
                    <a:srgbClr val="0D0D2F"/>
                  </a:solidFill>
                  <a:latin typeface="Lyft Pro UI" panose="02000503030000000000" pitchFamily="50" charset="0"/>
                </a:rPr>
                <a:t>Weather Impact</a:t>
              </a:r>
            </a:p>
          </p:txBody>
        </p:sp>
        <p:pic>
          <p:nvPicPr>
            <p:cNvPr id="8" name="Graphic 7" descr="Partial sun with solid fill">
              <a:extLst>
                <a:ext uri="{FF2B5EF4-FFF2-40B4-BE49-F238E27FC236}">
                  <a16:creationId xmlns:a16="http://schemas.microsoft.com/office/drawing/2014/main" id="{48C28E77-3654-A9D7-E69F-778BD51A0D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563813" y="3055549"/>
              <a:ext cx="512832" cy="512832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39EF8A1-29EC-0157-62ED-3DCF12F34A1A}"/>
              </a:ext>
            </a:extLst>
          </p:cNvPr>
          <p:cNvGrpSpPr/>
          <p:nvPr/>
        </p:nvGrpSpPr>
        <p:grpSpPr>
          <a:xfrm>
            <a:off x="2563813" y="4326411"/>
            <a:ext cx="7064374" cy="523220"/>
            <a:chOff x="2563813" y="3958545"/>
            <a:chExt cx="7064374" cy="523220"/>
          </a:xfrm>
        </p:grpSpPr>
        <p:pic>
          <p:nvPicPr>
            <p:cNvPr id="7" name="Graphic 6" descr="Streetcar with solid fill">
              <a:extLst>
                <a:ext uri="{FF2B5EF4-FFF2-40B4-BE49-F238E27FC236}">
                  <a16:creationId xmlns:a16="http://schemas.microsoft.com/office/drawing/2014/main" id="{399B6F3C-D22E-7F2B-DAB6-EC7A7B6CD5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563813" y="3963739"/>
              <a:ext cx="512832" cy="512832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516CB45-6A75-2C2C-BA72-1DEF930A4C9A}"/>
                </a:ext>
              </a:extLst>
            </p:cNvPr>
            <p:cNvSpPr txBox="1"/>
            <p:nvPr/>
          </p:nvSpPr>
          <p:spPr>
            <a:xfrm>
              <a:off x="3302421" y="3958545"/>
              <a:ext cx="632576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2800" b="1">
                  <a:solidFill>
                    <a:srgbClr val="091F2F"/>
                  </a:solidFill>
                  <a:latin typeface="Montserrat" pitchFamily="2" charset="0"/>
                </a:defRPr>
              </a:lvl1pPr>
            </a:lstStyle>
            <a:p>
              <a:r>
                <a:rPr lang="en-US" dirty="0">
                  <a:solidFill>
                    <a:srgbClr val="0D0D2F"/>
                  </a:solidFill>
                  <a:latin typeface="Lyft Pro UI" panose="02000503030000000000" pitchFamily="50" charset="0"/>
                </a:rPr>
                <a:t>MBTA Integration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649702CB-9C85-19C7-8754-92F3BBE71C7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80000"/>
                </a:schemeClr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06869A-0546-8641-9C86-44094ACC3643}"/>
              </a:ext>
            </a:extLst>
          </p:cNvPr>
          <p:cNvSpPr txBox="1"/>
          <p:nvPr/>
        </p:nvSpPr>
        <p:spPr>
          <a:xfrm>
            <a:off x="194678" y="171081"/>
            <a:ext cx="117810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D0D2F"/>
                </a:solidFill>
                <a:latin typeface="Lyft Pro UI" panose="02000503030000000000" pitchFamily="50" charset="0"/>
              </a:rPr>
              <a:t>Table of Contents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851CB7E-9CDC-6778-406D-C27ABF5E8B29}"/>
              </a:ext>
            </a:extLst>
          </p:cNvPr>
          <p:cNvGrpSpPr/>
          <p:nvPr/>
        </p:nvGrpSpPr>
        <p:grpSpPr>
          <a:xfrm>
            <a:off x="2563813" y="1233975"/>
            <a:ext cx="7064374" cy="523220"/>
            <a:chOff x="2563813" y="1233975"/>
            <a:chExt cx="7064374" cy="523220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E0B5F8E-C056-DD4A-1E22-C37669B8BF1B}"/>
                </a:ext>
              </a:extLst>
            </p:cNvPr>
            <p:cNvSpPr txBox="1"/>
            <p:nvPr/>
          </p:nvSpPr>
          <p:spPr>
            <a:xfrm>
              <a:off x="3302421" y="1233975"/>
              <a:ext cx="632576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2800" b="1">
                  <a:solidFill>
                    <a:srgbClr val="091F2F"/>
                  </a:solidFill>
                  <a:latin typeface="Montserrat" pitchFamily="2" charset="0"/>
                </a:defRPr>
              </a:lvl1pPr>
            </a:lstStyle>
            <a:p>
              <a:r>
                <a:rPr lang="en-US" dirty="0">
                  <a:solidFill>
                    <a:srgbClr val="0D0D2F"/>
                  </a:solidFill>
                  <a:latin typeface="Lyft Pro UI" panose="02000503030000000000" pitchFamily="50" charset="0"/>
                </a:rPr>
                <a:t>Problem Definition and Objectives</a:t>
              </a:r>
            </a:p>
          </p:txBody>
        </p:sp>
        <p:pic>
          <p:nvPicPr>
            <p:cNvPr id="26" name="Graphic 25" descr="Bullseye with solid fill">
              <a:extLst>
                <a:ext uri="{FF2B5EF4-FFF2-40B4-BE49-F238E27FC236}">
                  <a16:creationId xmlns:a16="http://schemas.microsoft.com/office/drawing/2014/main" id="{D0F7C87B-B423-F565-DE87-8669AB053EC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2563813" y="1239169"/>
              <a:ext cx="512832" cy="512832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B9B2F8-47C4-52C7-1959-B9D11E3C87C2}"/>
              </a:ext>
            </a:extLst>
          </p:cNvPr>
          <p:cNvGrpSpPr>
            <a:grpSpLocks noChangeAspect="1"/>
          </p:cNvGrpSpPr>
          <p:nvPr/>
        </p:nvGrpSpPr>
        <p:grpSpPr>
          <a:xfrm>
            <a:off x="11523824" y="6371722"/>
            <a:ext cx="494499" cy="334378"/>
            <a:chOff x="7857722" y="318591"/>
            <a:chExt cx="2080112" cy="1406566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8B05217F-A7F2-A23E-E8EE-4DF5B940FF97}"/>
                </a:ext>
              </a:extLst>
            </p:cNvPr>
            <p:cNvGrpSpPr/>
            <p:nvPr userDrawn="1"/>
          </p:nvGrpSpPr>
          <p:grpSpPr>
            <a:xfrm>
              <a:off x="7857724" y="318591"/>
              <a:ext cx="2080110" cy="584948"/>
              <a:chOff x="7857724" y="318591"/>
              <a:chExt cx="2080110" cy="584948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7EA07CD4-886D-C769-CD93-E9E4EE2B454D}"/>
                  </a:ext>
                </a:extLst>
              </p:cNvPr>
              <p:cNvSpPr/>
              <p:nvPr/>
            </p:nvSpPr>
            <p:spPr>
              <a:xfrm>
                <a:off x="7857724" y="318591"/>
                <a:ext cx="1528161" cy="584948"/>
              </a:xfrm>
              <a:custGeom>
                <a:avLst/>
                <a:gdLst>
                  <a:gd name="connsiteX0" fmla="*/ 152967 w 1528161"/>
                  <a:gd name="connsiteY0" fmla="*/ 453381 h 584948"/>
                  <a:gd name="connsiteX1" fmla="*/ 275518 w 1528161"/>
                  <a:gd name="connsiteY1" fmla="*/ 453381 h 584948"/>
                  <a:gd name="connsiteX2" fmla="*/ 357751 w 1528161"/>
                  <a:gd name="connsiteY2" fmla="*/ 389181 h 584948"/>
                  <a:gd name="connsiteX3" fmla="*/ 275518 w 1528161"/>
                  <a:gd name="connsiteY3" fmla="*/ 321813 h 584948"/>
                  <a:gd name="connsiteX4" fmla="*/ 152967 w 1528161"/>
                  <a:gd name="connsiteY4" fmla="*/ 321813 h 584948"/>
                  <a:gd name="connsiteX5" fmla="*/ 152967 w 1528161"/>
                  <a:gd name="connsiteY5" fmla="*/ 225513 h 584948"/>
                  <a:gd name="connsiteX6" fmla="*/ 271381 w 1528161"/>
                  <a:gd name="connsiteY6" fmla="*/ 225513 h 584948"/>
                  <a:gd name="connsiteX7" fmla="*/ 333926 w 1528161"/>
                  <a:gd name="connsiteY7" fmla="*/ 170957 h 584948"/>
                  <a:gd name="connsiteX8" fmla="*/ 271409 w 1528161"/>
                  <a:gd name="connsiteY8" fmla="*/ 115603 h 584948"/>
                  <a:gd name="connsiteX9" fmla="*/ 152996 w 1528161"/>
                  <a:gd name="connsiteY9" fmla="*/ 115603 h 584948"/>
                  <a:gd name="connsiteX10" fmla="*/ 0 w 1528161"/>
                  <a:gd name="connsiteY10" fmla="*/ 71 h 584948"/>
                  <a:gd name="connsiteX11" fmla="*/ 274691 w 1528161"/>
                  <a:gd name="connsiteY11" fmla="*/ 71 h 584948"/>
                  <a:gd name="connsiteX12" fmla="*/ 486865 w 1528161"/>
                  <a:gd name="connsiteY12" fmla="*/ 143679 h 584948"/>
                  <a:gd name="connsiteX13" fmla="*/ 409568 w 1528161"/>
                  <a:gd name="connsiteY13" fmla="*/ 259240 h 584948"/>
                  <a:gd name="connsiteX14" fmla="*/ 510747 w 1528161"/>
                  <a:gd name="connsiteY14" fmla="*/ 394802 h 584948"/>
                  <a:gd name="connsiteX15" fmla="*/ 282081 w 1528161"/>
                  <a:gd name="connsiteY15" fmla="*/ 572936 h 584948"/>
                  <a:gd name="connsiteX16" fmla="*/ 0 w 1528161"/>
                  <a:gd name="connsiteY16" fmla="*/ 572936 h 584948"/>
                  <a:gd name="connsiteX17" fmla="*/ 564904 w 1528161"/>
                  <a:gd name="connsiteY17" fmla="*/ 42 h 584948"/>
                  <a:gd name="connsiteX18" fmla="*/ 717899 w 1528161"/>
                  <a:gd name="connsiteY18" fmla="*/ 42 h 584948"/>
                  <a:gd name="connsiteX19" fmla="*/ 717899 w 1528161"/>
                  <a:gd name="connsiteY19" fmla="*/ 444535 h 584948"/>
                  <a:gd name="connsiteX20" fmla="*/ 991763 w 1528161"/>
                  <a:gd name="connsiteY20" fmla="*/ 444535 h 584948"/>
                  <a:gd name="connsiteX21" fmla="*/ 991763 w 1528161"/>
                  <a:gd name="connsiteY21" fmla="*/ 572936 h 584948"/>
                  <a:gd name="connsiteX22" fmla="*/ 564904 w 1528161"/>
                  <a:gd name="connsiteY22" fmla="*/ 572936 h 584948"/>
                  <a:gd name="connsiteX23" fmla="*/ 1528161 w 1528161"/>
                  <a:gd name="connsiteY23" fmla="*/ 336223 h 584948"/>
                  <a:gd name="connsiteX24" fmla="*/ 1272360 w 1528161"/>
                  <a:gd name="connsiteY24" fmla="*/ 584948 h 584948"/>
                  <a:gd name="connsiteX25" fmla="*/ 1016587 w 1528161"/>
                  <a:gd name="connsiteY25" fmla="*/ 336223 h 584948"/>
                  <a:gd name="connsiteX26" fmla="*/ 1016587 w 1528161"/>
                  <a:gd name="connsiteY26" fmla="*/ 42 h 584948"/>
                  <a:gd name="connsiteX27" fmla="*/ 1169583 w 1528161"/>
                  <a:gd name="connsiteY27" fmla="*/ 42 h 584948"/>
                  <a:gd name="connsiteX28" fmla="*/ 1169583 w 1528161"/>
                  <a:gd name="connsiteY28" fmla="*/ 345068 h 584948"/>
                  <a:gd name="connsiteX29" fmla="*/ 1272360 w 1528161"/>
                  <a:gd name="connsiteY29" fmla="*/ 456576 h 584948"/>
                  <a:gd name="connsiteX30" fmla="*/ 1375194 w 1528161"/>
                  <a:gd name="connsiteY30" fmla="*/ 345068 h 584948"/>
                  <a:gd name="connsiteX31" fmla="*/ 1375194 w 1528161"/>
                  <a:gd name="connsiteY31" fmla="*/ 14 h 584948"/>
                  <a:gd name="connsiteX32" fmla="*/ 1528161 w 1528161"/>
                  <a:gd name="connsiteY32" fmla="*/ 14 h 5849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28161" h="584948">
                    <a:moveTo>
                      <a:pt x="152967" y="453381"/>
                    </a:moveTo>
                    <a:lnTo>
                      <a:pt x="275518" y="453381"/>
                    </a:lnTo>
                    <a:cubicBezTo>
                      <a:pt x="324025" y="453381"/>
                      <a:pt x="357751" y="436546"/>
                      <a:pt x="357751" y="389181"/>
                    </a:cubicBezTo>
                    <a:cubicBezTo>
                      <a:pt x="357751" y="338677"/>
                      <a:pt x="321571" y="321813"/>
                      <a:pt x="275518" y="321813"/>
                    </a:cubicBezTo>
                    <a:lnTo>
                      <a:pt x="152967" y="321813"/>
                    </a:lnTo>
                    <a:close/>
                    <a:moveTo>
                      <a:pt x="152967" y="225513"/>
                    </a:moveTo>
                    <a:lnTo>
                      <a:pt x="271381" y="225513"/>
                    </a:lnTo>
                    <a:cubicBezTo>
                      <a:pt x="297717" y="225513"/>
                      <a:pt x="333926" y="211874"/>
                      <a:pt x="333926" y="170957"/>
                    </a:cubicBezTo>
                    <a:cubicBezTo>
                      <a:pt x="333926" y="129242"/>
                      <a:pt x="303481" y="115603"/>
                      <a:pt x="271409" y="115603"/>
                    </a:cubicBezTo>
                    <a:lnTo>
                      <a:pt x="152996" y="115603"/>
                    </a:lnTo>
                    <a:close/>
                    <a:moveTo>
                      <a:pt x="0" y="71"/>
                    </a:moveTo>
                    <a:lnTo>
                      <a:pt x="274691" y="71"/>
                    </a:lnTo>
                    <a:cubicBezTo>
                      <a:pt x="375870" y="-1555"/>
                      <a:pt x="486865" y="24125"/>
                      <a:pt x="486865" y="143679"/>
                    </a:cubicBezTo>
                    <a:cubicBezTo>
                      <a:pt x="486865" y="195040"/>
                      <a:pt x="455621" y="236755"/>
                      <a:pt x="409568" y="259240"/>
                    </a:cubicBezTo>
                    <a:cubicBezTo>
                      <a:pt x="472085" y="276845"/>
                      <a:pt x="510747" y="329831"/>
                      <a:pt x="510747" y="394802"/>
                    </a:cubicBezTo>
                    <a:cubicBezTo>
                      <a:pt x="510747" y="531191"/>
                      <a:pt x="407942" y="572936"/>
                      <a:pt x="282081" y="572936"/>
                    </a:cubicBezTo>
                    <a:lnTo>
                      <a:pt x="0" y="572936"/>
                    </a:lnTo>
                    <a:close/>
                    <a:moveTo>
                      <a:pt x="564904" y="42"/>
                    </a:moveTo>
                    <a:lnTo>
                      <a:pt x="717899" y="42"/>
                    </a:lnTo>
                    <a:lnTo>
                      <a:pt x="717899" y="444535"/>
                    </a:lnTo>
                    <a:lnTo>
                      <a:pt x="991763" y="444535"/>
                    </a:lnTo>
                    <a:lnTo>
                      <a:pt x="991763" y="572936"/>
                    </a:lnTo>
                    <a:lnTo>
                      <a:pt x="564904" y="572936"/>
                    </a:lnTo>
                    <a:close/>
                    <a:moveTo>
                      <a:pt x="1528161" y="336223"/>
                    </a:moveTo>
                    <a:cubicBezTo>
                      <a:pt x="1528161" y="502315"/>
                      <a:pt x="1450009" y="584948"/>
                      <a:pt x="1272360" y="584948"/>
                    </a:cubicBezTo>
                    <a:cubicBezTo>
                      <a:pt x="1094711" y="584948"/>
                      <a:pt x="1016587" y="502315"/>
                      <a:pt x="1016587" y="336223"/>
                    </a:cubicBezTo>
                    <a:lnTo>
                      <a:pt x="1016587" y="42"/>
                    </a:lnTo>
                    <a:lnTo>
                      <a:pt x="1169583" y="42"/>
                    </a:lnTo>
                    <a:lnTo>
                      <a:pt x="1169583" y="345068"/>
                    </a:lnTo>
                    <a:cubicBezTo>
                      <a:pt x="1169583" y="418855"/>
                      <a:pt x="1197545" y="456576"/>
                      <a:pt x="1272360" y="456576"/>
                    </a:cubicBezTo>
                    <a:cubicBezTo>
                      <a:pt x="1347203" y="456576"/>
                      <a:pt x="1375194" y="418855"/>
                      <a:pt x="1375194" y="345068"/>
                    </a:cubicBezTo>
                    <a:lnTo>
                      <a:pt x="1375194" y="14"/>
                    </a:lnTo>
                    <a:lnTo>
                      <a:pt x="1528161" y="14"/>
                    </a:lnTo>
                    <a:close/>
                  </a:path>
                </a:pathLst>
              </a:custGeom>
              <a:solidFill>
                <a:srgbClr val="2CA3E1"/>
              </a:solidFill>
              <a:ln w="285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C3253B7A-5433-7BCC-0146-6395D9C9012B}"/>
                  </a:ext>
                </a:extLst>
              </p:cNvPr>
              <p:cNvSpPr/>
              <p:nvPr/>
            </p:nvSpPr>
            <p:spPr>
              <a:xfrm>
                <a:off x="9461613" y="318634"/>
                <a:ext cx="476221" cy="572893"/>
              </a:xfrm>
              <a:custGeom>
                <a:avLst/>
                <a:gdLst>
                  <a:gd name="connsiteX0" fmla="*/ 0 w 476221"/>
                  <a:gd name="connsiteY0" fmla="*/ 0 h 572893"/>
                  <a:gd name="connsiteX1" fmla="*/ 467976 w 476221"/>
                  <a:gd name="connsiteY1" fmla="*/ 0 h 572893"/>
                  <a:gd name="connsiteX2" fmla="*/ 467976 w 476221"/>
                  <a:gd name="connsiteY2" fmla="*/ 119555 h 572893"/>
                  <a:gd name="connsiteX3" fmla="*/ 152967 w 476221"/>
                  <a:gd name="connsiteY3" fmla="*/ 119555 h 572893"/>
                  <a:gd name="connsiteX4" fmla="*/ 152967 w 476221"/>
                  <a:gd name="connsiteY4" fmla="*/ 219850 h 572893"/>
                  <a:gd name="connsiteX5" fmla="*/ 440869 w 476221"/>
                  <a:gd name="connsiteY5" fmla="*/ 219850 h 572893"/>
                  <a:gd name="connsiteX6" fmla="*/ 440869 w 476221"/>
                  <a:gd name="connsiteY6" fmla="*/ 335410 h 572893"/>
                  <a:gd name="connsiteX7" fmla="*/ 152967 w 476221"/>
                  <a:gd name="connsiteY7" fmla="*/ 335410 h 572893"/>
                  <a:gd name="connsiteX8" fmla="*/ 152967 w 476221"/>
                  <a:gd name="connsiteY8" fmla="*/ 444493 h 572893"/>
                  <a:gd name="connsiteX9" fmla="*/ 476222 w 476221"/>
                  <a:gd name="connsiteY9" fmla="*/ 444493 h 572893"/>
                  <a:gd name="connsiteX10" fmla="*/ 476222 w 476221"/>
                  <a:gd name="connsiteY10" fmla="*/ 572893 h 572893"/>
                  <a:gd name="connsiteX11" fmla="*/ 0 w 476221"/>
                  <a:gd name="connsiteY11" fmla="*/ 572893 h 5728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76221" h="572893">
                    <a:moveTo>
                      <a:pt x="0" y="0"/>
                    </a:moveTo>
                    <a:lnTo>
                      <a:pt x="467976" y="0"/>
                    </a:lnTo>
                    <a:lnTo>
                      <a:pt x="467976" y="119555"/>
                    </a:lnTo>
                    <a:lnTo>
                      <a:pt x="152967" y="119555"/>
                    </a:lnTo>
                    <a:lnTo>
                      <a:pt x="152967" y="219850"/>
                    </a:lnTo>
                    <a:lnTo>
                      <a:pt x="440869" y="219850"/>
                    </a:lnTo>
                    <a:lnTo>
                      <a:pt x="440869" y="335410"/>
                    </a:lnTo>
                    <a:lnTo>
                      <a:pt x="152967" y="335410"/>
                    </a:lnTo>
                    <a:lnTo>
                      <a:pt x="152967" y="444493"/>
                    </a:lnTo>
                    <a:lnTo>
                      <a:pt x="476222" y="444493"/>
                    </a:lnTo>
                    <a:lnTo>
                      <a:pt x="476222" y="572893"/>
                    </a:lnTo>
                    <a:lnTo>
                      <a:pt x="0" y="572893"/>
                    </a:lnTo>
                    <a:close/>
                  </a:path>
                </a:pathLst>
              </a:custGeom>
              <a:solidFill>
                <a:srgbClr val="2CA3E1"/>
              </a:solidFill>
              <a:ln w="285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723774F-D783-6D65-28D6-583091FCAAE2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7857722" y="1038476"/>
              <a:ext cx="2080110" cy="686681"/>
              <a:chOff x="10011822" y="312071"/>
              <a:chExt cx="1789355" cy="590698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421B493-B8BD-B9A2-F139-E028BEF1B4D8}"/>
                  </a:ext>
                </a:extLst>
              </p:cNvPr>
              <p:cNvSpPr/>
              <p:nvPr userDrawn="1"/>
            </p:nvSpPr>
            <p:spPr>
              <a:xfrm>
                <a:off x="10011822" y="318605"/>
                <a:ext cx="1020238" cy="584106"/>
              </a:xfrm>
              <a:custGeom>
                <a:avLst/>
                <a:gdLst>
                  <a:gd name="connsiteX0" fmla="*/ 209720 w 1020238"/>
                  <a:gd name="connsiteY0" fmla="*/ 219108 h 584106"/>
                  <a:gd name="connsiteX1" fmla="*/ 90479 w 1020238"/>
                  <a:gd name="connsiteY1" fmla="*/ 365912 h 584106"/>
                  <a:gd name="connsiteX2" fmla="*/ 209749 w 1020238"/>
                  <a:gd name="connsiteY2" fmla="*/ 511917 h 584106"/>
                  <a:gd name="connsiteX3" fmla="*/ 327363 w 1020238"/>
                  <a:gd name="connsiteY3" fmla="*/ 365912 h 584106"/>
                  <a:gd name="connsiteX4" fmla="*/ 209720 w 1020238"/>
                  <a:gd name="connsiteY4" fmla="*/ 219079 h 584106"/>
                  <a:gd name="connsiteX5" fmla="*/ 0 w 1020238"/>
                  <a:gd name="connsiteY5" fmla="*/ 0 h 584106"/>
                  <a:gd name="connsiteX6" fmla="*/ 93761 w 1020238"/>
                  <a:gd name="connsiteY6" fmla="*/ 0 h 584106"/>
                  <a:gd name="connsiteX7" fmla="*/ 93761 w 1020238"/>
                  <a:gd name="connsiteY7" fmla="*/ 211832 h 584106"/>
                  <a:gd name="connsiteX8" fmla="*/ 95415 w 1020238"/>
                  <a:gd name="connsiteY8" fmla="*/ 211832 h 584106"/>
                  <a:gd name="connsiteX9" fmla="*/ 222075 w 1020238"/>
                  <a:gd name="connsiteY9" fmla="*/ 146833 h 584106"/>
                  <a:gd name="connsiteX10" fmla="*/ 421095 w 1020238"/>
                  <a:gd name="connsiteY10" fmla="*/ 367481 h 584106"/>
                  <a:gd name="connsiteX11" fmla="*/ 237683 w 1020238"/>
                  <a:gd name="connsiteY11" fmla="*/ 584107 h 584106"/>
                  <a:gd name="connsiteX12" fmla="*/ 90451 w 1020238"/>
                  <a:gd name="connsiteY12" fmla="*/ 515912 h 584106"/>
                  <a:gd name="connsiteX13" fmla="*/ 88824 w 1020238"/>
                  <a:gd name="connsiteY13" fmla="*/ 515912 h 584106"/>
                  <a:gd name="connsiteX14" fmla="*/ 88824 w 1020238"/>
                  <a:gd name="connsiteY14" fmla="*/ 572865 h 584106"/>
                  <a:gd name="connsiteX15" fmla="*/ 29 w 1020238"/>
                  <a:gd name="connsiteY15" fmla="*/ 572865 h 584106"/>
                  <a:gd name="connsiteX16" fmla="*/ 467148 w 1020238"/>
                  <a:gd name="connsiteY16" fmla="*/ 572922 h 584106"/>
                  <a:gd name="connsiteX17" fmla="*/ 560909 w 1020238"/>
                  <a:gd name="connsiteY17" fmla="*/ 572922 h 584106"/>
                  <a:gd name="connsiteX18" fmla="*/ 560909 w 1020238"/>
                  <a:gd name="connsiteY18" fmla="*/ 158075 h 584106"/>
                  <a:gd name="connsiteX19" fmla="*/ 467148 w 1020238"/>
                  <a:gd name="connsiteY19" fmla="*/ 158075 h 584106"/>
                  <a:gd name="connsiteX20" fmla="*/ 626307 w 1020238"/>
                  <a:gd name="connsiteY20" fmla="*/ 29 h 584106"/>
                  <a:gd name="connsiteX21" fmla="*/ 720039 w 1020238"/>
                  <a:gd name="connsiteY21" fmla="*/ 29 h 584106"/>
                  <a:gd name="connsiteX22" fmla="*/ 720039 w 1020238"/>
                  <a:gd name="connsiteY22" fmla="*/ 325823 h 584106"/>
                  <a:gd name="connsiteX23" fmla="*/ 889470 w 1020238"/>
                  <a:gd name="connsiteY23" fmla="*/ 158132 h 584106"/>
                  <a:gd name="connsiteX24" fmla="*/ 1004603 w 1020238"/>
                  <a:gd name="connsiteY24" fmla="*/ 158132 h 584106"/>
                  <a:gd name="connsiteX25" fmla="*/ 841763 w 1020238"/>
                  <a:gd name="connsiteY25" fmla="*/ 310586 h 584106"/>
                  <a:gd name="connsiteX26" fmla="*/ 1020239 w 1020238"/>
                  <a:gd name="connsiteY26" fmla="*/ 572950 h 584106"/>
                  <a:gd name="connsiteX27" fmla="*/ 905934 w 1020238"/>
                  <a:gd name="connsiteY27" fmla="*/ 572950 h 584106"/>
                  <a:gd name="connsiteX28" fmla="*/ 775993 w 1020238"/>
                  <a:gd name="connsiteY28" fmla="*/ 371562 h 584106"/>
                  <a:gd name="connsiteX29" fmla="*/ 720039 w 1020238"/>
                  <a:gd name="connsiteY29" fmla="*/ 424491 h 584106"/>
                  <a:gd name="connsiteX30" fmla="*/ 720039 w 1020238"/>
                  <a:gd name="connsiteY30" fmla="*/ 572950 h 584106"/>
                  <a:gd name="connsiteX31" fmla="*/ 626279 w 1020238"/>
                  <a:gd name="connsiteY31" fmla="*/ 572950 h 5841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020238" h="584106">
                    <a:moveTo>
                      <a:pt x="209720" y="219108"/>
                    </a:moveTo>
                    <a:cubicBezTo>
                      <a:pt x="130797" y="219108"/>
                      <a:pt x="90479" y="277658"/>
                      <a:pt x="90479" y="365912"/>
                    </a:cubicBezTo>
                    <a:cubicBezTo>
                      <a:pt x="90479" y="449344"/>
                      <a:pt x="134078" y="511917"/>
                      <a:pt x="209749" y="511917"/>
                    </a:cubicBezTo>
                    <a:cubicBezTo>
                      <a:pt x="295263" y="511917"/>
                      <a:pt x="327363" y="438101"/>
                      <a:pt x="327363" y="365912"/>
                    </a:cubicBezTo>
                    <a:cubicBezTo>
                      <a:pt x="327363" y="290498"/>
                      <a:pt x="287046" y="219079"/>
                      <a:pt x="209720" y="219079"/>
                    </a:cubicBezTo>
                    <a:moveTo>
                      <a:pt x="0" y="0"/>
                    </a:moveTo>
                    <a:lnTo>
                      <a:pt x="93761" y="0"/>
                    </a:lnTo>
                    <a:lnTo>
                      <a:pt x="93761" y="211832"/>
                    </a:lnTo>
                    <a:lnTo>
                      <a:pt x="95415" y="211832"/>
                    </a:lnTo>
                    <a:cubicBezTo>
                      <a:pt x="120924" y="171714"/>
                      <a:pt x="174396" y="146833"/>
                      <a:pt x="222075" y="146833"/>
                    </a:cubicBezTo>
                    <a:cubicBezTo>
                      <a:pt x="356125" y="146833"/>
                      <a:pt x="421095" y="246329"/>
                      <a:pt x="421095" y="367481"/>
                    </a:cubicBezTo>
                    <a:cubicBezTo>
                      <a:pt x="421095" y="478990"/>
                      <a:pt x="363544" y="584107"/>
                      <a:pt x="237683" y="584107"/>
                    </a:cubicBezTo>
                    <a:cubicBezTo>
                      <a:pt x="180131" y="584107"/>
                      <a:pt x="118442" y="570468"/>
                      <a:pt x="90451" y="515912"/>
                    </a:cubicBezTo>
                    <a:lnTo>
                      <a:pt x="88824" y="515912"/>
                    </a:lnTo>
                    <a:lnTo>
                      <a:pt x="88824" y="572865"/>
                    </a:lnTo>
                    <a:lnTo>
                      <a:pt x="29" y="572865"/>
                    </a:lnTo>
                    <a:close/>
                    <a:moveTo>
                      <a:pt x="467148" y="572922"/>
                    </a:moveTo>
                    <a:lnTo>
                      <a:pt x="560909" y="572922"/>
                    </a:lnTo>
                    <a:lnTo>
                      <a:pt x="560909" y="158075"/>
                    </a:lnTo>
                    <a:lnTo>
                      <a:pt x="467148" y="158075"/>
                    </a:lnTo>
                    <a:close/>
                    <a:moveTo>
                      <a:pt x="626307" y="29"/>
                    </a:moveTo>
                    <a:lnTo>
                      <a:pt x="720039" y="29"/>
                    </a:lnTo>
                    <a:lnTo>
                      <a:pt x="720039" y="325823"/>
                    </a:lnTo>
                    <a:lnTo>
                      <a:pt x="889470" y="158132"/>
                    </a:lnTo>
                    <a:lnTo>
                      <a:pt x="1004603" y="158132"/>
                    </a:lnTo>
                    <a:lnTo>
                      <a:pt x="841763" y="310586"/>
                    </a:lnTo>
                    <a:lnTo>
                      <a:pt x="1020239" y="572950"/>
                    </a:lnTo>
                    <a:lnTo>
                      <a:pt x="905934" y="572950"/>
                    </a:lnTo>
                    <a:lnTo>
                      <a:pt x="775993" y="371562"/>
                    </a:lnTo>
                    <a:lnTo>
                      <a:pt x="720039" y="424491"/>
                    </a:lnTo>
                    <a:lnTo>
                      <a:pt x="720039" y="572950"/>
                    </a:lnTo>
                    <a:lnTo>
                      <a:pt x="626279" y="572950"/>
                    </a:lnTo>
                    <a:close/>
                  </a:path>
                </a:pathLst>
              </a:custGeom>
              <a:solidFill>
                <a:srgbClr val="0090DA"/>
              </a:solidFill>
              <a:ln w="285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80DE891-1A4A-3B26-407C-AE07DB1CFDBC}"/>
                  </a:ext>
                </a:extLst>
              </p:cNvPr>
              <p:cNvSpPr/>
              <p:nvPr/>
            </p:nvSpPr>
            <p:spPr>
              <a:xfrm>
                <a:off x="11000788" y="464411"/>
                <a:ext cx="800389" cy="438358"/>
              </a:xfrm>
              <a:custGeom>
                <a:avLst/>
                <a:gdLst>
                  <a:gd name="connsiteX0" fmla="*/ 312555 w 800389"/>
                  <a:gd name="connsiteY0" fmla="*/ 183184 h 438358"/>
                  <a:gd name="connsiteX1" fmla="*/ 205611 w 800389"/>
                  <a:gd name="connsiteY1" fmla="*/ 73274 h 438358"/>
                  <a:gd name="connsiteX2" fmla="*/ 93761 w 800389"/>
                  <a:gd name="connsiteY2" fmla="*/ 183184 h 438358"/>
                  <a:gd name="connsiteX3" fmla="*/ 93761 w 800389"/>
                  <a:gd name="connsiteY3" fmla="*/ 243390 h 438358"/>
                  <a:gd name="connsiteX4" fmla="*/ 208094 w 800389"/>
                  <a:gd name="connsiteY4" fmla="*/ 366112 h 438358"/>
                  <a:gd name="connsiteX5" fmla="*/ 311727 w 800389"/>
                  <a:gd name="connsiteY5" fmla="*/ 297118 h 438358"/>
                  <a:gd name="connsiteX6" fmla="*/ 400551 w 800389"/>
                  <a:gd name="connsiteY6" fmla="*/ 297118 h 438358"/>
                  <a:gd name="connsiteX7" fmla="*/ 208094 w 800389"/>
                  <a:gd name="connsiteY7" fmla="*/ 438358 h 438358"/>
                  <a:gd name="connsiteX8" fmla="*/ 0 w 800389"/>
                  <a:gd name="connsiteY8" fmla="*/ 220106 h 438358"/>
                  <a:gd name="connsiteX9" fmla="*/ 205611 w 800389"/>
                  <a:gd name="connsiteY9" fmla="*/ 1084 h 438358"/>
                  <a:gd name="connsiteX10" fmla="*/ 406287 w 800389"/>
                  <a:gd name="connsiteY10" fmla="*/ 243390 h 438358"/>
                  <a:gd name="connsiteX11" fmla="*/ 515826 w 800389"/>
                  <a:gd name="connsiteY11" fmla="*/ 292867 h 438358"/>
                  <a:gd name="connsiteX12" fmla="*/ 612012 w 800389"/>
                  <a:gd name="connsiteY12" fmla="*/ 365056 h 438358"/>
                  <a:gd name="connsiteX13" fmla="*/ 706629 w 800389"/>
                  <a:gd name="connsiteY13" fmla="*/ 310500 h 438358"/>
                  <a:gd name="connsiteX14" fmla="*/ 567643 w 800389"/>
                  <a:gd name="connsiteY14" fmla="*/ 241507 h 438358"/>
                  <a:gd name="connsiteX15" fmla="*/ 431111 w 800389"/>
                  <a:gd name="connsiteY15" fmla="*/ 118756 h 438358"/>
                  <a:gd name="connsiteX16" fmla="*/ 608760 w 800389"/>
                  <a:gd name="connsiteY16" fmla="*/ 0 h 438358"/>
                  <a:gd name="connsiteX17" fmla="*/ 786408 w 800389"/>
                  <a:gd name="connsiteY17" fmla="*/ 127573 h 438358"/>
                  <a:gd name="connsiteX18" fmla="*/ 688539 w 800389"/>
                  <a:gd name="connsiteY18" fmla="*/ 127573 h 438358"/>
                  <a:gd name="connsiteX19" fmla="*/ 602168 w 800389"/>
                  <a:gd name="connsiteY19" fmla="*/ 72218 h 438358"/>
                  <a:gd name="connsiteX20" fmla="*/ 524871 w 800389"/>
                  <a:gd name="connsiteY20" fmla="*/ 114733 h 438358"/>
                  <a:gd name="connsiteX21" fmla="*/ 663030 w 800389"/>
                  <a:gd name="connsiteY21" fmla="*/ 181330 h 438358"/>
                  <a:gd name="connsiteX22" fmla="*/ 800389 w 800389"/>
                  <a:gd name="connsiteY22" fmla="*/ 302482 h 438358"/>
                  <a:gd name="connsiteX23" fmla="*/ 610386 w 800389"/>
                  <a:gd name="connsiteY23" fmla="*/ 437274 h 438358"/>
                  <a:gd name="connsiteX24" fmla="*/ 422066 w 800389"/>
                  <a:gd name="connsiteY24" fmla="*/ 292867 h 4383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800389" h="438358">
                    <a:moveTo>
                      <a:pt x="312555" y="183184"/>
                    </a:moveTo>
                    <a:cubicBezTo>
                      <a:pt x="309245" y="125433"/>
                      <a:pt x="268956" y="73274"/>
                      <a:pt x="205611" y="73274"/>
                    </a:cubicBezTo>
                    <a:cubicBezTo>
                      <a:pt x="140641" y="73274"/>
                      <a:pt x="96215" y="121410"/>
                      <a:pt x="93761" y="183184"/>
                    </a:cubicBezTo>
                    <a:close/>
                    <a:moveTo>
                      <a:pt x="93761" y="243390"/>
                    </a:moveTo>
                    <a:cubicBezTo>
                      <a:pt x="93761" y="308360"/>
                      <a:pt x="129941" y="366112"/>
                      <a:pt x="208094" y="366112"/>
                    </a:cubicBezTo>
                    <a:cubicBezTo>
                      <a:pt x="262364" y="366112"/>
                      <a:pt x="295263" y="342857"/>
                      <a:pt x="311727" y="297118"/>
                    </a:cubicBezTo>
                    <a:lnTo>
                      <a:pt x="400551" y="297118"/>
                    </a:lnTo>
                    <a:cubicBezTo>
                      <a:pt x="379979" y="387797"/>
                      <a:pt x="301027" y="438358"/>
                      <a:pt x="208094" y="438358"/>
                    </a:cubicBezTo>
                    <a:cubicBezTo>
                      <a:pt x="74843" y="438358"/>
                      <a:pt x="0" y="347679"/>
                      <a:pt x="0" y="220106"/>
                    </a:cubicBezTo>
                    <a:cubicBezTo>
                      <a:pt x="0" y="102178"/>
                      <a:pt x="78952" y="1084"/>
                      <a:pt x="205611" y="1084"/>
                    </a:cubicBezTo>
                    <a:cubicBezTo>
                      <a:pt x="339690" y="1084"/>
                      <a:pt x="421923" y="119013"/>
                      <a:pt x="406287" y="243390"/>
                    </a:cubicBezTo>
                    <a:close/>
                    <a:moveTo>
                      <a:pt x="515826" y="292867"/>
                    </a:moveTo>
                    <a:cubicBezTo>
                      <a:pt x="520734" y="345796"/>
                      <a:pt x="561850" y="365056"/>
                      <a:pt x="612012" y="365056"/>
                    </a:cubicBezTo>
                    <a:cubicBezTo>
                      <a:pt x="647393" y="365056"/>
                      <a:pt x="709083" y="357837"/>
                      <a:pt x="706629" y="310500"/>
                    </a:cubicBezTo>
                    <a:cubicBezTo>
                      <a:pt x="704146" y="262364"/>
                      <a:pt x="635894" y="256743"/>
                      <a:pt x="567643" y="241507"/>
                    </a:cubicBezTo>
                    <a:cubicBezTo>
                      <a:pt x="498535" y="227040"/>
                      <a:pt x="431111" y="202986"/>
                      <a:pt x="431111" y="118756"/>
                    </a:cubicBezTo>
                    <a:cubicBezTo>
                      <a:pt x="431111" y="28105"/>
                      <a:pt x="531434" y="0"/>
                      <a:pt x="608760" y="0"/>
                    </a:cubicBezTo>
                    <a:cubicBezTo>
                      <a:pt x="695929" y="0"/>
                      <a:pt x="774881" y="35296"/>
                      <a:pt x="786408" y="127573"/>
                    </a:cubicBezTo>
                    <a:lnTo>
                      <a:pt x="688539" y="127573"/>
                    </a:lnTo>
                    <a:cubicBezTo>
                      <a:pt x="680292" y="84259"/>
                      <a:pt x="643285" y="72218"/>
                      <a:pt x="602168" y="72218"/>
                    </a:cubicBezTo>
                    <a:cubicBezTo>
                      <a:pt x="575033" y="72218"/>
                      <a:pt x="524871" y="78638"/>
                      <a:pt x="524871" y="114733"/>
                    </a:cubicBezTo>
                    <a:cubicBezTo>
                      <a:pt x="524871" y="159673"/>
                      <a:pt x="593950" y="166093"/>
                      <a:pt x="663030" y="181330"/>
                    </a:cubicBezTo>
                    <a:cubicBezTo>
                      <a:pt x="731282" y="196566"/>
                      <a:pt x="800389" y="220649"/>
                      <a:pt x="800389" y="302482"/>
                    </a:cubicBezTo>
                    <a:cubicBezTo>
                      <a:pt x="800389" y="401179"/>
                      <a:pt x="698383" y="437274"/>
                      <a:pt x="610386" y="437274"/>
                    </a:cubicBezTo>
                    <a:cubicBezTo>
                      <a:pt x="503471" y="437274"/>
                      <a:pt x="423692" y="390765"/>
                      <a:pt x="422066" y="292867"/>
                    </a:cubicBezTo>
                    <a:close/>
                  </a:path>
                </a:pathLst>
              </a:custGeom>
              <a:solidFill>
                <a:srgbClr val="0090DA"/>
              </a:solidFill>
              <a:ln w="285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689FC1A2-A881-6004-0549-DE20D2B6A078}"/>
                  </a:ext>
                </a:extLst>
              </p:cNvPr>
              <p:cNvSpPr/>
              <p:nvPr/>
            </p:nvSpPr>
            <p:spPr>
              <a:xfrm>
                <a:off x="10470924" y="312071"/>
                <a:ext cx="109853" cy="107057"/>
              </a:xfrm>
              <a:custGeom>
                <a:avLst/>
                <a:gdLst>
                  <a:gd name="connsiteX0" fmla="*/ 109853 w 109853"/>
                  <a:gd name="connsiteY0" fmla="*/ 53529 h 107057"/>
                  <a:gd name="connsiteX1" fmla="*/ 54927 w 109853"/>
                  <a:gd name="connsiteY1" fmla="*/ 107057 h 107057"/>
                  <a:gd name="connsiteX2" fmla="*/ 0 w 109853"/>
                  <a:gd name="connsiteY2" fmla="*/ 53529 h 107057"/>
                  <a:gd name="connsiteX3" fmla="*/ 54927 w 109853"/>
                  <a:gd name="connsiteY3" fmla="*/ 0 h 107057"/>
                  <a:gd name="connsiteX4" fmla="*/ 109853 w 109853"/>
                  <a:gd name="connsiteY4" fmla="*/ 53529 h 1070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9853" h="107057">
                    <a:moveTo>
                      <a:pt x="109853" y="53529"/>
                    </a:moveTo>
                    <a:cubicBezTo>
                      <a:pt x="109853" y="83089"/>
                      <a:pt x="85258" y="107057"/>
                      <a:pt x="54927" y="107057"/>
                    </a:cubicBezTo>
                    <a:cubicBezTo>
                      <a:pt x="24596" y="107057"/>
                      <a:pt x="0" y="83089"/>
                      <a:pt x="0" y="53529"/>
                    </a:cubicBezTo>
                    <a:cubicBezTo>
                      <a:pt x="0" y="23968"/>
                      <a:pt x="24596" y="0"/>
                      <a:pt x="54927" y="0"/>
                    </a:cubicBezTo>
                    <a:cubicBezTo>
                      <a:pt x="85258" y="0"/>
                      <a:pt x="109853" y="23968"/>
                      <a:pt x="109853" y="53529"/>
                    </a:cubicBezTo>
                  </a:path>
                </a:pathLst>
              </a:custGeom>
              <a:solidFill>
                <a:srgbClr val="EA8735"/>
              </a:solidFill>
              <a:ln w="285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6DB165-F87F-806A-40C1-763FEF78C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12A66-822E-4D68-834D-298940211017}" type="slidenum">
              <a:rPr lang="en-US" smtClean="0"/>
              <a:t>3</a:t>
            </a:fld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5ED0F46-B4E0-5C61-FC46-8E00939FA181}"/>
              </a:ext>
            </a:extLst>
          </p:cNvPr>
          <p:cNvCxnSpPr/>
          <p:nvPr/>
        </p:nvCxnSpPr>
        <p:spPr>
          <a:xfrm>
            <a:off x="11411339" y="6356791"/>
            <a:ext cx="0" cy="364243"/>
          </a:xfrm>
          <a:prstGeom prst="line">
            <a:avLst/>
          </a:prstGeom>
          <a:ln>
            <a:solidFill>
              <a:srgbClr val="EA87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6840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D044A-557E-FE18-445F-83604CE2A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502E2DD-5468-61D5-1D5F-996FCC96E6C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973143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17" imgH="416" progId="TCLayout.ActiveDocument.1">
                  <p:embed/>
                </p:oleObj>
              </mc:Choice>
              <mc:Fallback>
                <p:oleObj name="think-cell Slide" r:id="rId4" imgW="417" imgH="41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D91EBB7-CBEC-AF60-8C34-2E5ED8AA1A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 29">
            <a:extLst>
              <a:ext uri="{FF2B5EF4-FFF2-40B4-BE49-F238E27FC236}">
                <a16:creationId xmlns:a16="http://schemas.microsoft.com/office/drawing/2014/main" id="{9EA2327E-38AB-BEA1-C40A-76442E6E16AD}"/>
              </a:ext>
            </a:extLst>
          </p:cNvPr>
          <p:cNvSpPr/>
          <p:nvPr/>
        </p:nvSpPr>
        <p:spPr>
          <a:xfrm>
            <a:off x="0" y="2164145"/>
            <a:ext cx="12192000" cy="4714875"/>
          </a:xfrm>
          <a:prstGeom prst="rect">
            <a:avLst/>
          </a:prstGeom>
          <a:solidFill>
            <a:srgbClr val="4777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5552E9-37F0-44DB-EFD3-5A8AECBF8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12A66-822E-4D68-834D-298940211017}" type="slidenum">
              <a:rPr lang="en-US" smtClean="0"/>
              <a:t>4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85FFBDF-94D0-C498-9223-F33EDEC853EB}"/>
              </a:ext>
            </a:extLst>
          </p:cNvPr>
          <p:cNvGrpSpPr>
            <a:grpSpLocks noChangeAspect="1"/>
          </p:cNvGrpSpPr>
          <p:nvPr/>
        </p:nvGrpSpPr>
        <p:grpSpPr>
          <a:xfrm>
            <a:off x="11523824" y="6371722"/>
            <a:ext cx="494499" cy="334378"/>
            <a:chOff x="7857722" y="318591"/>
            <a:chExt cx="2080112" cy="140656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A635C5B-34D9-6E7D-067C-C4EAFE86D3C2}"/>
                </a:ext>
              </a:extLst>
            </p:cNvPr>
            <p:cNvGrpSpPr/>
            <p:nvPr userDrawn="1"/>
          </p:nvGrpSpPr>
          <p:grpSpPr>
            <a:xfrm>
              <a:off x="7857724" y="318591"/>
              <a:ext cx="2080110" cy="584948"/>
              <a:chOff x="7857724" y="318591"/>
              <a:chExt cx="2080110" cy="584948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1DEE59C7-BBFD-0DBA-670B-FA6FCD614C7D}"/>
                  </a:ext>
                </a:extLst>
              </p:cNvPr>
              <p:cNvSpPr/>
              <p:nvPr/>
            </p:nvSpPr>
            <p:spPr>
              <a:xfrm>
                <a:off x="7857724" y="318591"/>
                <a:ext cx="1528161" cy="584948"/>
              </a:xfrm>
              <a:custGeom>
                <a:avLst/>
                <a:gdLst>
                  <a:gd name="connsiteX0" fmla="*/ 152967 w 1528161"/>
                  <a:gd name="connsiteY0" fmla="*/ 453381 h 584948"/>
                  <a:gd name="connsiteX1" fmla="*/ 275518 w 1528161"/>
                  <a:gd name="connsiteY1" fmla="*/ 453381 h 584948"/>
                  <a:gd name="connsiteX2" fmla="*/ 357751 w 1528161"/>
                  <a:gd name="connsiteY2" fmla="*/ 389181 h 584948"/>
                  <a:gd name="connsiteX3" fmla="*/ 275518 w 1528161"/>
                  <a:gd name="connsiteY3" fmla="*/ 321813 h 584948"/>
                  <a:gd name="connsiteX4" fmla="*/ 152967 w 1528161"/>
                  <a:gd name="connsiteY4" fmla="*/ 321813 h 584948"/>
                  <a:gd name="connsiteX5" fmla="*/ 152967 w 1528161"/>
                  <a:gd name="connsiteY5" fmla="*/ 225513 h 584948"/>
                  <a:gd name="connsiteX6" fmla="*/ 271381 w 1528161"/>
                  <a:gd name="connsiteY6" fmla="*/ 225513 h 584948"/>
                  <a:gd name="connsiteX7" fmla="*/ 333926 w 1528161"/>
                  <a:gd name="connsiteY7" fmla="*/ 170957 h 584948"/>
                  <a:gd name="connsiteX8" fmla="*/ 271409 w 1528161"/>
                  <a:gd name="connsiteY8" fmla="*/ 115603 h 584948"/>
                  <a:gd name="connsiteX9" fmla="*/ 152996 w 1528161"/>
                  <a:gd name="connsiteY9" fmla="*/ 115603 h 584948"/>
                  <a:gd name="connsiteX10" fmla="*/ 0 w 1528161"/>
                  <a:gd name="connsiteY10" fmla="*/ 71 h 584948"/>
                  <a:gd name="connsiteX11" fmla="*/ 274691 w 1528161"/>
                  <a:gd name="connsiteY11" fmla="*/ 71 h 584948"/>
                  <a:gd name="connsiteX12" fmla="*/ 486865 w 1528161"/>
                  <a:gd name="connsiteY12" fmla="*/ 143679 h 584948"/>
                  <a:gd name="connsiteX13" fmla="*/ 409568 w 1528161"/>
                  <a:gd name="connsiteY13" fmla="*/ 259240 h 584948"/>
                  <a:gd name="connsiteX14" fmla="*/ 510747 w 1528161"/>
                  <a:gd name="connsiteY14" fmla="*/ 394802 h 584948"/>
                  <a:gd name="connsiteX15" fmla="*/ 282081 w 1528161"/>
                  <a:gd name="connsiteY15" fmla="*/ 572936 h 584948"/>
                  <a:gd name="connsiteX16" fmla="*/ 0 w 1528161"/>
                  <a:gd name="connsiteY16" fmla="*/ 572936 h 584948"/>
                  <a:gd name="connsiteX17" fmla="*/ 564904 w 1528161"/>
                  <a:gd name="connsiteY17" fmla="*/ 42 h 584948"/>
                  <a:gd name="connsiteX18" fmla="*/ 717899 w 1528161"/>
                  <a:gd name="connsiteY18" fmla="*/ 42 h 584948"/>
                  <a:gd name="connsiteX19" fmla="*/ 717899 w 1528161"/>
                  <a:gd name="connsiteY19" fmla="*/ 444535 h 584948"/>
                  <a:gd name="connsiteX20" fmla="*/ 991763 w 1528161"/>
                  <a:gd name="connsiteY20" fmla="*/ 444535 h 584948"/>
                  <a:gd name="connsiteX21" fmla="*/ 991763 w 1528161"/>
                  <a:gd name="connsiteY21" fmla="*/ 572936 h 584948"/>
                  <a:gd name="connsiteX22" fmla="*/ 564904 w 1528161"/>
                  <a:gd name="connsiteY22" fmla="*/ 572936 h 584948"/>
                  <a:gd name="connsiteX23" fmla="*/ 1528161 w 1528161"/>
                  <a:gd name="connsiteY23" fmla="*/ 336223 h 584948"/>
                  <a:gd name="connsiteX24" fmla="*/ 1272360 w 1528161"/>
                  <a:gd name="connsiteY24" fmla="*/ 584948 h 584948"/>
                  <a:gd name="connsiteX25" fmla="*/ 1016587 w 1528161"/>
                  <a:gd name="connsiteY25" fmla="*/ 336223 h 584948"/>
                  <a:gd name="connsiteX26" fmla="*/ 1016587 w 1528161"/>
                  <a:gd name="connsiteY26" fmla="*/ 42 h 584948"/>
                  <a:gd name="connsiteX27" fmla="*/ 1169583 w 1528161"/>
                  <a:gd name="connsiteY27" fmla="*/ 42 h 584948"/>
                  <a:gd name="connsiteX28" fmla="*/ 1169583 w 1528161"/>
                  <a:gd name="connsiteY28" fmla="*/ 345068 h 584948"/>
                  <a:gd name="connsiteX29" fmla="*/ 1272360 w 1528161"/>
                  <a:gd name="connsiteY29" fmla="*/ 456576 h 584948"/>
                  <a:gd name="connsiteX30" fmla="*/ 1375194 w 1528161"/>
                  <a:gd name="connsiteY30" fmla="*/ 345068 h 584948"/>
                  <a:gd name="connsiteX31" fmla="*/ 1375194 w 1528161"/>
                  <a:gd name="connsiteY31" fmla="*/ 14 h 584948"/>
                  <a:gd name="connsiteX32" fmla="*/ 1528161 w 1528161"/>
                  <a:gd name="connsiteY32" fmla="*/ 14 h 5849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28161" h="584948">
                    <a:moveTo>
                      <a:pt x="152967" y="453381"/>
                    </a:moveTo>
                    <a:lnTo>
                      <a:pt x="275518" y="453381"/>
                    </a:lnTo>
                    <a:cubicBezTo>
                      <a:pt x="324025" y="453381"/>
                      <a:pt x="357751" y="436546"/>
                      <a:pt x="357751" y="389181"/>
                    </a:cubicBezTo>
                    <a:cubicBezTo>
                      <a:pt x="357751" y="338677"/>
                      <a:pt x="321571" y="321813"/>
                      <a:pt x="275518" y="321813"/>
                    </a:cubicBezTo>
                    <a:lnTo>
                      <a:pt x="152967" y="321813"/>
                    </a:lnTo>
                    <a:close/>
                    <a:moveTo>
                      <a:pt x="152967" y="225513"/>
                    </a:moveTo>
                    <a:lnTo>
                      <a:pt x="271381" y="225513"/>
                    </a:lnTo>
                    <a:cubicBezTo>
                      <a:pt x="297717" y="225513"/>
                      <a:pt x="333926" y="211874"/>
                      <a:pt x="333926" y="170957"/>
                    </a:cubicBezTo>
                    <a:cubicBezTo>
                      <a:pt x="333926" y="129242"/>
                      <a:pt x="303481" y="115603"/>
                      <a:pt x="271409" y="115603"/>
                    </a:cubicBezTo>
                    <a:lnTo>
                      <a:pt x="152996" y="115603"/>
                    </a:lnTo>
                    <a:close/>
                    <a:moveTo>
                      <a:pt x="0" y="71"/>
                    </a:moveTo>
                    <a:lnTo>
                      <a:pt x="274691" y="71"/>
                    </a:lnTo>
                    <a:cubicBezTo>
                      <a:pt x="375870" y="-1555"/>
                      <a:pt x="486865" y="24125"/>
                      <a:pt x="486865" y="143679"/>
                    </a:cubicBezTo>
                    <a:cubicBezTo>
                      <a:pt x="486865" y="195040"/>
                      <a:pt x="455621" y="236755"/>
                      <a:pt x="409568" y="259240"/>
                    </a:cubicBezTo>
                    <a:cubicBezTo>
                      <a:pt x="472085" y="276845"/>
                      <a:pt x="510747" y="329831"/>
                      <a:pt x="510747" y="394802"/>
                    </a:cubicBezTo>
                    <a:cubicBezTo>
                      <a:pt x="510747" y="531191"/>
                      <a:pt x="407942" y="572936"/>
                      <a:pt x="282081" y="572936"/>
                    </a:cubicBezTo>
                    <a:lnTo>
                      <a:pt x="0" y="572936"/>
                    </a:lnTo>
                    <a:close/>
                    <a:moveTo>
                      <a:pt x="564904" y="42"/>
                    </a:moveTo>
                    <a:lnTo>
                      <a:pt x="717899" y="42"/>
                    </a:lnTo>
                    <a:lnTo>
                      <a:pt x="717899" y="444535"/>
                    </a:lnTo>
                    <a:lnTo>
                      <a:pt x="991763" y="444535"/>
                    </a:lnTo>
                    <a:lnTo>
                      <a:pt x="991763" y="572936"/>
                    </a:lnTo>
                    <a:lnTo>
                      <a:pt x="564904" y="572936"/>
                    </a:lnTo>
                    <a:close/>
                    <a:moveTo>
                      <a:pt x="1528161" y="336223"/>
                    </a:moveTo>
                    <a:cubicBezTo>
                      <a:pt x="1528161" y="502315"/>
                      <a:pt x="1450009" y="584948"/>
                      <a:pt x="1272360" y="584948"/>
                    </a:cubicBezTo>
                    <a:cubicBezTo>
                      <a:pt x="1094711" y="584948"/>
                      <a:pt x="1016587" y="502315"/>
                      <a:pt x="1016587" y="336223"/>
                    </a:cubicBezTo>
                    <a:lnTo>
                      <a:pt x="1016587" y="42"/>
                    </a:lnTo>
                    <a:lnTo>
                      <a:pt x="1169583" y="42"/>
                    </a:lnTo>
                    <a:lnTo>
                      <a:pt x="1169583" y="345068"/>
                    </a:lnTo>
                    <a:cubicBezTo>
                      <a:pt x="1169583" y="418855"/>
                      <a:pt x="1197545" y="456576"/>
                      <a:pt x="1272360" y="456576"/>
                    </a:cubicBezTo>
                    <a:cubicBezTo>
                      <a:pt x="1347203" y="456576"/>
                      <a:pt x="1375194" y="418855"/>
                      <a:pt x="1375194" y="345068"/>
                    </a:cubicBezTo>
                    <a:lnTo>
                      <a:pt x="1375194" y="14"/>
                    </a:lnTo>
                    <a:lnTo>
                      <a:pt x="1528161" y="14"/>
                    </a:lnTo>
                    <a:close/>
                  </a:path>
                </a:pathLst>
              </a:custGeom>
              <a:solidFill>
                <a:srgbClr val="2CA3E1"/>
              </a:solidFill>
              <a:ln w="285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88F07E30-7722-C787-E029-E2EABBA1F4D9}"/>
                  </a:ext>
                </a:extLst>
              </p:cNvPr>
              <p:cNvSpPr/>
              <p:nvPr/>
            </p:nvSpPr>
            <p:spPr>
              <a:xfrm>
                <a:off x="9461613" y="318634"/>
                <a:ext cx="476221" cy="572893"/>
              </a:xfrm>
              <a:custGeom>
                <a:avLst/>
                <a:gdLst>
                  <a:gd name="connsiteX0" fmla="*/ 0 w 476221"/>
                  <a:gd name="connsiteY0" fmla="*/ 0 h 572893"/>
                  <a:gd name="connsiteX1" fmla="*/ 467976 w 476221"/>
                  <a:gd name="connsiteY1" fmla="*/ 0 h 572893"/>
                  <a:gd name="connsiteX2" fmla="*/ 467976 w 476221"/>
                  <a:gd name="connsiteY2" fmla="*/ 119555 h 572893"/>
                  <a:gd name="connsiteX3" fmla="*/ 152967 w 476221"/>
                  <a:gd name="connsiteY3" fmla="*/ 119555 h 572893"/>
                  <a:gd name="connsiteX4" fmla="*/ 152967 w 476221"/>
                  <a:gd name="connsiteY4" fmla="*/ 219850 h 572893"/>
                  <a:gd name="connsiteX5" fmla="*/ 440869 w 476221"/>
                  <a:gd name="connsiteY5" fmla="*/ 219850 h 572893"/>
                  <a:gd name="connsiteX6" fmla="*/ 440869 w 476221"/>
                  <a:gd name="connsiteY6" fmla="*/ 335410 h 572893"/>
                  <a:gd name="connsiteX7" fmla="*/ 152967 w 476221"/>
                  <a:gd name="connsiteY7" fmla="*/ 335410 h 572893"/>
                  <a:gd name="connsiteX8" fmla="*/ 152967 w 476221"/>
                  <a:gd name="connsiteY8" fmla="*/ 444493 h 572893"/>
                  <a:gd name="connsiteX9" fmla="*/ 476222 w 476221"/>
                  <a:gd name="connsiteY9" fmla="*/ 444493 h 572893"/>
                  <a:gd name="connsiteX10" fmla="*/ 476222 w 476221"/>
                  <a:gd name="connsiteY10" fmla="*/ 572893 h 572893"/>
                  <a:gd name="connsiteX11" fmla="*/ 0 w 476221"/>
                  <a:gd name="connsiteY11" fmla="*/ 572893 h 5728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76221" h="572893">
                    <a:moveTo>
                      <a:pt x="0" y="0"/>
                    </a:moveTo>
                    <a:lnTo>
                      <a:pt x="467976" y="0"/>
                    </a:lnTo>
                    <a:lnTo>
                      <a:pt x="467976" y="119555"/>
                    </a:lnTo>
                    <a:lnTo>
                      <a:pt x="152967" y="119555"/>
                    </a:lnTo>
                    <a:lnTo>
                      <a:pt x="152967" y="219850"/>
                    </a:lnTo>
                    <a:lnTo>
                      <a:pt x="440869" y="219850"/>
                    </a:lnTo>
                    <a:lnTo>
                      <a:pt x="440869" y="335410"/>
                    </a:lnTo>
                    <a:lnTo>
                      <a:pt x="152967" y="335410"/>
                    </a:lnTo>
                    <a:lnTo>
                      <a:pt x="152967" y="444493"/>
                    </a:lnTo>
                    <a:lnTo>
                      <a:pt x="476222" y="444493"/>
                    </a:lnTo>
                    <a:lnTo>
                      <a:pt x="476222" y="572893"/>
                    </a:lnTo>
                    <a:lnTo>
                      <a:pt x="0" y="572893"/>
                    </a:lnTo>
                    <a:close/>
                  </a:path>
                </a:pathLst>
              </a:custGeom>
              <a:solidFill>
                <a:srgbClr val="2CA3E1"/>
              </a:solidFill>
              <a:ln w="285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6A78F61-193E-0578-A0D4-C6742B59CCE5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7857722" y="1038476"/>
              <a:ext cx="2080110" cy="686681"/>
              <a:chOff x="10011822" y="312071"/>
              <a:chExt cx="1789355" cy="590698"/>
            </a:xfrm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BFD26179-C91D-A7D3-1DF8-184CCD9403F2}"/>
                  </a:ext>
                </a:extLst>
              </p:cNvPr>
              <p:cNvSpPr/>
              <p:nvPr userDrawn="1"/>
            </p:nvSpPr>
            <p:spPr>
              <a:xfrm>
                <a:off x="10011822" y="318605"/>
                <a:ext cx="1020238" cy="584106"/>
              </a:xfrm>
              <a:custGeom>
                <a:avLst/>
                <a:gdLst>
                  <a:gd name="connsiteX0" fmla="*/ 209720 w 1020238"/>
                  <a:gd name="connsiteY0" fmla="*/ 219108 h 584106"/>
                  <a:gd name="connsiteX1" fmla="*/ 90479 w 1020238"/>
                  <a:gd name="connsiteY1" fmla="*/ 365912 h 584106"/>
                  <a:gd name="connsiteX2" fmla="*/ 209749 w 1020238"/>
                  <a:gd name="connsiteY2" fmla="*/ 511917 h 584106"/>
                  <a:gd name="connsiteX3" fmla="*/ 327363 w 1020238"/>
                  <a:gd name="connsiteY3" fmla="*/ 365912 h 584106"/>
                  <a:gd name="connsiteX4" fmla="*/ 209720 w 1020238"/>
                  <a:gd name="connsiteY4" fmla="*/ 219079 h 584106"/>
                  <a:gd name="connsiteX5" fmla="*/ 0 w 1020238"/>
                  <a:gd name="connsiteY5" fmla="*/ 0 h 584106"/>
                  <a:gd name="connsiteX6" fmla="*/ 93761 w 1020238"/>
                  <a:gd name="connsiteY6" fmla="*/ 0 h 584106"/>
                  <a:gd name="connsiteX7" fmla="*/ 93761 w 1020238"/>
                  <a:gd name="connsiteY7" fmla="*/ 211832 h 584106"/>
                  <a:gd name="connsiteX8" fmla="*/ 95415 w 1020238"/>
                  <a:gd name="connsiteY8" fmla="*/ 211832 h 584106"/>
                  <a:gd name="connsiteX9" fmla="*/ 222075 w 1020238"/>
                  <a:gd name="connsiteY9" fmla="*/ 146833 h 584106"/>
                  <a:gd name="connsiteX10" fmla="*/ 421095 w 1020238"/>
                  <a:gd name="connsiteY10" fmla="*/ 367481 h 584106"/>
                  <a:gd name="connsiteX11" fmla="*/ 237683 w 1020238"/>
                  <a:gd name="connsiteY11" fmla="*/ 584107 h 584106"/>
                  <a:gd name="connsiteX12" fmla="*/ 90451 w 1020238"/>
                  <a:gd name="connsiteY12" fmla="*/ 515912 h 584106"/>
                  <a:gd name="connsiteX13" fmla="*/ 88824 w 1020238"/>
                  <a:gd name="connsiteY13" fmla="*/ 515912 h 584106"/>
                  <a:gd name="connsiteX14" fmla="*/ 88824 w 1020238"/>
                  <a:gd name="connsiteY14" fmla="*/ 572865 h 584106"/>
                  <a:gd name="connsiteX15" fmla="*/ 29 w 1020238"/>
                  <a:gd name="connsiteY15" fmla="*/ 572865 h 584106"/>
                  <a:gd name="connsiteX16" fmla="*/ 467148 w 1020238"/>
                  <a:gd name="connsiteY16" fmla="*/ 572922 h 584106"/>
                  <a:gd name="connsiteX17" fmla="*/ 560909 w 1020238"/>
                  <a:gd name="connsiteY17" fmla="*/ 572922 h 584106"/>
                  <a:gd name="connsiteX18" fmla="*/ 560909 w 1020238"/>
                  <a:gd name="connsiteY18" fmla="*/ 158075 h 584106"/>
                  <a:gd name="connsiteX19" fmla="*/ 467148 w 1020238"/>
                  <a:gd name="connsiteY19" fmla="*/ 158075 h 584106"/>
                  <a:gd name="connsiteX20" fmla="*/ 626307 w 1020238"/>
                  <a:gd name="connsiteY20" fmla="*/ 29 h 584106"/>
                  <a:gd name="connsiteX21" fmla="*/ 720039 w 1020238"/>
                  <a:gd name="connsiteY21" fmla="*/ 29 h 584106"/>
                  <a:gd name="connsiteX22" fmla="*/ 720039 w 1020238"/>
                  <a:gd name="connsiteY22" fmla="*/ 325823 h 584106"/>
                  <a:gd name="connsiteX23" fmla="*/ 889470 w 1020238"/>
                  <a:gd name="connsiteY23" fmla="*/ 158132 h 584106"/>
                  <a:gd name="connsiteX24" fmla="*/ 1004603 w 1020238"/>
                  <a:gd name="connsiteY24" fmla="*/ 158132 h 584106"/>
                  <a:gd name="connsiteX25" fmla="*/ 841763 w 1020238"/>
                  <a:gd name="connsiteY25" fmla="*/ 310586 h 584106"/>
                  <a:gd name="connsiteX26" fmla="*/ 1020239 w 1020238"/>
                  <a:gd name="connsiteY26" fmla="*/ 572950 h 584106"/>
                  <a:gd name="connsiteX27" fmla="*/ 905934 w 1020238"/>
                  <a:gd name="connsiteY27" fmla="*/ 572950 h 584106"/>
                  <a:gd name="connsiteX28" fmla="*/ 775993 w 1020238"/>
                  <a:gd name="connsiteY28" fmla="*/ 371562 h 584106"/>
                  <a:gd name="connsiteX29" fmla="*/ 720039 w 1020238"/>
                  <a:gd name="connsiteY29" fmla="*/ 424491 h 584106"/>
                  <a:gd name="connsiteX30" fmla="*/ 720039 w 1020238"/>
                  <a:gd name="connsiteY30" fmla="*/ 572950 h 584106"/>
                  <a:gd name="connsiteX31" fmla="*/ 626279 w 1020238"/>
                  <a:gd name="connsiteY31" fmla="*/ 572950 h 5841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020238" h="584106">
                    <a:moveTo>
                      <a:pt x="209720" y="219108"/>
                    </a:moveTo>
                    <a:cubicBezTo>
                      <a:pt x="130797" y="219108"/>
                      <a:pt x="90479" y="277658"/>
                      <a:pt x="90479" y="365912"/>
                    </a:cubicBezTo>
                    <a:cubicBezTo>
                      <a:pt x="90479" y="449344"/>
                      <a:pt x="134078" y="511917"/>
                      <a:pt x="209749" y="511917"/>
                    </a:cubicBezTo>
                    <a:cubicBezTo>
                      <a:pt x="295263" y="511917"/>
                      <a:pt x="327363" y="438101"/>
                      <a:pt x="327363" y="365912"/>
                    </a:cubicBezTo>
                    <a:cubicBezTo>
                      <a:pt x="327363" y="290498"/>
                      <a:pt x="287046" y="219079"/>
                      <a:pt x="209720" y="219079"/>
                    </a:cubicBezTo>
                    <a:moveTo>
                      <a:pt x="0" y="0"/>
                    </a:moveTo>
                    <a:lnTo>
                      <a:pt x="93761" y="0"/>
                    </a:lnTo>
                    <a:lnTo>
                      <a:pt x="93761" y="211832"/>
                    </a:lnTo>
                    <a:lnTo>
                      <a:pt x="95415" y="211832"/>
                    </a:lnTo>
                    <a:cubicBezTo>
                      <a:pt x="120924" y="171714"/>
                      <a:pt x="174396" y="146833"/>
                      <a:pt x="222075" y="146833"/>
                    </a:cubicBezTo>
                    <a:cubicBezTo>
                      <a:pt x="356125" y="146833"/>
                      <a:pt x="421095" y="246329"/>
                      <a:pt x="421095" y="367481"/>
                    </a:cubicBezTo>
                    <a:cubicBezTo>
                      <a:pt x="421095" y="478990"/>
                      <a:pt x="363544" y="584107"/>
                      <a:pt x="237683" y="584107"/>
                    </a:cubicBezTo>
                    <a:cubicBezTo>
                      <a:pt x="180131" y="584107"/>
                      <a:pt x="118442" y="570468"/>
                      <a:pt x="90451" y="515912"/>
                    </a:cubicBezTo>
                    <a:lnTo>
                      <a:pt x="88824" y="515912"/>
                    </a:lnTo>
                    <a:lnTo>
                      <a:pt x="88824" y="572865"/>
                    </a:lnTo>
                    <a:lnTo>
                      <a:pt x="29" y="572865"/>
                    </a:lnTo>
                    <a:close/>
                    <a:moveTo>
                      <a:pt x="467148" y="572922"/>
                    </a:moveTo>
                    <a:lnTo>
                      <a:pt x="560909" y="572922"/>
                    </a:lnTo>
                    <a:lnTo>
                      <a:pt x="560909" y="158075"/>
                    </a:lnTo>
                    <a:lnTo>
                      <a:pt x="467148" y="158075"/>
                    </a:lnTo>
                    <a:close/>
                    <a:moveTo>
                      <a:pt x="626307" y="29"/>
                    </a:moveTo>
                    <a:lnTo>
                      <a:pt x="720039" y="29"/>
                    </a:lnTo>
                    <a:lnTo>
                      <a:pt x="720039" y="325823"/>
                    </a:lnTo>
                    <a:lnTo>
                      <a:pt x="889470" y="158132"/>
                    </a:lnTo>
                    <a:lnTo>
                      <a:pt x="1004603" y="158132"/>
                    </a:lnTo>
                    <a:lnTo>
                      <a:pt x="841763" y="310586"/>
                    </a:lnTo>
                    <a:lnTo>
                      <a:pt x="1020239" y="572950"/>
                    </a:lnTo>
                    <a:lnTo>
                      <a:pt x="905934" y="572950"/>
                    </a:lnTo>
                    <a:lnTo>
                      <a:pt x="775993" y="371562"/>
                    </a:lnTo>
                    <a:lnTo>
                      <a:pt x="720039" y="424491"/>
                    </a:lnTo>
                    <a:lnTo>
                      <a:pt x="720039" y="572950"/>
                    </a:lnTo>
                    <a:lnTo>
                      <a:pt x="626279" y="572950"/>
                    </a:lnTo>
                    <a:close/>
                  </a:path>
                </a:pathLst>
              </a:custGeom>
              <a:solidFill>
                <a:srgbClr val="0090DA"/>
              </a:solidFill>
              <a:ln w="285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EDB7AF2C-6CC9-2DF6-DA23-5E30463BB4D7}"/>
                  </a:ext>
                </a:extLst>
              </p:cNvPr>
              <p:cNvSpPr/>
              <p:nvPr/>
            </p:nvSpPr>
            <p:spPr>
              <a:xfrm>
                <a:off x="11000788" y="464411"/>
                <a:ext cx="800389" cy="438358"/>
              </a:xfrm>
              <a:custGeom>
                <a:avLst/>
                <a:gdLst>
                  <a:gd name="connsiteX0" fmla="*/ 312555 w 800389"/>
                  <a:gd name="connsiteY0" fmla="*/ 183184 h 438358"/>
                  <a:gd name="connsiteX1" fmla="*/ 205611 w 800389"/>
                  <a:gd name="connsiteY1" fmla="*/ 73274 h 438358"/>
                  <a:gd name="connsiteX2" fmla="*/ 93761 w 800389"/>
                  <a:gd name="connsiteY2" fmla="*/ 183184 h 438358"/>
                  <a:gd name="connsiteX3" fmla="*/ 93761 w 800389"/>
                  <a:gd name="connsiteY3" fmla="*/ 243390 h 438358"/>
                  <a:gd name="connsiteX4" fmla="*/ 208094 w 800389"/>
                  <a:gd name="connsiteY4" fmla="*/ 366112 h 438358"/>
                  <a:gd name="connsiteX5" fmla="*/ 311727 w 800389"/>
                  <a:gd name="connsiteY5" fmla="*/ 297118 h 438358"/>
                  <a:gd name="connsiteX6" fmla="*/ 400551 w 800389"/>
                  <a:gd name="connsiteY6" fmla="*/ 297118 h 438358"/>
                  <a:gd name="connsiteX7" fmla="*/ 208094 w 800389"/>
                  <a:gd name="connsiteY7" fmla="*/ 438358 h 438358"/>
                  <a:gd name="connsiteX8" fmla="*/ 0 w 800389"/>
                  <a:gd name="connsiteY8" fmla="*/ 220106 h 438358"/>
                  <a:gd name="connsiteX9" fmla="*/ 205611 w 800389"/>
                  <a:gd name="connsiteY9" fmla="*/ 1084 h 438358"/>
                  <a:gd name="connsiteX10" fmla="*/ 406287 w 800389"/>
                  <a:gd name="connsiteY10" fmla="*/ 243390 h 438358"/>
                  <a:gd name="connsiteX11" fmla="*/ 515826 w 800389"/>
                  <a:gd name="connsiteY11" fmla="*/ 292867 h 438358"/>
                  <a:gd name="connsiteX12" fmla="*/ 612012 w 800389"/>
                  <a:gd name="connsiteY12" fmla="*/ 365056 h 438358"/>
                  <a:gd name="connsiteX13" fmla="*/ 706629 w 800389"/>
                  <a:gd name="connsiteY13" fmla="*/ 310500 h 438358"/>
                  <a:gd name="connsiteX14" fmla="*/ 567643 w 800389"/>
                  <a:gd name="connsiteY14" fmla="*/ 241507 h 438358"/>
                  <a:gd name="connsiteX15" fmla="*/ 431111 w 800389"/>
                  <a:gd name="connsiteY15" fmla="*/ 118756 h 438358"/>
                  <a:gd name="connsiteX16" fmla="*/ 608760 w 800389"/>
                  <a:gd name="connsiteY16" fmla="*/ 0 h 438358"/>
                  <a:gd name="connsiteX17" fmla="*/ 786408 w 800389"/>
                  <a:gd name="connsiteY17" fmla="*/ 127573 h 438358"/>
                  <a:gd name="connsiteX18" fmla="*/ 688539 w 800389"/>
                  <a:gd name="connsiteY18" fmla="*/ 127573 h 438358"/>
                  <a:gd name="connsiteX19" fmla="*/ 602168 w 800389"/>
                  <a:gd name="connsiteY19" fmla="*/ 72218 h 438358"/>
                  <a:gd name="connsiteX20" fmla="*/ 524871 w 800389"/>
                  <a:gd name="connsiteY20" fmla="*/ 114733 h 438358"/>
                  <a:gd name="connsiteX21" fmla="*/ 663030 w 800389"/>
                  <a:gd name="connsiteY21" fmla="*/ 181330 h 438358"/>
                  <a:gd name="connsiteX22" fmla="*/ 800389 w 800389"/>
                  <a:gd name="connsiteY22" fmla="*/ 302482 h 438358"/>
                  <a:gd name="connsiteX23" fmla="*/ 610386 w 800389"/>
                  <a:gd name="connsiteY23" fmla="*/ 437274 h 438358"/>
                  <a:gd name="connsiteX24" fmla="*/ 422066 w 800389"/>
                  <a:gd name="connsiteY24" fmla="*/ 292867 h 4383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800389" h="438358">
                    <a:moveTo>
                      <a:pt x="312555" y="183184"/>
                    </a:moveTo>
                    <a:cubicBezTo>
                      <a:pt x="309245" y="125433"/>
                      <a:pt x="268956" y="73274"/>
                      <a:pt x="205611" y="73274"/>
                    </a:cubicBezTo>
                    <a:cubicBezTo>
                      <a:pt x="140641" y="73274"/>
                      <a:pt x="96215" y="121410"/>
                      <a:pt x="93761" y="183184"/>
                    </a:cubicBezTo>
                    <a:close/>
                    <a:moveTo>
                      <a:pt x="93761" y="243390"/>
                    </a:moveTo>
                    <a:cubicBezTo>
                      <a:pt x="93761" y="308360"/>
                      <a:pt x="129941" y="366112"/>
                      <a:pt x="208094" y="366112"/>
                    </a:cubicBezTo>
                    <a:cubicBezTo>
                      <a:pt x="262364" y="366112"/>
                      <a:pt x="295263" y="342857"/>
                      <a:pt x="311727" y="297118"/>
                    </a:cubicBezTo>
                    <a:lnTo>
                      <a:pt x="400551" y="297118"/>
                    </a:lnTo>
                    <a:cubicBezTo>
                      <a:pt x="379979" y="387797"/>
                      <a:pt x="301027" y="438358"/>
                      <a:pt x="208094" y="438358"/>
                    </a:cubicBezTo>
                    <a:cubicBezTo>
                      <a:pt x="74843" y="438358"/>
                      <a:pt x="0" y="347679"/>
                      <a:pt x="0" y="220106"/>
                    </a:cubicBezTo>
                    <a:cubicBezTo>
                      <a:pt x="0" y="102178"/>
                      <a:pt x="78952" y="1084"/>
                      <a:pt x="205611" y="1084"/>
                    </a:cubicBezTo>
                    <a:cubicBezTo>
                      <a:pt x="339690" y="1084"/>
                      <a:pt x="421923" y="119013"/>
                      <a:pt x="406287" y="243390"/>
                    </a:cubicBezTo>
                    <a:close/>
                    <a:moveTo>
                      <a:pt x="515826" y="292867"/>
                    </a:moveTo>
                    <a:cubicBezTo>
                      <a:pt x="520734" y="345796"/>
                      <a:pt x="561850" y="365056"/>
                      <a:pt x="612012" y="365056"/>
                    </a:cubicBezTo>
                    <a:cubicBezTo>
                      <a:pt x="647393" y="365056"/>
                      <a:pt x="709083" y="357837"/>
                      <a:pt x="706629" y="310500"/>
                    </a:cubicBezTo>
                    <a:cubicBezTo>
                      <a:pt x="704146" y="262364"/>
                      <a:pt x="635894" y="256743"/>
                      <a:pt x="567643" y="241507"/>
                    </a:cubicBezTo>
                    <a:cubicBezTo>
                      <a:pt x="498535" y="227040"/>
                      <a:pt x="431111" y="202986"/>
                      <a:pt x="431111" y="118756"/>
                    </a:cubicBezTo>
                    <a:cubicBezTo>
                      <a:pt x="431111" y="28105"/>
                      <a:pt x="531434" y="0"/>
                      <a:pt x="608760" y="0"/>
                    </a:cubicBezTo>
                    <a:cubicBezTo>
                      <a:pt x="695929" y="0"/>
                      <a:pt x="774881" y="35296"/>
                      <a:pt x="786408" y="127573"/>
                    </a:cubicBezTo>
                    <a:lnTo>
                      <a:pt x="688539" y="127573"/>
                    </a:lnTo>
                    <a:cubicBezTo>
                      <a:pt x="680292" y="84259"/>
                      <a:pt x="643285" y="72218"/>
                      <a:pt x="602168" y="72218"/>
                    </a:cubicBezTo>
                    <a:cubicBezTo>
                      <a:pt x="575033" y="72218"/>
                      <a:pt x="524871" y="78638"/>
                      <a:pt x="524871" y="114733"/>
                    </a:cubicBezTo>
                    <a:cubicBezTo>
                      <a:pt x="524871" y="159673"/>
                      <a:pt x="593950" y="166093"/>
                      <a:pt x="663030" y="181330"/>
                    </a:cubicBezTo>
                    <a:cubicBezTo>
                      <a:pt x="731282" y="196566"/>
                      <a:pt x="800389" y="220649"/>
                      <a:pt x="800389" y="302482"/>
                    </a:cubicBezTo>
                    <a:cubicBezTo>
                      <a:pt x="800389" y="401179"/>
                      <a:pt x="698383" y="437274"/>
                      <a:pt x="610386" y="437274"/>
                    </a:cubicBezTo>
                    <a:cubicBezTo>
                      <a:pt x="503471" y="437274"/>
                      <a:pt x="423692" y="390765"/>
                      <a:pt x="422066" y="292867"/>
                    </a:cubicBezTo>
                    <a:close/>
                  </a:path>
                </a:pathLst>
              </a:custGeom>
              <a:solidFill>
                <a:srgbClr val="0090DA"/>
              </a:solidFill>
              <a:ln w="285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5E68AB1F-BD44-468D-9595-1228384EA3F3}"/>
                  </a:ext>
                </a:extLst>
              </p:cNvPr>
              <p:cNvSpPr/>
              <p:nvPr/>
            </p:nvSpPr>
            <p:spPr>
              <a:xfrm>
                <a:off x="10470924" y="312071"/>
                <a:ext cx="109853" cy="107057"/>
              </a:xfrm>
              <a:custGeom>
                <a:avLst/>
                <a:gdLst>
                  <a:gd name="connsiteX0" fmla="*/ 109853 w 109853"/>
                  <a:gd name="connsiteY0" fmla="*/ 53529 h 107057"/>
                  <a:gd name="connsiteX1" fmla="*/ 54927 w 109853"/>
                  <a:gd name="connsiteY1" fmla="*/ 107057 h 107057"/>
                  <a:gd name="connsiteX2" fmla="*/ 0 w 109853"/>
                  <a:gd name="connsiteY2" fmla="*/ 53529 h 107057"/>
                  <a:gd name="connsiteX3" fmla="*/ 54927 w 109853"/>
                  <a:gd name="connsiteY3" fmla="*/ 0 h 107057"/>
                  <a:gd name="connsiteX4" fmla="*/ 109853 w 109853"/>
                  <a:gd name="connsiteY4" fmla="*/ 53529 h 1070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9853" h="107057">
                    <a:moveTo>
                      <a:pt x="109853" y="53529"/>
                    </a:moveTo>
                    <a:cubicBezTo>
                      <a:pt x="109853" y="83089"/>
                      <a:pt x="85258" y="107057"/>
                      <a:pt x="54927" y="107057"/>
                    </a:cubicBezTo>
                    <a:cubicBezTo>
                      <a:pt x="24596" y="107057"/>
                      <a:pt x="0" y="83089"/>
                      <a:pt x="0" y="53529"/>
                    </a:cubicBezTo>
                    <a:cubicBezTo>
                      <a:pt x="0" y="23968"/>
                      <a:pt x="24596" y="0"/>
                      <a:pt x="54927" y="0"/>
                    </a:cubicBezTo>
                    <a:cubicBezTo>
                      <a:pt x="85258" y="0"/>
                      <a:pt x="109853" y="23968"/>
                      <a:pt x="109853" y="53529"/>
                    </a:cubicBezTo>
                  </a:path>
                </a:pathLst>
              </a:custGeom>
              <a:solidFill>
                <a:srgbClr val="EA8735"/>
              </a:solidFill>
              <a:ln w="285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E3B251E-350A-EC1F-45A4-6845F491F024}"/>
              </a:ext>
            </a:extLst>
          </p:cNvPr>
          <p:cNvCxnSpPr/>
          <p:nvPr/>
        </p:nvCxnSpPr>
        <p:spPr>
          <a:xfrm>
            <a:off x="11411339" y="6356791"/>
            <a:ext cx="0" cy="364243"/>
          </a:xfrm>
          <a:prstGeom prst="line">
            <a:avLst/>
          </a:prstGeom>
          <a:ln>
            <a:solidFill>
              <a:srgbClr val="EA87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1BED673-E9C7-4E70-1A4A-32950185A90F}"/>
              </a:ext>
            </a:extLst>
          </p:cNvPr>
          <p:cNvGrpSpPr/>
          <p:nvPr/>
        </p:nvGrpSpPr>
        <p:grpSpPr>
          <a:xfrm>
            <a:off x="321221" y="335333"/>
            <a:ext cx="11549557" cy="1384995"/>
            <a:chOff x="392659" y="563933"/>
            <a:chExt cx="11549557" cy="138499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0993804-A034-1671-3831-DB27B4E792BD}"/>
                </a:ext>
              </a:extLst>
            </p:cNvPr>
            <p:cNvSpPr txBox="1"/>
            <p:nvPr/>
          </p:nvSpPr>
          <p:spPr>
            <a:xfrm>
              <a:off x="3288368" y="563933"/>
              <a:ext cx="8653848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 err="1">
                  <a:solidFill>
                    <a:srgbClr val="0D0D2F"/>
                  </a:solidFill>
                  <a:latin typeface="Lyft Pro UI" panose="02000503030000000000" pitchFamily="50" charset="0"/>
                </a:rPr>
                <a:t>Bluebikes</a:t>
              </a:r>
              <a:r>
                <a:rPr lang="en-US" sz="2800" dirty="0">
                  <a:solidFill>
                    <a:srgbClr val="0D0D2F"/>
                  </a:solidFill>
                  <a:latin typeface="Lyft Pro UI" panose="02000503030000000000" pitchFamily="50" charset="0"/>
                </a:rPr>
                <a:t> operators need better insights into demand patterns to optimize resources amid variable weather, seasonal shifts, and transit dependencies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824E973-2182-2B5E-B22A-28DE8645D821}"/>
                </a:ext>
              </a:extLst>
            </p:cNvPr>
            <p:cNvSpPr txBox="1"/>
            <p:nvPr/>
          </p:nvSpPr>
          <p:spPr>
            <a:xfrm>
              <a:off x="392659" y="840932"/>
              <a:ext cx="290075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b="1" dirty="0">
                  <a:solidFill>
                    <a:srgbClr val="0D0D2F"/>
                  </a:solidFill>
                  <a:latin typeface="Lyft Pro UI" panose="02000503030000000000" pitchFamily="50" charset="0"/>
                </a:rPr>
                <a:t>Problem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7EA09CE-7BCE-6293-EA4B-D495CA240F7C}"/>
              </a:ext>
            </a:extLst>
          </p:cNvPr>
          <p:cNvSpPr txBox="1"/>
          <p:nvPr/>
        </p:nvSpPr>
        <p:spPr>
          <a:xfrm>
            <a:off x="321221" y="2420124"/>
            <a:ext cx="33652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Lyft Pro UI" panose="02000503030000000000" pitchFamily="50" charset="0"/>
              </a:rPr>
              <a:t>Objectives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33FD7B2-5E26-AEC2-F802-DB7556ED3007}"/>
              </a:ext>
            </a:extLst>
          </p:cNvPr>
          <p:cNvSpPr/>
          <p:nvPr/>
        </p:nvSpPr>
        <p:spPr>
          <a:xfrm>
            <a:off x="321221" y="3476625"/>
            <a:ext cx="5669944" cy="907607"/>
          </a:xfrm>
          <a:prstGeom prst="roundRect">
            <a:avLst>
              <a:gd name="adj" fmla="val 8119"/>
            </a:avLst>
          </a:prstGeom>
          <a:solidFill>
            <a:schemeClr val="bg1"/>
          </a:solidFill>
          <a:ln>
            <a:solidFill>
              <a:srgbClr val="4777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B7A424B0-926A-B59C-E517-D42AC70D5D64}"/>
              </a:ext>
            </a:extLst>
          </p:cNvPr>
          <p:cNvSpPr/>
          <p:nvPr/>
        </p:nvSpPr>
        <p:spPr>
          <a:xfrm>
            <a:off x="321221" y="4591111"/>
            <a:ext cx="5669944" cy="866058"/>
          </a:xfrm>
          <a:prstGeom prst="roundRect">
            <a:avLst>
              <a:gd name="adj" fmla="val 8119"/>
            </a:avLst>
          </a:prstGeom>
          <a:solidFill>
            <a:schemeClr val="bg1"/>
          </a:solidFill>
          <a:ln>
            <a:solidFill>
              <a:srgbClr val="4777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12ECF56A-C41F-3668-0353-8EA0FE39B218}"/>
              </a:ext>
            </a:extLst>
          </p:cNvPr>
          <p:cNvSpPr/>
          <p:nvPr/>
        </p:nvSpPr>
        <p:spPr>
          <a:xfrm>
            <a:off x="6200834" y="3476625"/>
            <a:ext cx="5669944" cy="907607"/>
          </a:xfrm>
          <a:prstGeom prst="roundRect">
            <a:avLst>
              <a:gd name="adj" fmla="val 8119"/>
            </a:avLst>
          </a:prstGeom>
          <a:solidFill>
            <a:schemeClr val="bg1"/>
          </a:solidFill>
          <a:ln>
            <a:solidFill>
              <a:srgbClr val="4777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A56CEBA2-2CDB-800C-0A9E-60A9A0A91A9C}"/>
              </a:ext>
            </a:extLst>
          </p:cNvPr>
          <p:cNvSpPr/>
          <p:nvPr/>
        </p:nvSpPr>
        <p:spPr>
          <a:xfrm>
            <a:off x="6200834" y="4591111"/>
            <a:ext cx="5669944" cy="866058"/>
          </a:xfrm>
          <a:prstGeom prst="roundRect">
            <a:avLst>
              <a:gd name="adj" fmla="val 8119"/>
            </a:avLst>
          </a:prstGeom>
          <a:solidFill>
            <a:schemeClr val="bg1"/>
          </a:solidFill>
          <a:ln>
            <a:solidFill>
              <a:srgbClr val="4777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EA8C756-FF5A-39D6-8495-4FA6A6A08D2B}"/>
              </a:ext>
            </a:extLst>
          </p:cNvPr>
          <p:cNvSpPr txBox="1"/>
          <p:nvPr/>
        </p:nvSpPr>
        <p:spPr>
          <a:xfrm>
            <a:off x="398736" y="3545708"/>
            <a:ext cx="551491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0D0D2F"/>
                </a:solidFill>
                <a:latin typeface="Lyft Pro UI" panose="02000503030000000000" pitchFamily="50" charset="0"/>
              </a:rPr>
              <a:t>Profile usage across time, users, and locations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496B291-787B-8CCB-70F2-1F338117CC97}"/>
              </a:ext>
            </a:extLst>
          </p:cNvPr>
          <p:cNvSpPr txBox="1"/>
          <p:nvPr/>
        </p:nvSpPr>
        <p:spPr>
          <a:xfrm>
            <a:off x="398735" y="4639419"/>
            <a:ext cx="551491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0D0D2F"/>
                </a:solidFill>
                <a:latin typeface="Lyft Pro UI" panose="02000503030000000000" pitchFamily="50" charset="0"/>
              </a:rPr>
              <a:t>Assess MBTA proximity and integration for first/last-mile opportunities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2B5947D-DB52-AF66-8CB5-01F6B68B1BB2}"/>
              </a:ext>
            </a:extLst>
          </p:cNvPr>
          <p:cNvSpPr txBox="1"/>
          <p:nvPr/>
        </p:nvSpPr>
        <p:spPr>
          <a:xfrm>
            <a:off x="6278348" y="4601710"/>
            <a:ext cx="551491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0D0D2F"/>
                </a:solidFill>
                <a:latin typeface="Lyft Pro UI" panose="02000503030000000000" pitchFamily="50" charset="0"/>
              </a:rPr>
              <a:t>Provide actionable recommendations for operational planning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C8E097E-E93C-738A-4691-C3CE78327BE3}"/>
              </a:ext>
            </a:extLst>
          </p:cNvPr>
          <p:cNvSpPr txBox="1"/>
          <p:nvPr/>
        </p:nvSpPr>
        <p:spPr>
          <a:xfrm>
            <a:off x="6278349" y="3545707"/>
            <a:ext cx="551491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0D0D2F"/>
                </a:solidFill>
                <a:latin typeface="Lyft Pro UI" panose="02000503030000000000" pitchFamily="50" charset="0"/>
              </a:rPr>
              <a:t>Quantify weather's role in demand fluctuations</a:t>
            </a:r>
          </a:p>
        </p:txBody>
      </p:sp>
    </p:spTree>
    <p:extLst>
      <p:ext uri="{BB962C8B-B14F-4D97-AF65-F5344CB8AC3E}">
        <p14:creationId xmlns:p14="http://schemas.microsoft.com/office/powerpoint/2010/main" val="2741939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66BE7-E0A6-CE35-6DC3-7C82BA5DA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A8DC3E14-516E-6A65-4C83-995D1F10F7D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628031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17" imgH="416" progId="TCLayout.ActiveDocument.1">
                  <p:embed/>
                </p:oleObj>
              </mc:Choice>
              <mc:Fallback>
                <p:oleObj name="think-cell Slide" r:id="rId4" imgW="417" imgH="41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2F839A3-F874-B874-191C-5E97BD4AE2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" name="Group 31">
            <a:extLst>
              <a:ext uri="{FF2B5EF4-FFF2-40B4-BE49-F238E27FC236}">
                <a16:creationId xmlns:a16="http://schemas.microsoft.com/office/drawing/2014/main" id="{D09903D7-0ABB-32B3-C54E-651D728FA593}"/>
              </a:ext>
            </a:extLst>
          </p:cNvPr>
          <p:cNvGrpSpPr/>
          <p:nvPr/>
        </p:nvGrpSpPr>
        <p:grpSpPr>
          <a:xfrm>
            <a:off x="2563813" y="1233975"/>
            <a:ext cx="7064374" cy="523220"/>
            <a:chOff x="2563813" y="1233975"/>
            <a:chExt cx="7064374" cy="523220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8DB3C81-3C38-4981-7FD2-0963DC2D615F}"/>
                </a:ext>
              </a:extLst>
            </p:cNvPr>
            <p:cNvSpPr txBox="1"/>
            <p:nvPr/>
          </p:nvSpPr>
          <p:spPr>
            <a:xfrm>
              <a:off x="3302421" y="1233975"/>
              <a:ext cx="632576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2800" b="1">
                  <a:solidFill>
                    <a:srgbClr val="091F2F"/>
                  </a:solidFill>
                  <a:latin typeface="Montserrat" pitchFamily="2" charset="0"/>
                </a:defRPr>
              </a:lvl1pPr>
            </a:lstStyle>
            <a:p>
              <a:r>
                <a:rPr lang="en-US" dirty="0">
                  <a:solidFill>
                    <a:srgbClr val="0D0D2F"/>
                  </a:solidFill>
                  <a:latin typeface="Lyft Pro UI" panose="02000503030000000000" pitchFamily="50" charset="0"/>
                </a:rPr>
                <a:t>Problem Definition and Objectives</a:t>
              </a:r>
            </a:p>
          </p:txBody>
        </p:sp>
        <p:pic>
          <p:nvPicPr>
            <p:cNvPr id="26" name="Graphic 25" descr="Bullseye with solid fill">
              <a:extLst>
                <a:ext uri="{FF2B5EF4-FFF2-40B4-BE49-F238E27FC236}">
                  <a16:creationId xmlns:a16="http://schemas.microsoft.com/office/drawing/2014/main" id="{6942919B-C00D-6F00-A85B-9AECDED53A0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563813" y="1239169"/>
              <a:ext cx="512832" cy="512832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65368C0-52CC-537C-9883-745D113D47AF}"/>
              </a:ext>
            </a:extLst>
          </p:cNvPr>
          <p:cNvGrpSpPr/>
          <p:nvPr/>
        </p:nvGrpSpPr>
        <p:grpSpPr>
          <a:xfrm>
            <a:off x="2563813" y="5357221"/>
            <a:ext cx="7064374" cy="523220"/>
            <a:chOff x="2563813" y="5774927"/>
            <a:chExt cx="7064374" cy="523220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048CCD3-FE20-DC73-5E81-166B96FCF0CF}"/>
                </a:ext>
              </a:extLst>
            </p:cNvPr>
            <p:cNvSpPr txBox="1"/>
            <p:nvPr/>
          </p:nvSpPr>
          <p:spPr>
            <a:xfrm>
              <a:off x="3302421" y="5774927"/>
              <a:ext cx="632576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2800" b="1">
                  <a:solidFill>
                    <a:srgbClr val="091F2F"/>
                  </a:solidFill>
                  <a:latin typeface="Montserrat" pitchFamily="2" charset="0"/>
                </a:defRPr>
              </a:lvl1pPr>
            </a:lstStyle>
            <a:p>
              <a:r>
                <a:rPr lang="en-US" dirty="0">
                  <a:solidFill>
                    <a:srgbClr val="0D0D2F"/>
                  </a:solidFill>
                  <a:latin typeface="Lyft Pro UI" panose="02000503030000000000" pitchFamily="50" charset="0"/>
                </a:rPr>
                <a:t>Conclusion</a:t>
              </a:r>
            </a:p>
          </p:txBody>
        </p:sp>
        <p:pic>
          <p:nvPicPr>
            <p:cNvPr id="6" name="Graphic 5" descr="Rewind with solid fill">
              <a:extLst>
                <a:ext uri="{FF2B5EF4-FFF2-40B4-BE49-F238E27FC236}">
                  <a16:creationId xmlns:a16="http://schemas.microsoft.com/office/drawing/2014/main" id="{33341E79-5CA2-D3A3-E9E3-51C0950FAEF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flipH="1">
              <a:off x="2563813" y="5780121"/>
              <a:ext cx="512832" cy="512832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754F28B-4134-00FF-E715-2A94C5C64013}"/>
              </a:ext>
            </a:extLst>
          </p:cNvPr>
          <p:cNvGrpSpPr/>
          <p:nvPr/>
        </p:nvGrpSpPr>
        <p:grpSpPr>
          <a:xfrm>
            <a:off x="2563813" y="3295599"/>
            <a:ext cx="7064374" cy="523220"/>
            <a:chOff x="2563813" y="3050355"/>
            <a:chExt cx="7064374" cy="52322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134D67C-3252-361F-C3C8-FB5AF3385E20}"/>
                </a:ext>
              </a:extLst>
            </p:cNvPr>
            <p:cNvSpPr txBox="1"/>
            <p:nvPr/>
          </p:nvSpPr>
          <p:spPr>
            <a:xfrm>
              <a:off x="3302421" y="3050355"/>
              <a:ext cx="632576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2800" b="1">
                  <a:solidFill>
                    <a:srgbClr val="091F2F"/>
                  </a:solidFill>
                  <a:latin typeface="Montserrat" pitchFamily="2" charset="0"/>
                </a:defRPr>
              </a:lvl1pPr>
            </a:lstStyle>
            <a:p>
              <a:r>
                <a:rPr lang="en-US" dirty="0">
                  <a:solidFill>
                    <a:srgbClr val="0D0D2F"/>
                  </a:solidFill>
                  <a:latin typeface="Lyft Pro UI" panose="02000503030000000000" pitchFamily="50" charset="0"/>
                </a:rPr>
                <a:t>Weather Impact</a:t>
              </a:r>
            </a:p>
          </p:txBody>
        </p:sp>
        <p:pic>
          <p:nvPicPr>
            <p:cNvPr id="8" name="Graphic 7" descr="Partial sun with solid fill">
              <a:extLst>
                <a:ext uri="{FF2B5EF4-FFF2-40B4-BE49-F238E27FC236}">
                  <a16:creationId xmlns:a16="http://schemas.microsoft.com/office/drawing/2014/main" id="{1C632D55-7AA7-51FA-523E-6ABEDD4FF1D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563813" y="3055549"/>
              <a:ext cx="512832" cy="512832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4F71E17-0604-926C-0451-AA65FB019C31}"/>
              </a:ext>
            </a:extLst>
          </p:cNvPr>
          <p:cNvGrpSpPr/>
          <p:nvPr/>
        </p:nvGrpSpPr>
        <p:grpSpPr>
          <a:xfrm>
            <a:off x="2563813" y="4326411"/>
            <a:ext cx="7064374" cy="523220"/>
            <a:chOff x="2563813" y="3958545"/>
            <a:chExt cx="7064374" cy="523220"/>
          </a:xfrm>
        </p:grpSpPr>
        <p:pic>
          <p:nvPicPr>
            <p:cNvPr id="7" name="Graphic 6" descr="Streetcar with solid fill">
              <a:extLst>
                <a:ext uri="{FF2B5EF4-FFF2-40B4-BE49-F238E27FC236}">
                  <a16:creationId xmlns:a16="http://schemas.microsoft.com/office/drawing/2014/main" id="{8FB36EBA-35D9-CAC3-28D4-240AB528BF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563813" y="3963739"/>
              <a:ext cx="512832" cy="512832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D902849-D49D-E4F5-9D54-3353734C2FDA}"/>
                </a:ext>
              </a:extLst>
            </p:cNvPr>
            <p:cNvSpPr txBox="1"/>
            <p:nvPr/>
          </p:nvSpPr>
          <p:spPr>
            <a:xfrm>
              <a:off x="3302421" y="3958545"/>
              <a:ext cx="632576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2800" b="1">
                  <a:solidFill>
                    <a:srgbClr val="091F2F"/>
                  </a:solidFill>
                  <a:latin typeface="Montserrat" pitchFamily="2" charset="0"/>
                </a:defRPr>
              </a:lvl1pPr>
            </a:lstStyle>
            <a:p>
              <a:r>
                <a:rPr lang="en-US" dirty="0">
                  <a:solidFill>
                    <a:srgbClr val="0D0D2F"/>
                  </a:solidFill>
                  <a:latin typeface="Lyft Pro UI" panose="02000503030000000000" pitchFamily="50" charset="0"/>
                </a:rPr>
                <a:t>MBTA Integration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D00ECA87-359B-8FD4-21E1-A7C4D7DD22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80000"/>
                </a:schemeClr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8FF7F9-549A-025E-986C-10D5741C320C}"/>
              </a:ext>
            </a:extLst>
          </p:cNvPr>
          <p:cNvSpPr txBox="1"/>
          <p:nvPr/>
        </p:nvSpPr>
        <p:spPr>
          <a:xfrm>
            <a:off x="194678" y="171081"/>
            <a:ext cx="117810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D0D2F"/>
                </a:solidFill>
                <a:latin typeface="Lyft Pro UI" panose="02000503030000000000" pitchFamily="50" charset="0"/>
              </a:rPr>
              <a:t>Table of Contents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A5EFDE0-DE1E-B0D7-5B1C-75270BFA61A8}"/>
              </a:ext>
            </a:extLst>
          </p:cNvPr>
          <p:cNvGrpSpPr>
            <a:grpSpLocks noChangeAspect="1"/>
          </p:cNvGrpSpPr>
          <p:nvPr/>
        </p:nvGrpSpPr>
        <p:grpSpPr>
          <a:xfrm>
            <a:off x="11523824" y="6371722"/>
            <a:ext cx="494499" cy="334378"/>
            <a:chOff x="7857722" y="318591"/>
            <a:chExt cx="2080112" cy="1406566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4CE3C7EE-325E-2D5F-8012-371041124E97}"/>
                </a:ext>
              </a:extLst>
            </p:cNvPr>
            <p:cNvGrpSpPr/>
            <p:nvPr userDrawn="1"/>
          </p:nvGrpSpPr>
          <p:grpSpPr>
            <a:xfrm>
              <a:off x="7857724" y="318591"/>
              <a:ext cx="2080110" cy="584948"/>
              <a:chOff x="7857724" y="318591"/>
              <a:chExt cx="2080110" cy="584948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B4BD959C-F269-8E0E-435E-FA2CA46DD44B}"/>
                  </a:ext>
                </a:extLst>
              </p:cNvPr>
              <p:cNvSpPr/>
              <p:nvPr/>
            </p:nvSpPr>
            <p:spPr>
              <a:xfrm>
                <a:off x="7857724" y="318591"/>
                <a:ext cx="1528161" cy="584948"/>
              </a:xfrm>
              <a:custGeom>
                <a:avLst/>
                <a:gdLst>
                  <a:gd name="connsiteX0" fmla="*/ 152967 w 1528161"/>
                  <a:gd name="connsiteY0" fmla="*/ 453381 h 584948"/>
                  <a:gd name="connsiteX1" fmla="*/ 275518 w 1528161"/>
                  <a:gd name="connsiteY1" fmla="*/ 453381 h 584948"/>
                  <a:gd name="connsiteX2" fmla="*/ 357751 w 1528161"/>
                  <a:gd name="connsiteY2" fmla="*/ 389181 h 584948"/>
                  <a:gd name="connsiteX3" fmla="*/ 275518 w 1528161"/>
                  <a:gd name="connsiteY3" fmla="*/ 321813 h 584948"/>
                  <a:gd name="connsiteX4" fmla="*/ 152967 w 1528161"/>
                  <a:gd name="connsiteY4" fmla="*/ 321813 h 584948"/>
                  <a:gd name="connsiteX5" fmla="*/ 152967 w 1528161"/>
                  <a:gd name="connsiteY5" fmla="*/ 225513 h 584948"/>
                  <a:gd name="connsiteX6" fmla="*/ 271381 w 1528161"/>
                  <a:gd name="connsiteY6" fmla="*/ 225513 h 584948"/>
                  <a:gd name="connsiteX7" fmla="*/ 333926 w 1528161"/>
                  <a:gd name="connsiteY7" fmla="*/ 170957 h 584948"/>
                  <a:gd name="connsiteX8" fmla="*/ 271409 w 1528161"/>
                  <a:gd name="connsiteY8" fmla="*/ 115603 h 584948"/>
                  <a:gd name="connsiteX9" fmla="*/ 152996 w 1528161"/>
                  <a:gd name="connsiteY9" fmla="*/ 115603 h 584948"/>
                  <a:gd name="connsiteX10" fmla="*/ 0 w 1528161"/>
                  <a:gd name="connsiteY10" fmla="*/ 71 h 584948"/>
                  <a:gd name="connsiteX11" fmla="*/ 274691 w 1528161"/>
                  <a:gd name="connsiteY11" fmla="*/ 71 h 584948"/>
                  <a:gd name="connsiteX12" fmla="*/ 486865 w 1528161"/>
                  <a:gd name="connsiteY12" fmla="*/ 143679 h 584948"/>
                  <a:gd name="connsiteX13" fmla="*/ 409568 w 1528161"/>
                  <a:gd name="connsiteY13" fmla="*/ 259240 h 584948"/>
                  <a:gd name="connsiteX14" fmla="*/ 510747 w 1528161"/>
                  <a:gd name="connsiteY14" fmla="*/ 394802 h 584948"/>
                  <a:gd name="connsiteX15" fmla="*/ 282081 w 1528161"/>
                  <a:gd name="connsiteY15" fmla="*/ 572936 h 584948"/>
                  <a:gd name="connsiteX16" fmla="*/ 0 w 1528161"/>
                  <a:gd name="connsiteY16" fmla="*/ 572936 h 584948"/>
                  <a:gd name="connsiteX17" fmla="*/ 564904 w 1528161"/>
                  <a:gd name="connsiteY17" fmla="*/ 42 h 584948"/>
                  <a:gd name="connsiteX18" fmla="*/ 717899 w 1528161"/>
                  <a:gd name="connsiteY18" fmla="*/ 42 h 584948"/>
                  <a:gd name="connsiteX19" fmla="*/ 717899 w 1528161"/>
                  <a:gd name="connsiteY19" fmla="*/ 444535 h 584948"/>
                  <a:gd name="connsiteX20" fmla="*/ 991763 w 1528161"/>
                  <a:gd name="connsiteY20" fmla="*/ 444535 h 584948"/>
                  <a:gd name="connsiteX21" fmla="*/ 991763 w 1528161"/>
                  <a:gd name="connsiteY21" fmla="*/ 572936 h 584948"/>
                  <a:gd name="connsiteX22" fmla="*/ 564904 w 1528161"/>
                  <a:gd name="connsiteY22" fmla="*/ 572936 h 584948"/>
                  <a:gd name="connsiteX23" fmla="*/ 1528161 w 1528161"/>
                  <a:gd name="connsiteY23" fmla="*/ 336223 h 584948"/>
                  <a:gd name="connsiteX24" fmla="*/ 1272360 w 1528161"/>
                  <a:gd name="connsiteY24" fmla="*/ 584948 h 584948"/>
                  <a:gd name="connsiteX25" fmla="*/ 1016587 w 1528161"/>
                  <a:gd name="connsiteY25" fmla="*/ 336223 h 584948"/>
                  <a:gd name="connsiteX26" fmla="*/ 1016587 w 1528161"/>
                  <a:gd name="connsiteY26" fmla="*/ 42 h 584948"/>
                  <a:gd name="connsiteX27" fmla="*/ 1169583 w 1528161"/>
                  <a:gd name="connsiteY27" fmla="*/ 42 h 584948"/>
                  <a:gd name="connsiteX28" fmla="*/ 1169583 w 1528161"/>
                  <a:gd name="connsiteY28" fmla="*/ 345068 h 584948"/>
                  <a:gd name="connsiteX29" fmla="*/ 1272360 w 1528161"/>
                  <a:gd name="connsiteY29" fmla="*/ 456576 h 584948"/>
                  <a:gd name="connsiteX30" fmla="*/ 1375194 w 1528161"/>
                  <a:gd name="connsiteY30" fmla="*/ 345068 h 584948"/>
                  <a:gd name="connsiteX31" fmla="*/ 1375194 w 1528161"/>
                  <a:gd name="connsiteY31" fmla="*/ 14 h 584948"/>
                  <a:gd name="connsiteX32" fmla="*/ 1528161 w 1528161"/>
                  <a:gd name="connsiteY32" fmla="*/ 14 h 5849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28161" h="584948">
                    <a:moveTo>
                      <a:pt x="152967" y="453381"/>
                    </a:moveTo>
                    <a:lnTo>
                      <a:pt x="275518" y="453381"/>
                    </a:lnTo>
                    <a:cubicBezTo>
                      <a:pt x="324025" y="453381"/>
                      <a:pt x="357751" y="436546"/>
                      <a:pt x="357751" y="389181"/>
                    </a:cubicBezTo>
                    <a:cubicBezTo>
                      <a:pt x="357751" y="338677"/>
                      <a:pt x="321571" y="321813"/>
                      <a:pt x="275518" y="321813"/>
                    </a:cubicBezTo>
                    <a:lnTo>
                      <a:pt x="152967" y="321813"/>
                    </a:lnTo>
                    <a:close/>
                    <a:moveTo>
                      <a:pt x="152967" y="225513"/>
                    </a:moveTo>
                    <a:lnTo>
                      <a:pt x="271381" y="225513"/>
                    </a:lnTo>
                    <a:cubicBezTo>
                      <a:pt x="297717" y="225513"/>
                      <a:pt x="333926" y="211874"/>
                      <a:pt x="333926" y="170957"/>
                    </a:cubicBezTo>
                    <a:cubicBezTo>
                      <a:pt x="333926" y="129242"/>
                      <a:pt x="303481" y="115603"/>
                      <a:pt x="271409" y="115603"/>
                    </a:cubicBezTo>
                    <a:lnTo>
                      <a:pt x="152996" y="115603"/>
                    </a:lnTo>
                    <a:close/>
                    <a:moveTo>
                      <a:pt x="0" y="71"/>
                    </a:moveTo>
                    <a:lnTo>
                      <a:pt x="274691" y="71"/>
                    </a:lnTo>
                    <a:cubicBezTo>
                      <a:pt x="375870" y="-1555"/>
                      <a:pt x="486865" y="24125"/>
                      <a:pt x="486865" y="143679"/>
                    </a:cubicBezTo>
                    <a:cubicBezTo>
                      <a:pt x="486865" y="195040"/>
                      <a:pt x="455621" y="236755"/>
                      <a:pt x="409568" y="259240"/>
                    </a:cubicBezTo>
                    <a:cubicBezTo>
                      <a:pt x="472085" y="276845"/>
                      <a:pt x="510747" y="329831"/>
                      <a:pt x="510747" y="394802"/>
                    </a:cubicBezTo>
                    <a:cubicBezTo>
                      <a:pt x="510747" y="531191"/>
                      <a:pt x="407942" y="572936"/>
                      <a:pt x="282081" y="572936"/>
                    </a:cubicBezTo>
                    <a:lnTo>
                      <a:pt x="0" y="572936"/>
                    </a:lnTo>
                    <a:close/>
                    <a:moveTo>
                      <a:pt x="564904" y="42"/>
                    </a:moveTo>
                    <a:lnTo>
                      <a:pt x="717899" y="42"/>
                    </a:lnTo>
                    <a:lnTo>
                      <a:pt x="717899" y="444535"/>
                    </a:lnTo>
                    <a:lnTo>
                      <a:pt x="991763" y="444535"/>
                    </a:lnTo>
                    <a:lnTo>
                      <a:pt x="991763" y="572936"/>
                    </a:lnTo>
                    <a:lnTo>
                      <a:pt x="564904" y="572936"/>
                    </a:lnTo>
                    <a:close/>
                    <a:moveTo>
                      <a:pt x="1528161" y="336223"/>
                    </a:moveTo>
                    <a:cubicBezTo>
                      <a:pt x="1528161" y="502315"/>
                      <a:pt x="1450009" y="584948"/>
                      <a:pt x="1272360" y="584948"/>
                    </a:cubicBezTo>
                    <a:cubicBezTo>
                      <a:pt x="1094711" y="584948"/>
                      <a:pt x="1016587" y="502315"/>
                      <a:pt x="1016587" y="336223"/>
                    </a:cubicBezTo>
                    <a:lnTo>
                      <a:pt x="1016587" y="42"/>
                    </a:lnTo>
                    <a:lnTo>
                      <a:pt x="1169583" y="42"/>
                    </a:lnTo>
                    <a:lnTo>
                      <a:pt x="1169583" y="345068"/>
                    </a:lnTo>
                    <a:cubicBezTo>
                      <a:pt x="1169583" y="418855"/>
                      <a:pt x="1197545" y="456576"/>
                      <a:pt x="1272360" y="456576"/>
                    </a:cubicBezTo>
                    <a:cubicBezTo>
                      <a:pt x="1347203" y="456576"/>
                      <a:pt x="1375194" y="418855"/>
                      <a:pt x="1375194" y="345068"/>
                    </a:cubicBezTo>
                    <a:lnTo>
                      <a:pt x="1375194" y="14"/>
                    </a:lnTo>
                    <a:lnTo>
                      <a:pt x="1528161" y="14"/>
                    </a:lnTo>
                    <a:close/>
                  </a:path>
                </a:pathLst>
              </a:custGeom>
              <a:solidFill>
                <a:srgbClr val="2CA3E1"/>
              </a:solidFill>
              <a:ln w="285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79B5DA85-B236-B8B1-8E0B-1CCC96E563F9}"/>
                  </a:ext>
                </a:extLst>
              </p:cNvPr>
              <p:cNvSpPr/>
              <p:nvPr/>
            </p:nvSpPr>
            <p:spPr>
              <a:xfrm>
                <a:off x="9461613" y="318634"/>
                <a:ext cx="476221" cy="572893"/>
              </a:xfrm>
              <a:custGeom>
                <a:avLst/>
                <a:gdLst>
                  <a:gd name="connsiteX0" fmla="*/ 0 w 476221"/>
                  <a:gd name="connsiteY0" fmla="*/ 0 h 572893"/>
                  <a:gd name="connsiteX1" fmla="*/ 467976 w 476221"/>
                  <a:gd name="connsiteY1" fmla="*/ 0 h 572893"/>
                  <a:gd name="connsiteX2" fmla="*/ 467976 w 476221"/>
                  <a:gd name="connsiteY2" fmla="*/ 119555 h 572893"/>
                  <a:gd name="connsiteX3" fmla="*/ 152967 w 476221"/>
                  <a:gd name="connsiteY3" fmla="*/ 119555 h 572893"/>
                  <a:gd name="connsiteX4" fmla="*/ 152967 w 476221"/>
                  <a:gd name="connsiteY4" fmla="*/ 219850 h 572893"/>
                  <a:gd name="connsiteX5" fmla="*/ 440869 w 476221"/>
                  <a:gd name="connsiteY5" fmla="*/ 219850 h 572893"/>
                  <a:gd name="connsiteX6" fmla="*/ 440869 w 476221"/>
                  <a:gd name="connsiteY6" fmla="*/ 335410 h 572893"/>
                  <a:gd name="connsiteX7" fmla="*/ 152967 w 476221"/>
                  <a:gd name="connsiteY7" fmla="*/ 335410 h 572893"/>
                  <a:gd name="connsiteX8" fmla="*/ 152967 w 476221"/>
                  <a:gd name="connsiteY8" fmla="*/ 444493 h 572893"/>
                  <a:gd name="connsiteX9" fmla="*/ 476222 w 476221"/>
                  <a:gd name="connsiteY9" fmla="*/ 444493 h 572893"/>
                  <a:gd name="connsiteX10" fmla="*/ 476222 w 476221"/>
                  <a:gd name="connsiteY10" fmla="*/ 572893 h 572893"/>
                  <a:gd name="connsiteX11" fmla="*/ 0 w 476221"/>
                  <a:gd name="connsiteY11" fmla="*/ 572893 h 5728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76221" h="572893">
                    <a:moveTo>
                      <a:pt x="0" y="0"/>
                    </a:moveTo>
                    <a:lnTo>
                      <a:pt x="467976" y="0"/>
                    </a:lnTo>
                    <a:lnTo>
                      <a:pt x="467976" y="119555"/>
                    </a:lnTo>
                    <a:lnTo>
                      <a:pt x="152967" y="119555"/>
                    </a:lnTo>
                    <a:lnTo>
                      <a:pt x="152967" y="219850"/>
                    </a:lnTo>
                    <a:lnTo>
                      <a:pt x="440869" y="219850"/>
                    </a:lnTo>
                    <a:lnTo>
                      <a:pt x="440869" y="335410"/>
                    </a:lnTo>
                    <a:lnTo>
                      <a:pt x="152967" y="335410"/>
                    </a:lnTo>
                    <a:lnTo>
                      <a:pt x="152967" y="444493"/>
                    </a:lnTo>
                    <a:lnTo>
                      <a:pt x="476222" y="444493"/>
                    </a:lnTo>
                    <a:lnTo>
                      <a:pt x="476222" y="572893"/>
                    </a:lnTo>
                    <a:lnTo>
                      <a:pt x="0" y="572893"/>
                    </a:lnTo>
                    <a:close/>
                  </a:path>
                </a:pathLst>
              </a:custGeom>
              <a:solidFill>
                <a:srgbClr val="2CA3E1"/>
              </a:solidFill>
              <a:ln w="285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549FA0E-AE27-6450-4D89-BB99AA3CC33C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7857722" y="1038476"/>
              <a:ext cx="2080110" cy="686681"/>
              <a:chOff x="10011822" y="312071"/>
              <a:chExt cx="1789355" cy="590698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5B77E6C1-57AC-A54A-9BB2-BCE9012A60A2}"/>
                  </a:ext>
                </a:extLst>
              </p:cNvPr>
              <p:cNvSpPr/>
              <p:nvPr userDrawn="1"/>
            </p:nvSpPr>
            <p:spPr>
              <a:xfrm>
                <a:off x="10011822" y="318605"/>
                <a:ext cx="1020238" cy="584106"/>
              </a:xfrm>
              <a:custGeom>
                <a:avLst/>
                <a:gdLst>
                  <a:gd name="connsiteX0" fmla="*/ 209720 w 1020238"/>
                  <a:gd name="connsiteY0" fmla="*/ 219108 h 584106"/>
                  <a:gd name="connsiteX1" fmla="*/ 90479 w 1020238"/>
                  <a:gd name="connsiteY1" fmla="*/ 365912 h 584106"/>
                  <a:gd name="connsiteX2" fmla="*/ 209749 w 1020238"/>
                  <a:gd name="connsiteY2" fmla="*/ 511917 h 584106"/>
                  <a:gd name="connsiteX3" fmla="*/ 327363 w 1020238"/>
                  <a:gd name="connsiteY3" fmla="*/ 365912 h 584106"/>
                  <a:gd name="connsiteX4" fmla="*/ 209720 w 1020238"/>
                  <a:gd name="connsiteY4" fmla="*/ 219079 h 584106"/>
                  <a:gd name="connsiteX5" fmla="*/ 0 w 1020238"/>
                  <a:gd name="connsiteY5" fmla="*/ 0 h 584106"/>
                  <a:gd name="connsiteX6" fmla="*/ 93761 w 1020238"/>
                  <a:gd name="connsiteY6" fmla="*/ 0 h 584106"/>
                  <a:gd name="connsiteX7" fmla="*/ 93761 w 1020238"/>
                  <a:gd name="connsiteY7" fmla="*/ 211832 h 584106"/>
                  <a:gd name="connsiteX8" fmla="*/ 95415 w 1020238"/>
                  <a:gd name="connsiteY8" fmla="*/ 211832 h 584106"/>
                  <a:gd name="connsiteX9" fmla="*/ 222075 w 1020238"/>
                  <a:gd name="connsiteY9" fmla="*/ 146833 h 584106"/>
                  <a:gd name="connsiteX10" fmla="*/ 421095 w 1020238"/>
                  <a:gd name="connsiteY10" fmla="*/ 367481 h 584106"/>
                  <a:gd name="connsiteX11" fmla="*/ 237683 w 1020238"/>
                  <a:gd name="connsiteY11" fmla="*/ 584107 h 584106"/>
                  <a:gd name="connsiteX12" fmla="*/ 90451 w 1020238"/>
                  <a:gd name="connsiteY12" fmla="*/ 515912 h 584106"/>
                  <a:gd name="connsiteX13" fmla="*/ 88824 w 1020238"/>
                  <a:gd name="connsiteY13" fmla="*/ 515912 h 584106"/>
                  <a:gd name="connsiteX14" fmla="*/ 88824 w 1020238"/>
                  <a:gd name="connsiteY14" fmla="*/ 572865 h 584106"/>
                  <a:gd name="connsiteX15" fmla="*/ 29 w 1020238"/>
                  <a:gd name="connsiteY15" fmla="*/ 572865 h 584106"/>
                  <a:gd name="connsiteX16" fmla="*/ 467148 w 1020238"/>
                  <a:gd name="connsiteY16" fmla="*/ 572922 h 584106"/>
                  <a:gd name="connsiteX17" fmla="*/ 560909 w 1020238"/>
                  <a:gd name="connsiteY17" fmla="*/ 572922 h 584106"/>
                  <a:gd name="connsiteX18" fmla="*/ 560909 w 1020238"/>
                  <a:gd name="connsiteY18" fmla="*/ 158075 h 584106"/>
                  <a:gd name="connsiteX19" fmla="*/ 467148 w 1020238"/>
                  <a:gd name="connsiteY19" fmla="*/ 158075 h 584106"/>
                  <a:gd name="connsiteX20" fmla="*/ 626307 w 1020238"/>
                  <a:gd name="connsiteY20" fmla="*/ 29 h 584106"/>
                  <a:gd name="connsiteX21" fmla="*/ 720039 w 1020238"/>
                  <a:gd name="connsiteY21" fmla="*/ 29 h 584106"/>
                  <a:gd name="connsiteX22" fmla="*/ 720039 w 1020238"/>
                  <a:gd name="connsiteY22" fmla="*/ 325823 h 584106"/>
                  <a:gd name="connsiteX23" fmla="*/ 889470 w 1020238"/>
                  <a:gd name="connsiteY23" fmla="*/ 158132 h 584106"/>
                  <a:gd name="connsiteX24" fmla="*/ 1004603 w 1020238"/>
                  <a:gd name="connsiteY24" fmla="*/ 158132 h 584106"/>
                  <a:gd name="connsiteX25" fmla="*/ 841763 w 1020238"/>
                  <a:gd name="connsiteY25" fmla="*/ 310586 h 584106"/>
                  <a:gd name="connsiteX26" fmla="*/ 1020239 w 1020238"/>
                  <a:gd name="connsiteY26" fmla="*/ 572950 h 584106"/>
                  <a:gd name="connsiteX27" fmla="*/ 905934 w 1020238"/>
                  <a:gd name="connsiteY27" fmla="*/ 572950 h 584106"/>
                  <a:gd name="connsiteX28" fmla="*/ 775993 w 1020238"/>
                  <a:gd name="connsiteY28" fmla="*/ 371562 h 584106"/>
                  <a:gd name="connsiteX29" fmla="*/ 720039 w 1020238"/>
                  <a:gd name="connsiteY29" fmla="*/ 424491 h 584106"/>
                  <a:gd name="connsiteX30" fmla="*/ 720039 w 1020238"/>
                  <a:gd name="connsiteY30" fmla="*/ 572950 h 584106"/>
                  <a:gd name="connsiteX31" fmla="*/ 626279 w 1020238"/>
                  <a:gd name="connsiteY31" fmla="*/ 572950 h 5841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020238" h="584106">
                    <a:moveTo>
                      <a:pt x="209720" y="219108"/>
                    </a:moveTo>
                    <a:cubicBezTo>
                      <a:pt x="130797" y="219108"/>
                      <a:pt x="90479" y="277658"/>
                      <a:pt x="90479" y="365912"/>
                    </a:cubicBezTo>
                    <a:cubicBezTo>
                      <a:pt x="90479" y="449344"/>
                      <a:pt x="134078" y="511917"/>
                      <a:pt x="209749" y="511917"/>
                    </a:cubicBezTo>
                    <a:cubicBezTo>
                      <a:pt x="295263" y="511917"/>
                      <a:pt x="327363" y="438101"/>
                      <a:pt x="327363" y="365912"/>
                    </a:cubicBezTo>
                    <a:cubicBezTo>
                      <a:pt x="327363" y="290498"/>
                      <a:pt x="287046" y="219079"/>
                      <a:pt x="209720" y="219079"/>
                    </a:cubicBezTo>
                    <a:moveTo>
                      <a:pt x="0" y="0"/>
                    </a:moveTo>
                    <a:lnTo>
                      <a:pt x="93761" y="0"/>
                    </a:lnTo>
                    <a:lnTo>
                      <a:pt x="93761" y="211832"/>
                    </a:lnTo>
                    <a:lnTo>
                      <a:pt x="95415" y="211832"/>
                    </a:lnTo>
                    <a:cubicBezTo>
                      <a:pt x="120924" y="171714"/>
                      <a:pt x="174396" y="146833"/>
                      <a:pt x="222075" y="146833"/>
                    </a:cubicBezTo>
                    <a:cubicBezTo>
                      <a:pt x="356125" y="146833"/>
                      <a:pt x="421095" y="246329"/>
                      <a:pt x="421095" y="367481"/>
                    </a:cubicBezTo>
                    <a:cubicBezTo>
                      <a:pt x="421095" y="478990"/>
                      <a:pt x="363544" y="584107"/>
                      <a:pt x="237683" y="584107"/>
                    </a:cubicBezTo>
                    <a:cubicBezTo>
                      <a:pt x="180131" y="584107"/>
                      <a:pt x="118442" y="570468"/>
                      <a:pt x="90451" y="515912"/>
                    </a:cubicBezTo>
                    <a:lnTo>
                      <a:pt x="88824" y="515912"/>
                    </a:lnTo>
                    <a:lnTo>
                      <a:pt x="88824" y="572865"/>
                    </a:lnTo>
                    <a:lnTo>
                      <a:pt x="29" y="572865"/>
                    </a:lnTo>
                    <a:close/>
                    <a:moveTo>
                      <a:pt x="467148" y="572922"/>
                    </a:moveTo>
                    <a:lnTo>
                      <a:pt x="560909" y="572922"/>
                    </a:lnTo>
                    <a:lnTo>
                      <a:pt x="560909" y="158075"/>
                    </a:lnTo>
                    <a:lnTo>
                      <a:pt x="467148" y="158075"/>
                    </a:lnTo>
                    <a:close/>
                    <a:moveTo>
                      <a:pt x="626307" y="29"/>
                    </a:moveTo>
                    <a:lnTo>
                      <a:pt x="720039" y="29"/>
                    </a:lnTo>
                    <a:lnTo>
                      <a:pt x="720039" y="325823"/>
                    </a:lnTo>
                    <a:lnTo>
                      <a:pt x="889470" y="158132"/>
                    </a:lnTo>
                    <a:lnTo>
                      <a:pt x="1004603" y="158132"/>
                    </a:lnTo>
                    <a:lnTo>
                      <a:pt x="841763" y="310586"/>
                    </a:lnTo>
                    <a:lnTo>
                      <a:pt x="1020239" y="572950"/>
                    </a:lnTo>
                    <a:lnTo>
                      <a:pt x="905934" y="572950"/>
                    </a:lnTo>
                    <a:lnTo>
                      <a:pt x="775993" y="371562"/>
                    </a:lnTo>
                    <a:lnTo>
                      <a:pt x="720039" y="424491"/>
                    </a:lnTo>
                    <a:lnTo>
                      <a:pt x="720039" y="572950"/>
                    </a:lnTo>
                    <a:lnTo>
                      <a:pt x="626279" y="572950"/>
                    </a:lnTo>
                    <a:close/>
                  </a:path>
                </a:pathLst>
              </a:custGeom>
              <a:solidFill>
                <a:srgbClr val="0090DA"/>
              </a:solidFill>
              <a:ln w="285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371668A1-2065-DD3E-BA5A-69747C3AC5C7}"/>
                  </a:ext>
                </a:extLst>
              </p:cNvPr>
              <p:cNvSpPr/>
              <p:nvPr/>
            </p:nvSpPr>
            <p:spPr>
              <a:xfrm>
                <a:off x="11000788" y="464411"/>
                <a:ext cx="800389" cy="438358"/>
              </a:xfrm>
              <a:custGeom>
                <a:avLst/>
                <a:gdLst>
                  <a:gd name="connsiteX0" fmla="*/ 312555 w 800389"/>
                  <a:gd name="connsiteY0" fmla="*/ 183184 h 438358"/>
                  <a:gd name="connsiteX1" fmla="*/ 205611 w 800389"/>
                  <a:gd name="connsiteY1" fmla="*/ 73274 h 438358"/>
                  <a:gd name="connsiteX2" fmla="*/ 93761 w 800389"/>
                  <a:gd name="connsiteY2" fmla="*/ 183184 h 438358"/>
                  <a:gd name="connsiteX3" fmla="*/ 93761 w 800389"/>
                  <a:gd name="connsiteY3" fmla="*/ 243390 h 438358"/>
                  <a:gd name="connsiteX4" fmla="*/ 208094 w 800389"/>
                  <a:gd name="connsiteY4" fmla="*/ 366112 h 438358"/>
                  <a:gd name="connsiteX5" fmla="*/ 311727 w 800389"/>
                  <a:gd name="connsiteY5" fmla="*/ 297118 h 438358"/>
                  <a:gd name="connsiteX6" fmla="*/ 400551 w 800389"/>
                  <a:gd name="connsiteY6" fmla="*/ 297118 h 438358"/>
                  <a:gd name="connsiteX7" fmla="*/ 208094 w 800389"/>
                  <a:gd name="connsiteY7" fmla="*/ 438358 h 438358"/>
                  <a:gd name="connsiteX8" fmla="*/ 0 w 800389"/>
                  <a:gd name="connsiteY8" fmla="*/ 220106 h 438358"/>
                  <a:gd name="connsiteX9" fmla="*/ 205611 w 800389"/>
                  <a:gd name="connsiteY9" fmla="*/ 1084 h 438358"/>
                  <a:gd name="connsiteX10" fmla="*/ 406287 w 800389"/>
                  <a:gd name="connsiteY10" fmla="*/ 243390 h 438358"/>
                  <a:gd name="connsiteX11" fmla="*/ 515826 w 800389"/>
                  <a:gd name="connsiteY11" fmla="*/ 292867 h 438358"/>
                  <a:gd name="connsiteX12" fmla="*/ 612012 w 800389"/>
                  <a:gd name="connsiteY12" fmla="*/ 365056 h 438358"/>
                  <a:gd name="connsiteX13" fmla="*/ 706629 w 800389"/>
                  <a:gd name="connsiteY13" fmla="*/ 310500 h 438358"/>
                  <a:gd name="connsiteX14" fmla="*/ 567643 w 800389"/>
                  <a:gd name="connsiteY14" fmla="*/ 241507 h 438358"/>
                  <a:gd name="connsiteX15" fmla="*/ 431111 w 800389"/>
                  <a:gd name="connsiteY15" fmla="*/ 118756 h 438358"/>
                  <a:gd name="connsiteX16" fmla="*/ 608760 w 800389"/>
                  <a:gd name="connsiteY16" fmla="*/ 0 h 438358"/>
                  <a:gd name="connsiteX17" fmla="*/ 786408 w 800389"/>
                  <a:gd name="connsiteY17" fmla="*/ 127573 h 438358"/>
                  <a:gd name="connsiteX18" fmla="*/ 688539 w 800389"/>
                  <a:gd name="connsiteY18" fmla="*/ 127573 h 438358"/>
                  <a:gd name="connsiteX19" fmla="*/ 602168 w 800389"/>
                  <a:gd name="connsiteY19" fmla="*/ 72218 h 438358"/>
                  <a:gd name="connsiteX20" fmla="*/ 524871 w 800389"/>
                  <a:gd name="connsiteY20" fmla="*/ 114733 h 438358"/>
                  <a:gd name="connsiteX21" fmla="*/ 663030 w 800389"/>
                  <a:gd name="connsiteY21" fmla="*/ 181330 h 438358"/>
                  <a:gd name="connsiteX22" fmla="*/ 800389 w 800389"/>
                  <a:gd name="connsiteY22" fmla="*/ 302482 h 438358"/>
                  <a:gd name="connsiteX23" fmla="*/ 610386 w 800389"/>
                  <a:gd name="connsiteY23" fmla="*/ 437274 h 438358"/>
                  <a:gd name="connsiteX24" fmla="*/ 422066 w 800389"/>
                  <a:gd name="connsiteY24" fmla="*/ 292867 h 4383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800389" h="438358">
                    <a:moveTo>
                      <a:pt x="312555" y="183184"/>
                    </a:moveTo>
                    <a:cubicBezTo>
                      <a:pt x="309245" y="125433"/>
                      <a:pt x="268956" y="73274"/>
                      <a:pt x="205611" y="73274"/>
                    </a:cubicBezTo>
                    <a:cubicBezTo>
                      <a:pt x="140641" y="73274"/>
                      <a:pt x="96215" y="121410"/>
                      <a:pt x="93761" y="183184"/>
                    </a:cubicBezTo>
                    <a:close/>
                    <a:moveTo>
                      <a:pt x="93761" y="243390"/>
                    </a:moveTo>
                    <a:cubicBezTo>
                      <a:pt x="93761" y="308360"/>
                      <a:pt x="129941" y="366112"/>
                      <a:pt x="208094" y="366112"/>
                    </a:cubicBezTo>
                    <a:cubicBezTo>
                      <a:pt x="262364" y="366112"/>
                      <a:pt x="295263" y="342857"/>
                      <a:pt x="311727" y="297118"/>
                    </a:cubicBezTo>
                    <a:lnTo>
                      <a:pt x="400551" y="297118"/>
                    </a:lnTo>
                    <a:cubicBezTo>
                      <a:pt x="379979" y="387797"/>
                      <a:pt x="301027" y="438358"/>
                      <a:pt x="208094" y="438358"/>
                    </a:cubicBezTo>
                    <a:cubicBezTo>
                      <a:pt x="74843" y="438358"/>
                      <a:pt x="0" y="347679"/>
                      <a:pt x="0" y="220106"/>
                    </a:cubicBezTo>
                    <a:cubicBezTo>
                      <a:pt x="0" y="102178"/>
                      <a:pt x="78952" y="1084"/>
                      <a:pt x="205611" y="1084"/>
                    </a:cubicBezTo>
                    <a:cubicBezTo>
                      <a:pt x="339690" y="1084"/>
                      <a:pt x="421923" y="119013"/>
                      <a:pt x="406287" y="243390"/>
                    </a:cubicBezTo>
                    <a:close/>
                    <a:moveTo>
                      <a:pt x="515826" y="292867"/>
                    </a:moveTo>
                    <a:cubicBezTo>
                      <a:pt x="520734" y="345796"/>
                      <a:pt x="561850" y="365056"/>
                      <a:pt x="612012" y="365056"/>
                    </a:cubicBezTo>
                    <a:cubicBezTo>
                      <a:pt x="647393" y="365056"/>
                      <a:pt x="709083" y="357837"/>
                      <a:pt x="706629" y="310500"/>
                    </a:cubicBezTo>
                    <a:cubicBezTo>
                      <a:pt x="704146" y="262364"/>
                      <a:pt x="635894" y="256743"/>
                      <a:pt x="567643" y="241507"/>
                    </a:cubicBezTo>
                    <a:cubicBezTo>
                      <a:pt x="498535" y="227040"/>
                      <a:pt x="431111" y="202986"/>
                      <a:pt x="431111" y="118756"/>
                    </a:cubicBezTo>
                    <a:cubicBezTo>
                      <a:pt x="431111" y="28105"/>
                      <a:pt x="531434" y="0"/>
                      <a:pt x="608760" y="0"/>
                    </a:cubicBezTo>
                    <a:cubicBezTo>
                      <a:pt x="695929" y="0"/>
                      <a:pt x="774881" y="35296"/>
                      <a:pt x="786408" y="127573"/>
                    </a:cubicBezTo>
                    <a:lnTo>
                      <a:pt x="688539" y="127573"/>
                    </a:lnTo>
                    <a:cubicBezTo>
                      <a:pt x="680292" y="84259"/>
                      <a:pt x="643285" y="72218"/>
                      <a:pt x="602168" y="72218"/>
                    </a:cubicBezTo>
                    <a:cubicBezTo>
                      <a:pt x="575033" y="72218"/>
                      <a:pt x="524871" y="78638"/>
                      <a:pt x="524871" y="114733"/>
                    </a:cubicBezTo>
                    <a:cubicBezTo>
                      <a:pt x="524871" y="159673"/>
                      <a:pt x="593950" y="166093"/>
                      <a:pt x="663030" y="181330"/>
                    </a:cubicBezTo>
                    <a:cubicBezTo>
                      <a:pt x="731282" y="196566"/>
                      <a:pt x="800389" y="220649"/>
                      <a:pt x="800389" y="302482"/>
                    </a:cubicBezTo>
                    <a:cubicBezTo>
                      <a:pt x="800389" y="401179"/>
                      <a:pt x="698383" y="437274"/>
                      <a:pt x="610386" y="437274"/>
                    </a:cubicBezTo>
                    <a:cubicBezTo>
                      <a:pt x="503471" y="437274"/>
                      <a:pt x="423692" y="390765"/>
                      <a:pt x="422066" y="292867"/>
                    </a:cubicBezTo>
                    <a:close/>
                  </a:path>
                </a:pathLst>
              </a:custGeom>
              <a:solidFill>
                <a:srgbClr val="0090DA"/>
              </a:solidFill>
              <a:ln w="285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F1E7BEB-DBBC-8924-A9B2-5502A59AB097}"/>
                  </a:ext>
                </a:extLst>
              </p:cNvPr>
              <p:cNvSpPr/>
              <p:nvPr/>
            </p:nvSpPr>
            <p:spPr>
              <a:xfrm>
                <a:off x="10470924" y="312071"/>
                <a:ext cx="109853" cy="107057"/>
              </a:xfrm>
              <a:custGeom>
                <a:avLst/>
                <a:gdLst>
                  <a:gd name="connsiteX0" fmla="*/ 109853 w 109853"/>
                  <a:gd name="connsiteY0" fmla="*/ 53529 h 107057"/>
                  <a:gd name="connsiteX1" fmla="*/ 54927 w 109853"/>
                  <a:gd name="connsiteY1" fmla="*/ 107057 h 107057"/>
                  <a:gd name="connsiteX2" fmla="*/ 0 w 109853"/>
                  <a:gd name="connsiteY2" fmla="*/ 53529 h 107057"/>
                  <a:gd name="connsiteX3" fmla="*/ 54927 w 109853"/>
                  <a:gd name="connsiteY3" fmla="*/ 0 h 107057"/>
                  <a:gd name="connsiteX4" fmla="*/ 109853 w 109853"/>
                  <a:gd name="connsiteY4" fmla="*/ 53529 h 1070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9853" h="107057">
                    <a:moveTo>
                      <a:pt x="109853" y="53529"/>
                    </a:moveTo>
                    <a:cubicBezTo>
                      <a:pt x="109853" y="83089"/>
                      <a:pt x="85258" y="107057"/>
                      <a:pt x="54927" y="107057"/>
                    </a:cubicBezTo>
                    <a:cubicBezTo>
                      <a:pt x="24596" y="107057"/>
                      <a:pt x="0" y="83089"/>
                      <a:pt x="0" y="53529"/>
                    </a:cubicBezTo>
                    <a:cubicBezTo>
                      <a:pt x="0" y="23968"/>
                      <a:pt x="24596" y="0"/>
                      <a:pt x="54927" y="0"/>
                    </a:cubicBezTo>
                    <a:cubicBezTo>
                      <a:pt x="85258" y="0"/>
                      <a:pt x="109853" y="23968"/>
                      <a:pt x="109853" y="53529"/>
                    </a:cubicBezTo>
                  </a:path>
                </a:pathLst>
              </a:custGeom>
              <a:solidFill>
                <a:srgbClr val="EA8735"/>
              </a:solidFill>
              <a:ln w="285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80F7AF-5A58-10E3-6684-0844412FD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12A66-822E-4D68-834D-298940211017}" type="slidenum">
              <a:rPr lang="en-US" smtClean="0"/>
              <a:t>5</a:t>
            </a:fld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AFEA96D-E082-4270-B72C-84A02C7B7203}"/>
              </a:ext>
            </a:extLst>
          </p:cNvPr>
          <p:cNvCxnSpPr/>
          <p:nvPr/>
        </p:nvCxnSpPr>
        <p:spPr>
          <a:xfrm>
            <a:off x="11411339" y="6356791"/>
            <a:ext cx="0" cy="364243"/>
          </a:xfrm>
          <a:prstGeom prst="line">
            <a:avLst/>
          </a:prstGeom>
          <a:ln>
            <a:solidFill>
              <a:srgbClr val="EA87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3C06C19-C067-6677-E26F-F5ABF0EA6F4B}"/>
              </a:ext>
            </a:extLst>
          </p:cNvPr>
          <p:cNvGrpSpPr/>
          <p:nvPr/>
        </p:nvGrpSpPr>
        <p:grpSpPr>
          <a:xfrm>
            <a:off x="2563813" y="2264787"/>
            <a:ext cx="7064374" cy="523220"/>
            <a:chOff x="2563813" y="2142165"/>
            <a:chExt cx="7064374" cy="523220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10E1CA3-4E7E-D815-140A-75FAAAB47D84}"/>
                </a:ext>
              </a:extLst>
            </p:cNvPr>
            <p:cNvSpPr txBox="1"/>
            <p:nvPr/>
          </p:nvSpPr>
          <p:spPr>
            <a:xfrm>
              <a:off x="3302421" y="2142165"/>
              <a:ext cx="632576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rgbClr val="0D0D2F"/>
                  </a:solidFill>
                  <a:latin typeface="Lyft Pro UI" panose="02000503030000000000" pitchFamily="50" charset="0"/>
                </a:rPr>
                <a:t>Usage Profile</a:t>
              </a:r>
            </a:p>
          </p:txBody>
        </p:sp>
        <p:pic>
          <p:nvPicPr>
            <p:cNvPr id="2" name="Graphic 1" descr="Signal with solid fill">
              <a:extLst>
                <a:ext uri="{FF2B5EF4-FFF2-40B4-BE49-F238E27FC236}">
                  <a16:creationId xmlns:a16="http://schemas.microsoft.com/office/drawing/2014/main" id="{2CBDDE01-6195-B892-98F8-B55344AE0C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2563813" y="2147359"/>
              <a:ext cx="512832" cy="5128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29216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40FED-8327-BD46-02F6-509FF6999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F5B02C7D-54EA-F41F-32A2-64778A1CD45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515876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417" imgH="416" progId="TCLayout.ActiveDocument.1">
                  <p:embed/>
                </p:oleObj>
              </mc:Choice>
              <mc:Fallback>
                <p:oleObj name="think-cell Slide" r:id="rId17" imgW="417" imgH="41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D91EBB7-CBEC-AF60-8C34-2E5ED8AA1A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BA1AD-5A1C-0753-B3F5-25F18EC2A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12A66-822E-4D68-834D-298940211017}" type="slidenum">
              <a:rPr lang="en-US" smtClean="0"/>
              <a:t>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E9C58C-BB10-7111-7B97-83294E62D3E0}"/>
              </a:ext>
            </a:extLst>
          </p:cNvPr>
          <p:cNvSpPr txBox="1"/>
          <p:nvPr/>
        </p:nvSpPr>
        <p:spPr>
          <a:xfrm>
            <a:off x="194678" y="171081"/>
            <a:ext cx="117810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D0D2F"/>
                </a:solidFill>
                <a:latin typeface="Lyft Pro UI" panose="02000503030000000000" pitchFamily="50" charset="0"/>
              </a:rPr>
              <a:t>Ridership Grew 3x Since 2018, Driven by Members and Key University Hubs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4F8EBA-2FD6-8D77-B949-2908F8E732D3}"/>
              </a:ext>
            </a:extLst>
          </p:cNvPr>
          <p:cNvSpPr txBox="1"/>
          <p:nvPr/>
        </p:nvSpPr>
        <p:spPr>
          <a:xfrm>
            <a:off x="80817" y="6535572"/>
            <a:ext cx="3557733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-US" sz="1100" dirty="0">
                <a:solidFill>
                  <a:srgbClr val="0D0D2F"/>
                </a:solidFill>
                <a:latin typeface="Lyft Pro UI" panose="02000503030000000000" pitchFamily="50" charset="0"/>
              </a:rPr>
              <a:t>Source: </a:t>
            </a:r>
            <a:r>
              <a:rPr lang="en-US" sz="1100" dirty="0" err="1">
                <a:solidFill>
                  <a:srgbClr val="0D0D2F"/>
                </a:solidFill>
                <a:latin typeface="Lyft Pro UI" panose="02000503030000000000" pitchFamily="50" charset="0"/>
              </a:rPr>
              <a:t>Bluebikes</a:t>
            </a:r>
            <a:r>
              <a:rPr lang="en-US" sz="1100" dirty="0">
                <a:solidFill>
                  <a:srgbClr val="0D0D2F"/>
                </a:solidFill>
                <a:latin typeface="Lyft Pro UI" panose="02000503030000000000" pitchFamily="50" charset="0"/>
              </a:rPr>
              <a:t> trip &amp; station data</a:t>
            </a: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926DBBAA-7830-15E5-F8E7-52836BA502E1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5205413" y="3602038"/>
            <a:ext cx="0" cy="58737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05" name="Chart 204">
            <a:extLst>
              <a:ext uri="{FF2B5EF4-FFF2-40B4-BE49-F238E27FC236}">
                <a16:creationId xmlns:a16="http://schemas.microsoft.com/office/drawing/2014/main" id="{416E9F64-283D-074F-0735-57D70A54F9D1}"/>
              </a:ext>
            </a:extLst>
          </p:cNvPr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276004380"/>
              </p:ext>
            </p:extLst>
          </p:nvPr>
        </p:nvGraphicFramePr>
        <p:xfrm>
          <a:off x="1117600" y="1747838"/>
          <a:ext cx="5219700" cy="2362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C51CFB34-34DB-7207-74FE-44F216A3807C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733425" y="2921000"/>
            <a:ext cx="64135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fld id="{54E3F495-2D9E-4D94-900C-585383B509C9}" type="datetime'2'''''''''''''''''''''' ''''''M''''''''il''lio''''''''''n'''''">
              <a:rPr lang="en-US" altLang="en-US" sz="1400" smtClean="0">
                <a:solidFill>
                  <a:srgbClr val="0D0D2F"/>
                </a:solidFill>
                <a:effectLst/>
                <a:latin typeface="Lyft Pro UI" panose="02000503030000000000" pitchFamily="50" charset="0"/>
                <a:sym typeface="Lyft Pro UI" panose="02000503030000000000" pitchFamily="50" charset="0"/>
              </a:rPr>
              <a:pPr marL="0" lv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 Million</a:t>
            </a:fld>
            <a:endParaRPr lang="en-US" sz="1400" dirty="0">
              <a:solidFill>
                <a:srgbClr val="0D0D2F"/>
              </a:solidFill>
              <a:latin typeface="Lyft Pro UI" panose="02000503030000000000" pitchFamily="50" charset="0"/>
              <a:sym typeface="Lyft Pro UI" panose="02000503030000000000" pitchFamily="50" charset="0"/>
            </a:endParaRP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C51CFB34-34DB-7207-74FE-44F216A3807C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723900" y="2330450"/>
            <a:ext cx="65087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fld id="{3B83DB36-7ADD-4DF0-84C1-2CBD01582C04}" type="datetime'''''4'''''' ''M''''''''il''''l''''i''''''''''''o''n'''">
              <a:rPr lang="en-US" altLang="en-US" sz="1400" smtClean="0">
                <a:solidFill>
                  <a:srgbClr val="0D0D2F"/>
                </a:solidFill>
                <a:effectLst/>
                <a:latin typeface="Lyft Pro UI" panose="02000503030000000000" pitchFamily="50" charset="0"/>
                <a:sym typeface="Lyft Pro UI" panose="02000503030000000000" pitchFamily="50" charset="0"/>
              </a:rPr>
              <a:pPr marL="0" lv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4 Million</a:t>
            </a:fld>
            <a:endParaRPr lang="en-US" sz="1400" dirty="0">
              <a:solidFill>
                <a:srgbClr val="0D0D2F"/>
              </a:solidFill>
              <a:latin typeface="Lyft Pro UI" panose="02000503030000000000" pitchFamily="50" charset="0"/>
              <a:sym typeface="Lyft Pro UI" panose="02000503030000000000" pitchFamily="50" charset="0"/>
            </a:endParaRPr>
          </a:p>
        </p:txBody>
      </p:sp>
      <p:sp>
        <p:nvSpPr>
          <p:cNvPr id="203" name="Text Placeholder 2">
            <a:extLst>
              <a:ext uri="{FF2B5EF4-FFF2-40B4-BE49-F238E27FC236}">
                <a16:creationId xmlns:a16="http://schemas.microsoft.com/office/drawing/2014/main" id="{C51CFB34-34DB-7207-74FE-44F216A3807C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720725" y="1739900"/>
            <a:ext cx="65405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fld id="{52DD29A9-0FC2-45F7-BEEE-72B63FB6D2BF}" type="datetime'''''''6'''' ''M''i''''l''''''''''''''''li''''''''o''''''n'">
              <a:rPr lang="en-US" altLang="en-US" sz="1400" smtClean="0">
                <a:solidFill>
                  <a:srgbClr val="0D0D2F"/>
                </a:solidFill>
                <a:effectLst/>
                <a:latin typeface="Lyft Pro UI" panose="02000503030000000000" pitchFamily="50" charset="0"/>
                <a:sym typeface="Lyft Pro UI" panose="02000503030000000000" pitchFamily="50" charset="0"/>
              </a:rPr>
              <a:pPr marL="0" lv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6 Million</a:t>
            </a:fld>
            <a:endParaRPr lang="en-US" sz="1400" dirty="0">
              <a:solidFill>
                <a:srgbClr val="0D0D2F"/>
              </a:solidFill>
              <a:latin typeface="Lyft Pro UI" panose="02000503030000000000" pitchFamily="50" charset="0"/>
              <a:sym typeface="Lyft Pro UI" panose="02000503030000000000" pitchFamily="50" charset="0"/>
            </a:endParaRPr>
          </a:p>
        </p:txBody>
      </p:sp>
      <p:sp>
        <p:nvSpPr>
          <p:cNvPr id="113" name="Text Placeholder 2">
            <a:extLst>
              <a:ext uri="{FF2B5EF4-FFF2-40B4-BE49-F238E27FC236}">
                <a16:creationId xmlns:a16="http://schemas.microsoft.com/office/drawing/2014/main" id="{C51CFB34-34DB-7207-74FE-44F216A3807C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385763" y="2093913"/>
            <a:ext cx="192088" cy="124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effectLst/>
                <a:latin typeface="Lyft Pro UI" panose="02000503030000000000" pitchFamily="50" charset="0"/>
                <a:sym typeface="Lyft Pro UI" panose="02000503030000000000" pitchFamily="50" charset="0"/>
              </a:rPr>
              <a:t>Number of Trips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A851FEF7-B48B-C7E1-4A25-AA8590511B97}"/>
              </a:ext>
            </a:extLst>
          </p:cNvPr>
          <p:cNvSpPr/>
          <p:nvPr/>
        </p:nvSpPr>
        <p:spPr>
          <a:xfrm>
            <a:off x="6553200" y="1485899"/>
            <a:ext cx="5638800" cy="4666981"/>
          </a:xfrm>
          <a:prstGeom prst="rect">
            <a:avLst/>
          </a:prstGeom>
          <a:solidFill>
            <a:srgbClr val="4777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8" name="Chart 197">
            <a:extLst>
              <a:ext uri="{FF2B5EF4-FFF2-40B4-BE49-F238E27FC236}">
                <a16:creationId xmlns:a16="http://schemas.microsoft.com/office/drawing/2014/main" id="{E4ED6889-CD2D-C6CD-4C10-8A3C76FDB5E7}"/>
              </a:ext>
            </a:extLst>
          </p:cNvPr>
          <p:cNvGraphicFramePr/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893996417"/>
              </p:ext>
            </p:extLst>
          </p:nvPr>
        </p:nvGraphicFramePr>
        <p:xfrm>
          <a:off x="1055688" y="4097338"/>
          <a:ext cx="6596062" cy="22590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"/>
          </a:graphicData>
        </a:graphic>
      </p:graphicFrame>
      <p:sp>
        <p:nvSpPr>
          <p:cNvPr id="169" name="Text Placeholder 2">
            <a:extLst>
              <a:ext uri="{FF2B5EF4-FFF2-40B4-BE49-F238E27FC236}">
                <a16:creationId xmlns:a16="http://schemas.microsoft.com/office/drawing/2014/main" id="{C51CFB34-34DB-7207-74FE-44F216A3807C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385763" y="4632325"/>
            <a:ext cx="384175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effectLst/>
                <a:latin typeface="Lyft Pro UI" panose="02000503030000000000" pitchFamily="50" charset="0"/>
                <a:sym typeface="Lyft Pro UI" panose="02000503030000000000" pitchFamily="50" charset="0"/>
              </a:rPr>
              <a:t>Station Name</a:t>
            </a:r>
          </a:p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effectLst/>
                <a:latin typeface="Lyft Pro UI" panose="02000503030000000000" pitchFamily="50" charset="0"/>
                <a:sym typeface="Lyft Pro UI" panose="02000503030000000000" pitchFamily="50" charset="0"/>
              </a:rPr>
              <a:t>(Top 5 Stations)</a:t>
            </a:r>
            <a:endParaRPr lang="en-US" sz="1400" dirty="0">
              <a:latin typeface="Lyft Pro UI" panose="02000503030000000000" pitchFamily="50" charset="0"/>
              <a:sym typeface="Lyft Pro UI" panose="02000503030000000000" pitchFamily="50" charset="0"/>
            </a:endParaRPr>
          </a:p>
        </p:txBody>
      </p:sp>
      <p:sp>
        <p:nvSpPr>
          <p:cNvPr id="123" name="Text Placeholder 2">
            <a:extLst>
              <a:ext uri="{FF2B5EF4-FFF2-40B4-BE49-F238E27FC236}">
                <a16:creationId xmlns:a16="http://schemas.microsoft.com/office/drawing/2014/main" id="{C51CFB34-34DB-7207-74FE-44F216A3807C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1427163" y="4471988"/>
            <a:ext cx="108902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fld id="{2A6F1BAB-547E-4B82-9E95-680190D2ECDA}" type="datetime'''''''''''''''''''MIT'' ''''''M''''as''''s ''A''''''''''ve'">
              <a:rPr lang="en-US" altLang="en-US" sz="1400" smtClean="0">
                <a:latin typeface="Lyft Pro UI" panose="02000503030000000000" pitchFamily="50" charset="0"/>
                <a:sym typeface="Lyft Pro UI" panose="02000503030000000000" pitchFamily="50" charset="0"/>
              </a:rPr>
              <a:pPr marL="0" lv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MIT Mass Ave</a:t>
            </a:fld>
            <a:endParaRPr lang="en-US" sz="1400" dirty="0">
              <a:latin typeface="Lyft Pro UI" panose="02000503030000000000" pitchFamily="50" charset="0"/>
              <a:sym typeface="Lyft Pro UI" panose="02000503030000000000" pitchFamily="50" charset="0"/>
            </a:endParaRPr>
          </a:p>
        </p:txBody>
      </p:sp>
      <p:sp>
        <p:nvSpPr>
          <p:cNvPr id="125" name="Text Placeholder 2">
            <a:extLst>
              <a:ext uri="{FF2B5EF4-FFF2-40B4-BE49-F238E27FC236}">
                <a16:creationId xmlns:a16="http://schemas.microsoft.com/office/drawing/2014/main" id="{C51CFB34-34DB-7207-74FE-44F216A3807C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912813" y="4802188"/>
            <a:ext cx="160337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fld id="{E312F7A3-5A56-4AEE-9084-D41C60A09018}" type="datetime'C''e''''n''''''''tral'''' S''''q M''ass A''v''''''''''e'''''''">
              <a:rPr lang="en-US" altLang="en-US" sz="1400" smtClean="0">
                <a:latin typeface="Lyft Pro UI" panose="02000503030000000000" pitchFamily="50" charset="0"/>
                <a:sym typeface="Lyft Pro UI" panose="02000503030000000000" pitchFamily="50" charset="0"/>
              </a:rPr>
              <a:pPr marL="0" lv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Central Sq Mass Ave</a:t>
            </a:fld>
            <a:endParaRPr lang="en-US" sz="1400" dirty="0">
              <a:latin typeface="Lyft Pro UI" panose="02000503030000000000" pitchFamily="50" charset="0"/>
              <a:sym typeface="Lyft Pro UI" panose="02000503030000000000" pitchFamily="50" charset="0"/>
            </a:endParaRPr>
          </a:p>
        </p:txBody>
      </p:sp>
      <p:sp>
        <p:nvSpPr>
          <p:cNvPr id="126" name="Text Placeholder 2">
            <a:extLst>
              <a:ext uri="{FF2B5EF4-FFF2-40B4-BE49-F238E27FC236}">
                <a16:creationId xmlns:a16="http://schemas.microsoft.com/office/drawing/2014/main" id="{C51CFB34-34DB-7207-74FE-44F216A3807C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1620838" y="5130800"/>
            <a:ext cx="89535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fld id="{8178B86B-FB6B-4D7B-93CD-1606B67292CA}" type="datetime'''''H''a''r''v''a''''r''''d'' Sq'''''''''''''''">
              <a:rPr lang="en-US" altLang="en-US" sz="1400" smtClean="0">
                <a:latin typeface="Lyft Pro UI" panose="02000503030000000000" pitchFamily="50" charset="0"/>
                <a:sym typeface="Lyft Pro UI" panose="02000503030000000000" pitchFamily="50" charset="0"/>
              </a:rPr>
              <a:pPr marL="0" lv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Harvard Sq</a:t>
            </a:fld>
            <a:endParaRPr lang="en-US" sz="1400" dirty="0">
              <a:latin typeface="Lyft Pro UI" panose="02000503030000000000" pitchFamily="50" charset="0"/>
              <a:sym typeface="Lyft Pro UI" panose="02000503030000000000" pitchFamily="50" charset="0"/>
            </a:endParaRPr>
          </a:p>
        </p:txBody>
      </p:sp>
      <p:sp>
        <p:nvSpPr>
          <p:cNvPr id="134" name="Text Placeholder 2">
            <a:extLst>
              <a:ext uri="{FF2B5EF4-FFF2-40B4-BE49-F238E27FC236}">
                <a16:creationId xmlns:a16="http://schemas.microsoft.com/office/drawing/2014/main" id="{04B5BD89-40EE-C10B-8326-4A9320858B26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1468438" y="5461000"/>
            <a:ext cx="104775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fld id="{EAB70D4E-FE15-4415-A7C5-5096FCF5BCDE}" type="datetime'''''''''M''''I''T P''''a''c''i''fi''c'' ''''''''''St'">
              <a:rPr lang="en-US" altLang="en-US" sz="1400" smtClean="0">
                <a:latin typeface="Lyft Pro UI" panose="02000503030000000000" pitchFamily="50" charset="0"/>
                <a:sym typeface="Lyft Pro UI" panose="02000503030000000000" pitchFamily="50" charset="0"/>
              </a:rPr>
              <a:pPr marL="0" lv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MIT Pacific St</a:t>
            </a:fld>
            <a:endParaRPr lang="en-US" sz="1400" dirty="0">
              <a:latin typeface="Lyft Pro UI" panose="02000503030000000000" pitchFamily="50" charset="0"/>
              <a:sym typeface="Lyft Pro UI" panose="02000503030000000000" pitchFamily="50" charset="0"/>
            </a:endParaRPr>
          </a:p>
        </p:txBody>
      </p:sp>
      <p:sp>
        <p:nvSpPr>
          <p:cNvPr id="135" name="Text Placeholder 2">
            <a:extLst>
              <a:ext uri="{FF2B5EF4-FFF2-40B4-BE49-F238E27FC236}">
                <a16:creationId xmlns:a16="http://schemas.microsoft.com/office/drawing/2014/main" id="{0FFFD8E5-3370-E0C8-4410-CC5FF52AEA27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auto">
          <a:xfrm>
            <a:off x="1463675" y="5789613"/>
            <a:ext cx="1052513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fld id="{F7C5A66B-B033-42E9-A3B0-08D73FC6E990}" type="datetime'M''IT'''' ''''''V''as''s''a''''''r'''''' ''''''''''St'''''''">
              <a:rPr lang="en-US" altLang="en-US" sz="1400" smtClean="0">
                <a:latin typeface="Lyft Pro UI" panose="02000503030000000000" pitchFamily="50" charset="0"/>
                <a:sym typeface="Lyft Pro UI" panose="02000503030000000000" pitchFamily="50" charset="0"/>
              </a:rPr>
              <a:pPr marL="0" lv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MIT Vassar St</a:t>
            </a:fld>
            <a:endParaRPr lang="en-US" sz="1400" dirty="0">
              <a:latin typeface="Lyft Pro UI" panose="02000503030000000000" pitchFamily="50" charset="0"/>
              <a:sym typeface="Lyft Pro UI" panose="02000503030000000000" pitchFamily="50" charset="0"/>
            </a:endParaRP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08DB8E3B-43EF-21CC-9768-D218A7BB6B2D}"/>
              </a:ext>
            </a:extLst>
          </p:cNvPr>
          <p:cNvSpPr txBox="1"/>
          <p:nvPr/>
        </p:nvSpPr>
        <p:spPr>
          <a:xfrm>
            <a:off x="6716318" y="1741897"/>
            <a:ext cx="5382417" cy="415498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342900" indent="-342900">
              <a:buClr>
                <a:srgbClr val="EA8735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Lyft Pro UI" panose="02000503030000000000" pitchFamily="50" charset="0"/>
              </a:rPr>
              <a:t>Ridership grew 3x from 2018-2024; COVID dip in 2020, but strong recovery</a:t>
            </a:r>
          </a:p>
          <a:p>
            <a:pPr marL="342900" indent="-342900">
              <a:buClr>
                <a:srgbClr val="EA8735"/>
              </a:buClr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bg1"/>
              </a:solidFill>
              <a:latin typeface="Lyft Pro UI" panose="02000503030000000000" pitchFamily="50" charset="0"/>
            </a:endParaRPr>
          </a:p>
          <a:p>
            <a:pPr marL="342900" indent="-342900">
              <a:buClr>
                <a:srgbClr val="EA8735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Lyft Pro UI" panose="02000503030000000000" pitchFamily="50" charset="0"/>
              </a:rPr>
              <a:t>Members: 65-85% share, short trips (13-15 min) for commuting</a:t>
            </a:r>
          </a:p>
          <a:p>
            <a:pPr marL="342900" indent="-342900">
              <a:buClr>
                <a:srgbClr val="EA8735"/>
              </a:buClr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bg1"/>
              </a:solidFill>
              <a:latin typeface="Lyft Pro UI" panose="02000503030000000000" pitchFamily="50" charset="0"/>
            </a:endParaRPr>
          </a:p>
          <a:p>
            <a:pPr marL="342900" indent="-342900">
              <a:buClr>
                <a:srgbClr val="EA8735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Lyft Pro UI" panose="02000503030000000000" pitchFamily="50" charset="0"/>
              </a:rPr>
              <a:t>Casual users: Peak in summer, longer leisure trips (20-25 min)</a:t>
            </a:r>
          </a:p>
          <a:p>
            <a:pPr marL="342900" indent="-342900">
              <a:buClr>
                <a:srgbClr val="EA8735"/>
              </a:buClr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bg1"/>
              </a:solidFill>
              <a:latin typeface="Lyft Pro UI" panose="02000503030000000000" pitchFamily="50" charset="0"/>
            </a:endParaRPr>
          </a:p>
          <a:p>
            <a:pPr marL="342900" indent="-342900">
              <a:buClr>
                <a:srgbClr val="EA8735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Lyft Pro UI" panose="02000503030000000000" pitchFamily="50" charset="0"/>
              </a:rPr>
              <a:t>Top stations near universities/downtown (e.g., MIT at Mass Ave: 517K trips)</a:t>
            </a:r>
          </a:p>
        </p:txBody>
      </p:sp>
    </p:spTree>
    <p:extLst>
      <p:ext uri="{BB962C8B-B14F-4D97-AF65-F5344CB8AC3E}">
        <p14:creationId xmlns:p14="http://schemas.microsoft.com/office/powerpoint/2010/main" val="2279326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0B286-393C-01A6-D574-C31E04A0A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6987D8F-F5E2-FD40-C5F5-447A49C12CA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32307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17" imgH="416" progId="TCLayout.ActiveDocument.1">
                  <p:embed/>
                </p:oleObj>
              </mc:Choice>
              <mc:Fallback>
                <p:oleObj name="think-cell Slide" r:id="rId4" imgW="417" imgH="41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8DC3E14-516E-6A65-4C83-995D1F10F7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1621EE7-468D-ED71-24FB-44926A85EDEB}"/>
              </a:ext>
            </a:extLst>
          </p:cNvPr>
          <p:cNvGrpSpPr/>
          <p:nvPr/>
        </p:nvGrpSpPr>
        <p:grpSpPr>
          <a:xfrm>
            <a:off x="2563813" y="2264787"/>
            <a:ext cx="7064374" cy="523220"/>
            <a:chOff x="2563813" y="2142165"/>
            <a:chExt cx="7064374" cy="523220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30A16C2-53C8-18DC-59BC-A55F98ADCA52}"/>
                </a:ext>
              </a:extLst>
            </p:cNvPr>
            <p:cNvSpPr txBox="1"/>
            <p:nvPr/>
          </p:nvSpPr>
          <p:spPr>
            <a:xfrm>
              <a:off x="3302421" y="2142165"/>
              <a:ext cx="632576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rgbClr val="0D0D2F"/>
                  </a:solidFill>
                  <a:latin typeface="Lyft Pro UI" panose="02000503030000000000" pitchFamily="50" charset="0"/>
                </a:rPr>
                <a:t>Usage Profile</a:t>
              </a:r>
            </a:p>
          </p:txBody>
        </p:sp>
        <p:pic>
          <p:nvPicPr>
            <p:cNvPr id="2" name="Graphic 1" descr="Signal with solid fill">
              <a:extLst>
                <a:ext uri="{FF2B5EF4-FFF2-40B4-BE49-F238E27FC236}">
                  <a16:creationId xmlns:a16="http://schemas.microsoft.com/office/drawing/2014/main" id="{D28CBFE0-AC79-C029-693E-2B4D970D6EB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563813" y="2147359"/>
              <a:ext cx="512832" cy="512832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BEA00EF-61E3-6E24-CC2E-570051D5AFDD}"/>
              </a:ext>
            </a:extLst>
          </p:cNvPr>
          <p:cNvGrpSpPr/>
          <p:nvPr/>
        </p:nvGrpSpPr>
        <p:grpSpPr>
          <a:xfrm>
            <a:off x="2563813" y="1233975"/>
            <a:ext cx="7064374" cy="523220"/>
            <a:chOff x="2563813" y="1233975"/>
            <a:chExt cx="7064374" cy="523220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351F7ED-5EA8-B703-A7CB-4B8FFA2F5312}"/>
                </a:ext>
              </a:extLst>
            </p:cNvPr>
            <p:cNvSpPr txBox="1"/>
            <p:nvPr/>
          </p:nvSpPr>
          <p:spPr>
            <a:xfrm>
              <a:off x="3302421" y="1233975"/>
              <a:ext cx="632576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2800" b="1">
                  <a:solidFill>
                    <a:srgbClr val="091F2F"/>
                  </a:solidFill>
                  <a:latin typeface="Montserrat" pitchFamily="2" charset="0"/>
                </a:defRPr>
              </a:lvl1pPr>
            </a:lstStyle>
            <a:p>
              <a:r>
                <a:rPr lang="en-US" dirty="0">
                  <a:solidFill>
                    <a:srgbClr val="0D0D2F"/>
                  </a:solidFill>
                  <a:latin typeface="Lyft Pro UI" panose="02000503030000000000" pitchFamily="50" charset="0"/>
                </a:rPr>
                <a:t>Problem Definition and Objectives</a:t>
              </a:r>
            </a:p>
          </p:txBody>
        </p:sp>
        <p:pic>
          <p:nvPicPr>
            <p:cNvPr id="26" name="Graphic 25" descr="Bullseye with solid fill">
              <a:extLst>
                <a:ext uri="{FF2B5EF4-FFF2-40B4-BE49-F238E27FC236}">
                  <a16:creationId xmlns:a16="http://schemas.microsoft.com/office/drawing/2014/main" id="{E3C39D75-CE36-06EA-B104-9D4C1B84EF9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563813" y="1239169"/>
              <a:ext cx="512832" cy="512832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C781013-F12E-C5C0-CA12-1183B6AE8E6B}"/>
              </a:ext>
            </a:extLst>
          </p:cNvPr>
          <p:cNvGrpSpPr/>
          <p:nvPr/>
        </p:nvGrpSpPr>
        <p:grpSpPr>
          <a:xfrm>
            <a:off x="2563813" y="5357221"/>
            <a:ext cx="7064374" cy="523220"/>
            <a:chOff x="2563813" y="5774927"/>
            <a:chExt cx="7064374" cy="523220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5300D77-5128-D986-61BE-7755BD01BC70}"/>
                </a:ext>
              </a:extLst>
            </p:cNvPr>
            <p:cNvSpPr txBox="1"/>
            <p:nvPr/>
          </p:nvSpPr>
          <p:spPr>
            <a:xfrm>
              <a:off x="3302421" y="5774927"/>
              <a:ext cx="632576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2800" b="1">
                  <a:solidFill>
                    <a:srgbClr val="091F2F"/>
                  </a:solidFill>
                  <a:latin typeface="Montserrat" pitchFamily="2" charset="0"/>
                </a:defRPr>
              </a:lvl1pPr>
            </a:lstStyle>
            <a:p>
              <a:r>
                <a:rPr lang="en-US" dirty="0">
                  <a:solidFill>
                    <a:srgbClr val="0D0D2F"/>
                  </a:solidFill>
                  <a:latin typeface="Lyft Pro UI" panose="02000503030000000000" pitchFamily="50" charset="0"/>
                </a:rPr>
                <a:t>Conclusion</a:t>
              </a:r>
            </a:p>
          </p:txBody>
        </p:sp>
        <p:pic>
          <p:nvPicPr>
            <p:cNvPr id="6" name="Graphic 5" descr="Rewind with solid fill">
              <a:extLst>
                <a:ext uri="{FF2B5EF4-FFF2-40B4-BE49-F238E27FC236}">
                  <a16:creationId xmlns:a16="http://schemas.microsoft.com/office/drawing/2014/main" id="{965A0201-BFC3-3F25-DAF7-7CFD98C43E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flipH="1">
              <a:off x="2563813" y="5780121"/>
              <a:ext cx="512832" cy="512832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55FF311-28F0-71F1-3F91-479E5B406E04}"/>
              </a:ext>
            </a:extLst>
          </p:cNvPr>
          <p:cNvGrpSpPr/>
          <p:nvPr/>
        </p:nvGrpSpPr>
        <p:grpSpPr>
          <a:xfrm>
            <a:off x="2563813" y="4326411"/>
            <a:ext cx="7064374" cy="523220"/>
            <a:chOff x="2563813" y="3958545"/>
            <a:chExt cx="7064374" cy="523220"/>
          </a:xfrm>
        </p:grpSpPr>
        <p:pic>
          <p:nvPicPr>
            <p:cNvPr id="7" name="Graphic 6" descr="Streetcar with solid fill">
              <a:extLst>
                <a:ext uri="{FF2B5EF4-FFF2-40B4-BE49-F238E27FC236}">
                  <a16:creationId xmlns:a16="http://schemas.microsoft.com/office/drawing/2014/main" id="{380EB891-F541-D381-992A-7F41C21094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563813" y="3963739"/>
              <a:ext cx="512832" cy="512832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A77A214-43AF-C7E1-437F-F174DFEB9833}"/>
                </a:ext>
              </a:extLst>
            </p:cNvPr>
            <p:cNvSpPr txBox="1"/>
            <p:nvPr/>
          </p:nvSpPr>
          <p:spPr>
            <a:xfrm>
              <a:off x="3302421" y="3958545"/>
              <a:ext cx="632576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2800" b="1">
                  <a:solidFill>
                    <a:srgbClr val="091F2F"/>
                  </a:solidFill>
                  <a:latin typeface="Montserrat" pitchFamily="2" charset="0"/>
                </a:defRPr>
              </a:lvl1pPr>
            </a:lstStyle>
            <a:p>
              <a:r>
                <a:rPr lang="en-US" dirty="0">
                  <a:solidFill>
                    <a:srgbClr val="0D0D2F"/>
                  </a:solidFill>
                  <a:latin typeface="Lyft Pro UI" panose="02000503030000000000" pitchFamily="50" charset="0"/>
                </a:rPr>
                <a:t>MBTA Integration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87B7B269-EBC8-9698-62E8-C7167197A8F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80000"/>
                </a:schemeClr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610363-54C6-B6B7-AF4D-DE46A46B1B20}"/>
              </a:ext>
            </a:extLst>
          </p:cNvPr>
          <p:cNvSpPr txBox="1"/>
          <p:nvPr/>
        </p:nvSpPr>
        <p:spPr>
          <a:xfrm>
            <a:off x="194678" y="171081"/>
            <a:ext cx="117810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D0D2F"/>
                </a:solidFill>
                <a:latin typeface="Lyft Pro UI" panose="02000503030000000000" pitchFamily="50" charset="0"/>
              </a:rPr>
              <a:t>Table of Contents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137549C-82BB-8DFA-F782-9EBA24AD8D50}"/>
              </a:ext>
            </a:extLst>
          </p:cNvPr>
          <p:cNvGrpSpPr>
            <a:grpSpLocks noChangeAspect="1"/>
          </p:cNvGrpSpPr>
          <p:nvPr/>
        </p:nvGrpSpPr>
        <p:grpSpPr>
          <a:xfrm>
            <a:off x="11523824" y="6371722"/>
            <a:ext cx="494499" cy="334378"/>
            <a:chOff x="7857722" y="318591"/>
            <a:chExt cx="2080112" cy="1406566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15B535A4-BD67-C900-8731-32B5BBD5771D}"/>
                </a:ext>
              </a:extLst>
            </p:cNvPr>
            <p:cNvGrpSpPr/>
            <p:nvPr userDrawn="1"/>
          </p:nvGrpSpPr>
          <p:grpSpPr>
            <a:xfrm>
              <a:off x="7857724" y="318591"/>
              <a:ext cx="2080110" cy="584948"/>
              <a:chOff x="7857724" y="318591"/>
              <a:chExt cx="2080110" cy="584948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C1DAD0FD-25AA-7E11-B3A9-D53868A33609}"/>
                  </a:ext>
                </a:extLst>
              </p:cNvPr>
              <p:cNvSpPr/>
              <p:nvPr/>
            </p:nvSpPr>
            <p:spPr>
              <a:xfrm>
                <a:off x="7857724" y="318591"/>
                <a:ext cx="1528161" cy="584948"/>
              </a:xfrm>
              <a:custGeom>
                <a:avLst/>
                <a:gdLst>
                  <a:gd name="connsiteX0" fmla="*/ 152967 w 1528161"/>
                  <a:gd name="connsiteY0" fmla="*/ 453381 h 584948"/>
                  <a:gd name="connsiteX1" fmla="*/ 275518 w 1528161"/>
                  <a:gd name="connsiteY1" fmla="*/ 453381 h 584948"/>
                  <a:gd name="connsiteX2" fmla="*/ 357751 w 1528161"/>
                  <a:gd name="connsiteY2" fmla="*/ 389181 h 584948"/>
                  <a:gd name="connsiteX3" fmla="*/ 275518 w 1528161"/>
                  <a:gd name="connsiteY3" fmla="*/ 321813 h 584948"/>
                  <a:gd name="connsiteX4" fmla="*/ 152967 w 1528161"/>
                  <a:gd name="connsiteY4" fmla="*/ 321813 h 584948"/>
                  <a:gd name="connsiteX5" fmla="*/ 152967 w 1528161"/>
                  <a:gd name="connsiteY5" fmla="*/ 225513 h 584948"/>
                  <a:gd name="connsiteX6" fmla="*/ 271381 w 1528161"/>
                  <a:gd name="connsiteY6" fmla="*/ 225513 h 584948"/>
                  <a:gd name="connsiteX7" fmla="*/ 333926 w 1528161"/>
                  <a:gd name="connsiteY7" fmla="*/ 170957 h 584948"/>
                  <a:gd name="connsiteX8" fmla="*/ 271409 w 1528161"/>
                  <a:gd name="connsiteY8" fmla="*/ 115603 h 584948"/>
                  <a:gd name="connsiteX9" fmla="*/ 152996 w 1528161"/>
                  <a:gd name="connsiteY9" fmla="*/ 115603 h 584948"/>
                  <a:gd name="connsiteX10" fmla="*/ 0 w 1528161"/>
                  <a:gd name="connsiteY10" fmla="*/ 71 h 584948"/>
                  <a:gd name="connsiteX11" fmla="*/ 274691 w 1528161"/>
                  <a:gd name="connsiteY11" fmla="*/ 71 h 584948"/>
                  <a:gd name="connsiteX12" fmla="*/ 486865 w 1528161"/>
                  <a:gd name="connsiteY12" fmla="*/ 143679 h 584948"/>
                  <a:gd name="connsiteX13" fmla="*/ 409568 w 1528161"/>
                  <a:gd name="connsiteY13" fmla="*/ 259240 h 584948"/>
                  <a:gd name="connsiteX14" fmla="*/ 510747 w 1528161"/>
                  <a:gd name="connsiteY14" fmla="*/ 394802 h 584948"/>
                  <a:gd name="connsiteX15" fmla="*/ 282081 w 1528161"/>
                  <a:gd name="connsiteY15" fmla="*/ 572936 h 584948"/>
                  <a:gd name="connsiteX16" fmla="*/ 0 w 1528161"/>
                  <a:gd name="connsiteY16" fmla="*/ 572936 h 584948"/>
                  <a:gd name="connsiteX17" fmla="*/ 564904 w 1528161"/>
                  <a:gd name="connsiteY17" fmla="*/ 42 h 584948"/>
                  <a:gd name="connsiteX18" fmla="*/ 717899 w 1528161"/>
                  <a:gd name="connsiteY18" fmla="*/ 42 h 584948"/>
                  <a:gd name="connsiteX19" fmla="*/ 717899 w 1528161"/>
                  <a:gd name="connsiteY19" fmla="*/ 444535 h 584948"/>
                  <a:gd name="connsiteX20" fmla="*/ 991763 w 1528161"/>
                  <a:gd name="connsiteY20" fmla="*/ 444535 h 584948"/>
                  <a:gd name="connsiteX21" fmla="*/ 991763 w 1528161"/>
                  <a:gd name="connsiteY21" fmla="*/ 572936 h 584948"/>
                  <a:gd name="connsiteX22" fmla="*/ 564904 w 1528161"/>
                  <a:gd name="connsiteY22" fmla="*/ 572936 h 584948"/>
                  <a:gd name="connsiteX23" fmla="*/ 1528161 w 1528161"/>
                  <a:gd name="connsiteY23" fmla="*/ 336223 h 584948"/>
                  <a:gd name="connsiteX24" fmla="*/ 1272360 w 1528161"/>
                  <a:gd name="connsiteY24" fmla="*/ 584948 h 584948"/>
                  <a:gd name="connsiteX25" fmla="*/ 1016587 w 1528161"/>
                  <a:gd name="connsiteY25" fmla="*/ 336223 h 584948"/>
                  <a:gd name="connsiteX26" fmla="*/ 1016587 w 1528161"/>
                  <a:gd name="connsiteY26" fmla="*/ 42 h 584948"/>
                  <a:gd name="connsiteX27" fmla="*/ 1169583 w 1528161"/>
                  <a:gd name="connsiteY27" fmla="*/ 42 h 584948"/>
                  <a:gd name="connsiteX28" fmla="*/ 1169583 w 1528161"/>
                  <a:gd name="connsiteY28" fmla="*/ 345068 h 584948"/>
                  <a:gd name="connsiteX29" fmla="*/ 1272360 w 1528161"/>
                  <a:gd name="connsiteY29" fmla="*/ 456576 h 584948"/>
                  <a:gd name="connsiteX30" fmla="*/ 1375194 w 1528161"/>
                  <a:gd name="connsiteY30" fmla="*/ 345068 h 584948"/>
                  <a:gd name="connsiteX31" fmla="*/ 1375194 w 1528161"/>
                  <a:gd name="connsiteY31" fmla="*/ 14 h 584948"/>
                  <a:gd name="connsiteX32" fmla="*/ 1528161 w 1528161"/>
                  <a:gd name="connsiteY32" fmla="*/ 14 h 5849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28161" h="584948">
                    <a:moveTo>
                      <a:pt x="152967" y="453381"/>
                    </a:moveTo>
                    <a:lnTo>
                      <a:pt x="275518" y="453381"/>
                    </a:lnTo>
                    <a:cubicBezTo>
                      <a:pt x="324025" y="453381"/>
                      <a:pt x="357751" y="436546"/>
                      <a:pt x="357751" y="389181"/>
                    </a:cubicBezTo>
                    <a:cubicBezTo>
                      <a:pt x="357751" y="338677"/>
                      <a:pt x="321571" y="321813"/>
                      <a:pt x="275518" y="321813"/>
                    </a:cubicBezTo>
                    <a:lnTo>
                      <a:pt x="152967" y="321813"/>
                    </a:lnTo>
                    <a:close/>
                    <a:moveTo>
                      <a:pt x="152967" y="225513"/>
                    </a:moveTo>
                    <a:lnTo>
                      <a:pt x="271381" y="225513"/>
                    </a:lnTo>
                    <a:cubicBezTo>
                      <a:pt x="297717" y="225513"/>
                      <a:pt x="333926" y="211874"/>
                      <a:pt x="333926" y="170957"/>
                    </a:cubicBezTo>
                    <a:cubicBezTo>
                      <a:pt x="333926" y="129242"/>
                      <a:pt x="303481" y="115603"/>
                      <a:pt x="271409" y="115603"/>
                    </a:cubicBezTo>
                    <a:lnTo>
                      <a:pt x="152996" y="115603"/>
                    </a:lnTo>
                    <a:close/>
                    <a:moveTo>
                      <a:pt x="0" y="71"/>
                    </a:moveTo>
                    <a:lnTo>
                      <a:pt x="274691" y="71"/>
                    </a:lnTo>
                    <a:cubicBezTo>
                      <a:pt x="375870" y="-1555"/>
                      <a:pt x="486865" y="24125"/>
                      <a:pt x="486865" y="143679"/>
                    </a:cubicBezTo>
                    <a:cubicBezTo>
                      <a:pt x="486865" y="195040"/>
                      <a:pt x="455621" y="236755"/>
                      <a:pt x="409568" y="259240"/>
                    </a:cubicBezTo>
                    <a:cubicBezTo>
                      <a:pt x="472085" y="276845"/>
                      <a:pt x="510747" y="329831"/>
                      <a:pt x="510747" y="394802"/>
                    </a:cubicBezTo>
                    <a:cubicBezTo>
                      <a:pt x="510747" y="531191"/>
                      <a:pt x="407942" y="572936"/>
                      <a:pt x="282081" y="572936"/>
                    </a:cubicBezTo>
                    <a:lnTo>
                      <a:pt x="0" y="572936"/>
                    </a:lnTo>
                    <a:close/>
                    <a:moveTo>
                      <a:pt x="564904" y="42"/>
                    </a:moveTo>
                    <a:lnTo>
                      <a:pt x="717899" y="42"/>
                    </a:lnTo>
                    <a:lnTo>
                      <a:pt x="717899" y="444535"/>
                    </a:lnTo>
                    <a:lnTo>
                      <a:pt x="991763" y="444535"/>
                    </a:lnTo>
                    <a:lnTo>
                      <a:pt x="991763" y="572936"/>
                    </a:lnTo>
                    <a:lnTo>
                      <a:pt x="564904" y="572936"/>
                    </a:lnTo>
                    <a:close/>
                    <a:moveTo>
                      <a:pt x="1528161" y="336223"/>
                    </a:moveTo>
                    <a:cubicBezTo>
                      <a:pt x="1528161" y="502315"/>
                      <a:pt x="1450009" y="584948"/>
                      <a:pt x="1272360" y="584948"/>
                    </a:cubicBezTo>
                    <a:cubicBezTo>
                      <a:pt x="1094711" y="584948"/>
                      <a:pt x="1016587" y="502315"/>
                      <a:pt x="1016587" y="336223"/>
                    </a:cubicBezTo>
                    <a:lnTo>
                      <a:pt x="1016587" y="42"/>
                    </a:lnTo>
                    <a:lnTo>
                      <a:pt x="1169583" y="42"/>
                    </a:lnTo>
                    <a:lnTo>
                      <a:pt x="1169583" y="345068"/>
                    </a:lnTo>
                    <a:cubicBezTo>
                      <a:pt x="1169583" y="418855"/>
                      <a:pt x="1197545" y="456576"/>
                      <a:pt x="1272360" y="456576"/>
                    </a:cubicBezTo>
                    <a:cubicBezTo>
                      <a:pt x="1347203" y="456576"/>
                      <a:pt x="1375194" y="418855"/>
                      <a:pt x="1375194" y="345068"/>
                    </a:cubicBezTo>
                    <a:lnTo>
                      <a:pt x="1375194" y="14"/>
                    </a:lnTo>
                    <a:lnTo>
                      <a:pt x="1528161" y="14"/>
                    </a:lnTo>
                    <a:close/>
                  </a:path>
                </a:pathLst>
              </a:custGeom>
              <a:solidFill>
                <a:srgbClr val="2CA3E1"/>
              </a:solidFill>
              <a:ln w="285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78A2685A-3628-3FA1-4612-6C9CD0FD91F3}"/>
                  </a:ext>
                </a:extLst>
              </p:cNvPr>
              <p:cNvSpPr/>
              <p:nvPr/>
            </p:nvSpPr>
            <p:spPr>
              <a:xfrm>
                <a:off x="9461613" y="318634"/>
                <a:ext cx="476221" cy="572893"/>
              </a:xfrm>
              <a:custGeom>
                <a:avLst/>
                <a:gdLst>
                  <a:gd name="connsiteX0" fmla="*/ 0 w 476221"/>
                  <a:gd name="connsiteY0" fmla="*/ 0 h 572893"/>
                  <a:gd name="connsiteX1" fmla="*/ 467976 w 476221"/>
                  <a:gd name="connsiteY1" fmla="*/ 0 h 572893"/>
                  <a:gd name="connsiteX2" fmla="*/ 467976 w 476221"/>
                  <a:gd name="connsiteY2" fmla="*/ 119555 h 572893"/>
                  <a:gd name="connsiteX3" fmla="*/ 152967 w 476221"/>
                  <a:gd name="connsiteY3" fmla="*/ 119555 h 572893"/>
                  <a:gd name="connsiteX4" fmla="*/ 152967 w 476221"/>
                  <a:gd name="connsiteY4" fmla="*/ 219850 h 572893"/>
                  <a:gd name="connsiteX5" fmla="*/ 440869 w 476221"/>
                  <a:gd name="connsiteY5" fmla="*/ 219850 h 572893"/>
                  <a:gd name="connsiteX6" fmla="*/ 440869 w 476221"/>
                  <a:gd name="connsiteY6" fmla="*/ 335410 h 572893"/>
                  <a:gd name="connsiteX7" fmla="*/ 152967 w 476221"/>
                  <a:gd name="connsiteY7" fmla="*/ 335410 h 572893"/>
                  <a:gd name="connsiteX8" fmla="*/ 152967 w 476221"/>
                  <a:gd name="connsiteY8" fmla="*/ 444493 h 572893"/>
                  <a:gd name="connsiteX9" fmla="*/ 476222 w 476221"/>
                  <a:gd name="connsiteY9" fmla="*/ 444493 h 572893"/>
                  <a:gd name="connsiteX10" fmla="*/ 476222 w 476221"/>
                  <a:gd name="connsiteY10" fmla="*/ 572893 h 572893"/>
                  <a:gd name="connsiteX11" fmla="*/ 0 w 476221"/>
                  <a:gd name="connsiteY11" fmla="*/ 572893 h 5728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76221" h="572893">
                    <a:moveTo>
                      <a:pt x="0" y="0"/>
                    </a:moveTo>
                    <a:lnTo>
                      <a:pt x="467976" y="0"/>
                    </a:lnTo>
                    <a:lnTo>
                      <a:pt x="467976" y="119555"/>
                    </a:lnTo>
                    <a:lnTo>
                      <a:pt x="152967" y="119555"/>
                    </a:lnTo>
                    <a:lnTo>
                      <a:pt x="152967" y="219850"/>
                    </a:lnTo>
                    <a:lnTo>
                      <a:pt x="440869" y="219850"/>
                    </a:lnTo>
                    <a:lnTo>
                      <a:pt x="440869" y="335410"/>
                    </a:lnTo>
                    <a:lnTo>
                      <a:pt x="152967" y="335410"/>
                    </a:lnTo>
                    <a:lnTo>
                      <a:pt x="152967" y="444493"/>
                    </a:lnTo>
                    <a:lnTo>
                      <a:pt x="476222" y="444493"/>
                    </a:lnTo>
                    <a:lnTo>
                      <a:pt x="476222" y="572893"/>
                    </a:lnTo>
                    <a:lnTo>
                      <a:pt x="0" y="572893"/>
                    </a:lnTo>
                    <a:close/>
                  </a:path>
                </a:pathLst>
              </a:custGeom>
              <a:solidFill>
                <a:srgbClr val="2CA3E1"/>
              </a:solidFill>
              <a:ln w="285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627B526-59D5-E4F7-13DF-C0F372F42A14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7857722" y="1038476"/>
              <a:ext cx="2080110" cy="686681"/>
              <a:chOff x="10011822" y="312071"/>
              <a:chExt cx="1789355" cy="590698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6C435F39-247E-A011-428C-AA74ECADFF6D}"/>
                  </a:ext>
                </a:extLst>
              </p:cNvPr>
              <p:cNvSpPr/>
              <p:nvPr userDrawn="1"/>
            </p:nvSpPr>
            <p:spPr>
              <a:xfrm>
                <a:off x="10011822" y="318605"/>
                <a:ext cx="1020238" cy="584106"/>
              </a:xfrm>
              <a:custGeom>
                <a:avLst/>
                <a:gdLst>
                  <a:gd name="connsiteX0" fmla="*/ 209720 w 1020238"/>
                  <a:gd name="connsiteY0" fmla="*/ 219108 h 584106"/>
                  <a:gd name="connsiteX1" fmla="*/ 90479 w 1020238"/>
                  <a:gd name="connsiteY1" fmla="*/ 365912 h 584106"/>
                  <a:gd name="connsiteX2" fmla="*/ 209749 w 1020238"/>
                  <a:gd name="connsiteY2" fmla="*/ 511917 h 584106"/>
                  <a:gd name="connsiteX3" fmla="*/ 327363 w 1020238"/>
                  <a:gd name="connsiteY3" fmla="*/ 365912 h 584106"/>
                  <a:gd name="connsiteX4" fmla="*/ 209720 w 1020238"/>
                  <a:gd name="connsiteY4" fmla="*/ 219079 h 584106"/>
                  <a:gd name="connsiteX5" fmla="*/ 0 w 1020238"/>
                  <a:gd name="connsiteY5" fmla="*/ 0 h 584106"/>
                  <a:gd name="connsiteX6" fmla="*/ 93761 w 1020238"/>
                  <a:gd name="connsiteY6" fmla="*/ 0 h 584106"/>
                  <a:gd name="connsiteX7" fmla="*/ 93761 w 1020238"/>
                  <a:gd name="connsiteY7" fmla="*/ 211832 h 584106"/>
                  <a:gd name="connsiteX8" fmla="*/ 95415 w 1020238"/>
                  <a:gd name="connsiteY8" fmla="*/ 211832 h 584106"/>
                  <a:gd name="connsiteX9" fmla="*/ 222075 w 1020238"/>
                  <a:gd name="connsiteY9" fmla="*/ 146833 h 584106"/>
                  <a:gd name="connsiteX10" fmla="*/ 421095 w 1020238"/>
                  <a:gd name="connsiteY10" fmla="*/ 367481 h 584106"/>
                  <a:gd name="connsiteX11" fmla="*/ 237683 w 1020238"/>
                  <a:gd name="connsiteY11" fmla="*/ 584107 h 584106"/>
                  <a:gd name="connsiteX12" fmla="*/ 90451 w 1020238"/>
                  <a:gd name="connsiteY12" fmla="*/ 515912 h 584106"/>
                  <a:gd name="connsiteX13" fmla="*/ 88824 w 1020238"/>
                  <a:gd name="connsiteY13" fmla="*/ 515912 h 584106"/>
                  <a:gd name="connsiteX14" fmla="*/ 88824 w 1020238"/>
                  <a:gd name="connsiteY14" fmla="*/ 572865 h 584106"/>
                  <a:gd name="connsiteX15" fmla="*/ 29 w 1020238"/>
                  <a:gd name="connsiteY15" fmla="*/ 572865 h 584106"/>
                  <a:gd name="connsiteX16" fmla="*/ 467148 w 1020238"/>
                  <a:gd name="connsiteY16" fmla="*/ 572922 h 584106"/>
                  <a:gd name="connsiteX17" fmla="*/ 560909 w 1020238"/>
                  <a:gd name="connsiteY17" fmla="*/ 572922 h 584106"/>
                  <a:gd name="connsiteX18" fmla="*/ 560909 w 1020238"/>
                  <a:gd name="connsiteY18" fmla="*/ 158075 h 584106"/>
                  <a:gd name="connsiteX19" fmla="*/ 467148 w 1020238"/>
                  <a:gd name="connsiteY19" fmla="*/ 158075 h 584106"/>
                  <a:gd name="connsiteX20" fmla="*/ 626307 w 1020238"/>
                  <a:gd name="connsiteY20" fmla="*/ 29 h 584106"/>
                  <a:gd name="connsiteX21" fmla="*/ 720039 w 1020238"/>
                  <a:gd name="connsiteY21" fmla="*/ 29 h 584106"/>
                  <a:gd name="connsiteX22" fmla="*/ 720039 w 1020238"/>
                  <a:gd name="connsiteY22" fmla="*/ 325823 h 584106"/>
                  <a:gd name="connsiteX23" fmla="*/ 889470 w 1020238"/>
                  <a:gd name="connsiteY23" fmla="*/ 158132 h 584106"/>
                  <a:gd name="connsiteX24" fmla="*/ 1004603 w 1020238"/>
                  <a:gd name="connsiteY24" fmla="*/ 158132 h 584106"/>
                  <a:gd name="connsiteX25" fmla="*/ 841763 w 1020238"/>
                  <a:gd name="connsiteY25" fmla="*/ 310586 h 584106"/>
                  <a:gd name="connsiteX26" fmla="*/ 1020239 w 1020238"/>
                  <a:gd name="connsiteY26" fmla="*/ 572950 h 584106"/>
                  <a:gd name="connsiteX27" fmla="*/ 905934 w 1020238"/>
                  <a:gd name="connsiteY27" fmla="*/ 572950 h 584106"/>
                  <a:gd name="connsiteX28" fmla="*/ 775993 w 1020238"/>
                  <a:gd name="connsiteY28" fmla="*/ 371562 h 584106"/>
                  <a:gd name="connsiteX29" fmla="*/ 720039 w 1020238"/>
                  <a:gd name="connsiteY29" fmla="*/ 424491 h 584106"/>
                  <a:gd name="connsiteX30" fmla="*/ 720039 w 1020238"/>
                  <a:gd name="connsiteY30" fmla="*/ 572950 h 584106"/>
                  <a:gd name="connsiteX31" fmla="*/ 626279 w 1020238"/>
                  <a:gd name="connsiteY31" fmla="*/ 572950 h 5841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020238" h="584106">
                    <a:moveTo>
                      <a:pt x="209720" y="219108"/>
                    </a:moveTo>
                    <a:cubicBezTo>
                      <a:pt x="130797" y="219108"/>
                      <a:pt x="90479" y="277658"/>
                      <a:pt x="90479" y="365912"/>
                    </a:cubicBezTo>
                    <a:cubicBezTo>
                      <a:pt x="90479" y="449344"/>
                      <a:pt x="134078" y="511917"/>
                      <a:pt x="209749" y="511917"/>
                    </a:cubicBezTo>
                    <a:cubicBezTo>
                      <a:pt x="295263" y="511917"/>
                      <a:pt x="327363" y="438101"/>
                      <a:pt x="327363" y="365912"/>
                    </a:cubicBezTo>
                    <a:cubicBezTo>
                      <a:pt x="327363" y="290498"/>
                      <a:pt x="287046" y="219079"/>
                      <a:pt x="209720" y="219079"/>
                    </a:cubicBezTo>
                    <a:moveTo>
                      <a:pt x="0" y="0"/>
                    </a:moveTo>
                    <a:lnTo>
                      <a:pt x="93761" y="0"/>
                    </a:lnTo>
                    <a:lnTo>
                      <a:pt x="93761" y="211832"/>
                    </a:lnTo>
                    <a:lnTo>
                      <a:pt x="95415" y="211832"/>
                    </a:lnTo>
                    <a:cubicBezTo>
                      <a:pt x="120924" y="171714"/>
                      <a:pt x="174396" y="146833"/>
                      <a:pt x="222075" y="146833"/>
                    </a:cubicBezTo>
                    <a:cubicBezTo>
                      <a:pt x="356125" y="146833"/>
                      <a:pt x="421095" y="246329"/>
                      <a:pt x="421095" y="367481"/>
                    </a:cubicBezTo>
                    <a:cubicBezTo>
                      <a:pt x="421095" y="478990"/>
                      <a:pt x="363544" y="584107"/>
                      <a:pt x="237683" y="584107"/>
                    </a:cubicBezTo>
                    <a:cubicBezTo>
                      <a:pt x="180131" y="584107"/>
                      <a:pt x="118442" y="570468"/>
                      <a:pt x="90451" y="515912"/>
                    </a:cubicBezTo>
                    <a:lnTo>
                      <a:pt x="88824" y="515912"/>
                    </a:lnTo>
                    <a:lnTo>
                      <a:pt x="88824" y="572865"/>
                    </a:lnTo>
                    <a:lnTo>
                      <a:pt x="29" y="572865"/>
                    </a:lnTo>
                    <a:close/>
                    <a:moveTo>
                      <a:pt x="467148" y="572922"/>
                    </a:moveTo>
                    <a:lnTo>
                      <a:pt x="560909" y="572922"/>
                    </a:lnTo>
                    <a:lnTo>
                      <a:pt x="560909" y="158075"/>
                    </a:lnTo>
                    <a:lnTo>
                      <a:pt x="467148" y="158075"/>
                    </a:lnTo>
                    <a:close/>
                    <a:moveTo>
                      <a:pt x="626307" y="29"/>
                    </a:moveTo>
                    <a:lnTo>
                      <a:pt x="720039" y="29"/>
                    </a:lnTo>
                    <a:lnTo>
                      <a:pt x="720039" y="325823"/>
                    </a:lnTo>
                    <a:lnTo>
                      <a:pt x="889470" y="158132"/>
                    </a:lnTo>
                    <a:lnTo>
                      <a:pt x="1004603" y="158132"/>
                    </a:lnTo>
                    <a:lnTo>
                      <a:pt x="841763" y="310586"/>
                    </a:lnTo>
                    <a:lnTo>
                      <a:pt x="1020239" y="572950"/>
                    </a:lnTo>
                    <a:lnTo>
                      <a:pt x="905934" y="572950"/>
                    </a:lnTo>
                    <a:lnTo>
                      <a:pt x="775993" y="371562"/>
                    </a:lnTo>
                    <a:lnTo>
                      <a:pt x="720039" y="424491"/>
                    </a:lnTo>
                    <a:lnTo>
                      <a:pt x="720039" y="572950"/>
                    </a:lnTo>
                    <a:lnTo>
                      <a:pt x="626279" y="572950"/>
                    </a:lnTo>
                    <a:close/>
                  </a:path>
                </a:pathLst>
              </a:custGeom>
              <a:solidFill>
                <a:srgbClr val="0090DA"/>
              </a:solidFill>
              <a:ln w="285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7319D215-BED3-6C7F-9368-CC3895EA9B79}"/>
                  </a:ext>
                </a:extLst>
              </p:cNvPr>
              <p:cNvSpPr/>
              <p:nvPr/>
            </p:nvSpPr>
            <p:spPr>
              <a:xfrm>
                <a:off x="11000788" y="464411"/>
                <a:ext cx="800389" cy="438358"/>
              </a:xfrm>
              <a:custGeom>
                <a:avLst/>
                <a:gdLst>
                  <a:gd name="connsiteX0" fmla="*/ 312555 w 800389"/>
                  <a:gd name="connsiteY0" fmla="*/ 183184 h 438358"/>
                  <a:gd name="connsiteX1" fmla="*/ 205611 w 800389"/>
                  <a:gd name="connsiteY1" fmla="*/ 73274 h 438358"/>
                  <a:gd name="connsiteX2" fmla="*/ 93761 w 800389"/>
                  <a:gd name="connsiteY2" fmla="*/ 183184 h 438358"/>
                  <a:gd name="connsiteX3" fmla="*/ 93761 w 800389"/>
                  <a:gd name="connsiteY3" fmla="*/ 243390 h 438358"/>
                  <a:gd name="connsiteX4" fmla="*/ 208094 w 800389"/>
                  <a:gd name="connsiteY4" fmla="*/ 366112 h 438358"/>
                  <a:gd name="connsiteX5" fmla="*/ 311727 w 800389"/>
                  <a:gd name="connsiteY5" fmla="*/ 297118 h 438358"/>
                  <a:gd name="connsiteX6" fmla="*/ 400551 w 800389"/>
                  <a:gd name="connsiteY6" fmla="*/ 297118 h 438358"/>
                  <a:gd name="connsiteX7" fmla="*/ 208094 w 800389"/>
                  <a:gd name="connsiteY7" fmla="*/ 438358 h 438358"/>
                  <a:gd name="connsiteX8" fmla="*/ 0 w 800389"/>
                  <a:gd name="connsiteY8" fmla="*/ 220106 h 438358"/>
                  <a:gd name="connsiteX9" fmla="*/ 205611 w 800389"/>
                  <a:gd name="connsiteY9" fmla="*/ 1084 h 438358"/>
                  <a:gd name="connsiteX10" fmla="*/ 406287 w 800389"/>
                  <a:gd name="connsiteY10" fmla="*/ 243390 h 438358"/>
                  <a:gd name="connsiteX11" fmla="*/ 515826 w 800389"/>
                  <a:gd name="connsiteY11" fmla="*/ 292867 h 438358"/>
                  <a:gd name="connsiteX12" fmla="*/ 612012 w 800389"/>
                  <a:gd name="connsiteY12" fmla="*/ 365056 h 438358"/>
                  <a:gd name="connsiteX13" fmla="*/ 706629 w 800389"/>
                  <a:gd name="connsiteY13" fmla="*/ 310500 h 438358"/>
                  <a:gd name="connsiteX14" fmla="*/ 567643 w 800389"/>
                  <a:gd name="connsiteY14" fmla="*/ 241507 h 438358"/>
                  <a:gd name="connsiteX15" fmla="*/ 431111 w 800389"/>
                  <a:gd name="connsiteY15" fmla="*/ 118756 h 438358"/>
                  <a:gd name="connsiteX16" fmla="*/ 608760 w 800389"/>
                  <a:gd name="connsiteY16" fmla="*/ 0 h 438358"/>
                  <a:gd name="connsiteX17" fmla="*/ 786408 w 800389"/>
                  <a:gd name="connsiteY17" fmla="*/ 127573 h 438358"/>
                  <a:gd name="connsiteX18" fmla="*/ 688539 w 800389"/>
                  <a:gd name="connsiteY18" fmla="*/ 127573 h 438358"/>
                  <a:gd name="connsiteX19" fmla="*/ 602168 w 800389"/>
                  <a:gd name="connsiteY19" fmla="*/ 72218 h 438358"/>
                  <a:gd name="connsiteX20" fmla="*/ 524871 w 800389"/>
                  <a:gd name="connsiteY20" fmla="*/ 114733 h 438358"/>
                  <a:gd name="connsiteX21" fmla="*/ 663030 w 800389"/>
                  <a:gd name="connsiteY21" fmla="*/ 181330 h 438358"/>
                  <a:gd name="connsiteX22" fmla="*/ 800389 w 800389"/>
                  <a:gd name="connsiteY22" fmla="*/ 302482 h 438358"/>
                  <a:gd name="connsiteX23" fmla="*/ 610386 w 800389"/>
                  <a:gd name="connsiteY23" fmla="*/ 437274 h 438358"/>
                  <a:gd name="connsiteX24" fmla="*/ 422066 w 800389"/>
                  <a:gd name="connsiteY24" fmla="*/ 292867 h 4383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800389" h="438358">
                    <a:moveTo>
                      <a:pt x="312555" y="183184"/>
                    </a:moveTo>
                    <a:cubicBezTo>
                      <a:pt x="309245" y="125433"/>
                      <a:pt x="268956" y="73274"/>
                      <a:pt x="205611" y="73274"/>
                    </a:cubicBezTo>
                    <a:cubicBezTo>
                      <a:pt x="140641" y="73274"/>
                      <a:pt x="96215" y="121410"/>
                      <a:pt x="93761" y="183184"/>
                    </a:cubicBezTo>
                    <a:close/>
                    <a:moveTo>
                      <a:pt x="93761" y="243390"/>
                    </a:moveTo>
                    <a:cubicBezTo>
                      <a:pt x="93761" y="308360"/>
                      <a:pt x="129941" y="366112"/>
                      <a:pt x="208094" y="366112"/>
                    </a:cubicBezTo>
                    <a:cubicBezTo>
                      <a:pt x="262364" y="366112"/>
                      <a:pt x="295263" y="342857"/>
                      <a:pt x="311727" y="297118"/>
                    </a:cubicBezTo>
                    <a:lnTo>
                      <a:pt x="400551" y="297118"/>
                    </a:lnTo>
                    <a:cubicBezTo>
                      <a:pt x="379979" y="387797"/>
                      <a:pt x="301027" y="438358"/>
                      <a:pt x="208094" y="438358"/>
                    </a:cubicBezTo>
                    <a:cubicBezTo>
                      <a:pt x="74843" y="438358"/>
                      <a:pt x="0" y="347679"/>
                      <a:pt x="0" y="220106"/>
                    </a:cubicBezTo>
                    <a:cubicBezTo>
                      <a:pt x="0" y="102178"/>
                      <a:pt x="78952" y="1084"/>
                      <a:pt x="205611" y="1084"/>
                    </a:cubicBezTo>
                    <a:cubicBezTo>
                      <a:pt x="339690" y="1084"/>
                      <a:pt x="421923" y="119013"/>
                      <a:pt x="406287" y="243390"/>
                    </a:cubicBezTo>
                    <a:close/>
                    <a:moveTo>
                      <a:pt x="515826" y="292867"/>
                    </a:moveTo>
                    <a:cubicBezTo>
                      <a:pt x="520734" y="345796"/>
                      <a:pt x="561850" y="365056"/>
                      <a:pt x="612012" y="365056"/>
                    </a:cubicBezTo>
                    <a:cubicBezTo>
                      <a:pt x="647393" y="365056"/>
                      <a:pt x="709083" y="357837"/>
                      <a:pt x="706629" y="310500"/>
                    </a:cubicBezTo>
                    <a:cubicBezTo>
                      <a:pt x="704146" y="262364"/>
                      <a:pt x="635894" y="256743"/>
                      <a:pt x="567643" y="241507"/>
                    </a:cubicBezTo>
                    <a:cubicBezTo>
                      <a:pt x="498535" y="227040"/>
                      <a:pt x="431111" y="202986"/>
                      <a:pt x="431111" y="118756"/>
                    </a:cubicBezTo>
                    <a:cubicBezTo>
                      <a:pt x="431111" y="28105"/>
                      <a:pt x="531434" y="0"/>
                      <a:pt x="608760" y="0"/>
                    </a:cubicBezTo>
                    <a:cubicBezTo>
                      <a:pt x="695929" y="0"/>
                      <a:pt x="774881" y="35296"/>
                      <a:pt x="786408" y="127573"/>
                    </a:cubicBezTo>
                    <a:lnTo>
                      <a:pt x="688539" y="127573"/>
                    </a:lnTo>
                    <a:cubicBezTo>
                      <a:pt x="680292" y="84259"/>
                      <a:pt x="643285" y="72218"/>
                      <a:pt x="602168" y="72218"/>
                    </a:cubicBezTo>
                    <a:cubicBezTo>
                      <a:pt x="575033" y="72218"/>
                      <a:pt x="524871" y="78638"/>
                      <a:pt x="524871" y="114733"/>
                    </a:cubicBezTo>
                    <a:cubicBezTo>
                      <a:pt x="524871" y="159673"/>
                      <a:pt x="593950" y="166093"/>
                      <a:pt x="663030" y="181330"/>
                    </a:cubicBezTo>
                    <a:cubicBezTo>
                      <a:pt x="731282" y="196566"/>
                      <a:pt x="800389" y="220649"/>
                      <a:pt x="800389" y="302482"/>
                    </a:cubicBezTo>
                    <a:cubicBezTo>
                      <a:pt x="800389" y="401179"/>
                      <a:pt x="698383" y="437274"/>
                      <a:pt x="610386" y="437274"/>
                    </a:cubicBezTo>
                    <a:cubicBezTo>
                      <a:pt x="503471" y="437274"/>
                      <a:pt x="423692" y="390765"/>
                      <a:pt x="422066" y="292867"/>
                    </a:cubicBezTo>
                    <a:close/>
                  </a:path>
                </a:pathLst>
              </a:custGeom>
              <a:solidFill>
                <a:srgbClr val="0090DA"/>
              </a:solidFill>
              <a:ln w="285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8A44C19F-6CF4-C7AD-CB10-B78A1BE1B559}"/>
                  </a:ext>
                </a:extLst>
              </p:cNvPr>
              <p:cNvSpPr/>
              <p:nvPr/>
            </p:nvSpPr>
            <p:spPr>
              <a:xfrm>
                <a:off x="10470924" y="312071"/>
                <a:ext cx="109853" cy="107057"/>
              </a:xfrm>
              <a:custGeom>
                <a:avLst/>
                <a:gdLst>
                  <a:gd name="connsiteX0" fmla="*/ 109853 w 109853"/>
                  <a:gd name="connsiteY0" fmla="*/ 53529 h 107057"/>
                  <a:gd name="connsiteX1" fmla="*/ 54927 w 109853"/>
                  <a:gd name="connsiteY1" fmla="*/ 107057 h 107057"/>
                  <a:gd name="connsiteX2" fmla="*/ 0 w 109853"/>
                  <a:gd name="connsiteY2" fmla="*/ 53529 h 107057"/>
                  <a:gd name="connsiteX3" fmla="*/ 54927 w 109853"/>
                  <a:gd name="connsiteY3" fmla="*/ 0 h 107057"/>
                  <a:gd name="connsiteX4" fmla="*/ 109853 w 109853"/>
                  <a:gd name="connsiteY4" fmla="*/ 53529 h 1070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9853" h="107057">
                    <a:moveTo>
                      <a:pt x="109853" y="53529"/>
                    </a:moveTo>
                    <a:cubicBezTo>
                      <a:pt x="109853" y="83089"/>
                      <a:pt x="85258" y="107057"/>
                      <a:pt x="54927" y="107057"/>
                    </a:cubicBezTo>
                    <a:cubicBezTo>
                      <a:pt x="24596" y="107057"/>
                      <a:pt x="0" y="83089"/>
                      <a:pt x="0" y="53529"/>
                    </a:cubicBezTo>
                    <a:cubicBezTo>
                      <a:pt x="0" y="23968"/>
                      <a:pt x="24596" y="0"/>
                      <a:pt x="54927" y="0"/>
                    </a:cubicBezTo>
                    <a:cubicBezTo>
                      <a:pt x="85258" y="0"/>
                      <a:pt x="109853" y="23968"/>
                      <a:pt x="109853" y="53529"/>
                    </a:cubicBezTo>
                  </a:path>
                </a:pathLst>
              </a:custGeom>
              <a:solidFill>
                <a:srgbClr val="EA8735"/>
              </a:solidFill>
              <a:ln w="285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C0D650-B242-0BCF-D71F-E986975CB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12A66-822E-4D68-834D-298940211017}" type="slidenum">
              <a:rPr lang="en-US" smtClean="0"/>
              <a:t>7</a:t>
            </a:fld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C7EA62B-D259-0703-F5D2-03CC83054F7F}"/>
              </a:ext>
            </a:extLst>
          </p:cNvPr>
          <p:cNvCxnSpPr/>
          <p:nvPr/>
        </p:nvCxnSpPr>
        <p:spPr>
          <a:xfrm>
            <a:off x="11411339" y="6356791"/>
            <a:ext cx="0" cy="364243"/>
          </a:xfrm>
          <a:prstGeom prst="line">
            <a:avLst/>
          </a:prstGeom>
          <a:ln>
            <a:solidFill>
              <a:srgbClr val="EA87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8C579C1-9216-0C24-37D6-DE0C39B7EBCF}"/>
              </a:ext>
            </a:extLst>
          </p:cNvPr>
          <p:cNvGrpSpPr/>
          <p:nvPr/>
        </p:nvGrpSpPr>
        <p:grpSpPr>
          <a:xfrm>
            <a:off x="2563813" y="3295599"/>
            <a:ext cx="7064374" cy="523220"/>
            <a:chOff x="2563813" y="3050355"/>
            <a:chExt cx="7064374" cy="52322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C111C1E-F791-6109-4190-7B4CCABEB586}"/>
                </a:ext>
              </a:extLst>
            </p:cNvPr>
            <p:cNvSpPr txBox="1"/>
            <p:nvPr/>
          </p:nvSpPr>
          <p:spPr>
            <a:xfrm>
              <a:off x="3302421" y="3050355"/>
              <a:ext cx="632576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2800" b="1">
                  <a:solidFill>
                    <a:srgbClr val="091F2F"/>
                  </a:solidFill>
                  <a:latin typeface="Montserrat" pitchFamily="2" charset="0"/>
                </a:defRPr>
              </a:lvl1pPr>
            </a:lstStyle>
            <a:p>
              <a:r>
                <a:rPr lang="en-US" dirty="0">
                  <a:solidFill>
                    <a:srgbClr val="0D0D2F"/>
                  </a:solidFill>
                  <a:latin typeface="Lyft Pro UI" panose="02000503030000000000" pitchFamily="50" charset="0"/>
                </a:rPr>
                <a:t>Weather Impact</a:t>
              </a:r>
            </a:p>
          </p:txBody>
        </p:sp>
        <p:pic>
          <p:nvPicPr>
            <p:cNvPr id="8" name="Graphic 7" descr="Partial sun with solid fill">
              <a:extLst>
                <a:ext uri="{FF2B5EF4-FFF2-40B4-BE49-F238E27FC236}">
                  <a16:creationId xmlns:a16="http://schemas.microsoft.com/office/drawing/2014/main" id="{15973502-0B08-8B79-B6FB-73E1B5A839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2563813" y="3055549"/>
              <a:ext cx="512832" cy="5128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27448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0E06C-091A-0E56-C7DC-7F4D117AA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3679A3C-8550-0CAD-C9AA-EEE9E26D783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413304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417" imgH="416" progId="TCLayout.ActiveDocument.1">
                  <p:embed/>
                </p:oleObj>
              </mc:Choice>
              <mc:Fallback>
                <p:oleObj name="think-cell Slide" r:id="rId17" imgW="417" imgH="41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76B9784-DBA0-71CA-0296-0FDC6F6CED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69CC15-3F78-6CD9-EAAC-7CCE86119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12A66-822E-4D68-834D-298940211017}" type="slidenum">
              <a:rPr lang="en-US" smtClean="0"/>
              <a:t>8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1DB305-02F4-254B-9E5D-F6B8C43C9418}"/>
              </a:ext>
            </a:extLst>
          </p:cNvPr>
          <p:cNvSpPr txBox="1"/>
          <p:nvPr/>
        </p:nvSpPr>
        <p:spPr>
          <a:xfrm>
            <a:off x="194678" y="171081"/>
            <a:ext cx="117810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D0D2F"/>
                </a:solidFill>
                <a:latin typeface="Lyft Pro UI" panose="02000503030000000000" pitchFamily="50" charset="0"/>
              </a:rPr>
              <a:t>Adverse Weather Reduces Demand by 15-65%; Prioritize Mild Days for Peak Operations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223C44-91D1-1F0E-6AC7-9827F0C5A953}"/>
              </a:ext>
            </a:extLst>
          </p:cNvPr>
          <p:cNvSpPr txBox="1"/>
          <p:nvPr/>
        </p:nvSpPr>
        <p:spPr>
          <a:xfrm>
            <a:off x="80817" y="6535572"/>
            <a:ext cx="3557733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-US" sz="1100" dirty="0">
                <a:solidFill>
                  <a:srgbClr val="0D0D2F"/>
                </a:solidFill>
                <a:latin typeface="Lyft Pro UI" panose="02000503030000000000" pitchFamily="50" charset="0"/>
              </a:rPr>
              <a:t>Source: </a:t>
            </a:r>
            <a:r>
              <a:rPr lang="en-US" sz="1100" dirty="0" err="1">
                <a:solidFill>
                  <a:srgbClr val="0D0D2F"/>
                </a:solidFill>
                <a:latin typeface="Lyft Pro UI" panose="02000503030000000000" pitchFamily="50" charset="0"/>
              </a:rPr>
              <a:t>Bluebikes</a:t>
            </a:r>
            <a:r>
              <a:rPr lang="en-US" sz="1100" dirty="0">
                <a:solidFill>
                  <a:srgbClr val="0D0D2F"/>
                </a:solidFill>
                <a:latin typeface="Lyft Pro UI" panose="02000503030000000000" pitchFamily="50" charset="0"/>
              </a:rPr>
              <a:t> trip &amp; station data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53475C06-6643-11A8-B7BD-8ADC8FF684D9}"/>
              </a:ext>
            </a:extLst>
          </p:cNvPr>
          <p:cNvSpPr/>
          <p:nvPr/>
        </p:nvSpPr>
        <p:spPr>
          <a:xfrm>
            <a:off x="6553200" y="1749425"/>
            <a:ext cx="5638800" cy="4139930"/>
          </a:xfrm>
          <a:prstGeom prst="rect">
            <a:avLst/>
          </a:prstGeom>
          <a:solidFill>
            <a:srgbClr val="4777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96776989-2400-58E6-AC11-F8DBA5E4538B}"/>
              </a:ext>
            </a:extLst>
          </p:cNvPr>
          <p:cNvSpPr txBox="1"/>
          <p:nvPr/>
        </p:nvSpPr>
        <p:spPr>
          <a:xfrm>
            <a:off x="6681391" y="2032363"/>
            <a:ext cx="5382417" cy="357405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EA8735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Lyft Pro UI" panose="02000503030000000000" pitchFamily="50" charset="0"/>
              </a:rPr>
              <a:t>Sunny/foggy days average 10-11K trips; snow reduces to 3.8K (-65%)</a:t>
            </a:r>
          </a:p>
          <a:p>
            <a:pPr marL="342900" indent="-342900">
              <a:buClr>
                <a:srgbClr val="EA8735"/>
              </a:buClr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  <a:latin typeface="Lyft Pro UI" panose="02000503030000000000" pitchFamily="50" charset="0"/>
            </a:endParaRPr>
          </a:p>
          <a:p>
            <a:pPr marL="342900" indent="-342900">
              <a:lnSpc>
                <a:spcPct val="150000"/>
              </a:lnSpc>
              <a:buClr>
                <a:srgbClr val="EA8735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Lyft Pro UI" panose="02000503030000000000" pitchFamily="50" charset="0"/>
              </a:rPr>
              <a:t>Rain/wind cut demand by 15-20% vs. sunny baseline</a:t>
            </a:r>
          </a:p>
          <a:p>
            <a:pPr>
              <a:lnSpc>
                <a:spcPct val="150000"/>
              </a:lnSpc>
              <a:buClr>
                <a:srgbClr val="EA8735"/>
              </a:buClr>
            </a:pPr>
            <a:endParaRPr lang="en-US" sz="1200" dirty="0">
              <a:solidFill>
                <a:schemeClr val="bg1"/>
              </a:solidFill>
              <a:latin typeface="Lyft Pro UI" panose="02000503030000000000" pitchFamily="50" charset="0"/>
            </a:endParaRPr>
          </a:p>
          <a:p>
            <a:pPr marL="342900" indent="-342900">
              <a:lnSpc>
                <a:spcPct val="150000"/>
              </a:lnSpc>
              <a:buClr>
                <a:srgbClr val="EA8735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Lyft Pro UI" panose="02000503030000000000" pitchFamily="50" charset="0"/>
              </a:rPr>
              <a:t>Members stay loyal in poor weather (e.g., 88% share in snow)</a:t>
            </a:r>
          </a:p>
        </p:txBody>
      </p:sp>
      <p:graphicFrame>
        <p:nvGraphicFramePr>
          <p:cNvPr id="28" name="Chart 27">
            <a:extLst>
              <a:ext uri="{FF2B5EF4-FFF2-40B4-BE49-F238E27FC236}">
                <a16:creationId xmlns:a16="http://schemas.microsoft.com/office/drawing/2014/main" id="{6DE77AEF-A3C5-789D-382D-9BC1026D8CD4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73437159"/>
              </p:ext>
            </p:extLst>
          </p:nvPr>
        </p:nvGraphicFramePr>
        <p:xfrm>
          <a:off x="1046163" y="1749425"/>
          <a:ext cx="5021262" cy="3924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sp>
        <p:nvSpPr>
          <p:cNvPr id="68" name="Text Placeholder 2">
            <a:extLst>
              <a:ext uri="{FF2B5EF4-FFF2-40B4-BE49-F238E27FC236}">
                <a16:creationId xmlns:a16="http://schemas.microsoft.com/office/drawing/2014/main" id="{095DF8C9-7BC5-8820-7235-F746DDDBB403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814388" y="5481638"/>
            <a:ext cx="19685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fld id="{19778A52-2211-40F2-BA9E-C3941B8B913B}" type="datetime'''''''0''''K'''''''''''''''''">
              <a:rPr lang="en-US" altLang="en-US" sz="1400" smtClean="0">
                <a:solidFill>
                  <a:srgbClr val="0D0D2F"/>
                </a:solidFill>
              </a:rPr>
              <a:pPr marL="0" lv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0K</a:t>
            </a:fld>
            <a:endParaRPr lang="en-US" sz="1400" dirty="0">
              <a:solidFill>
                <a:srgbClr val="0D0D2F"/>
              </a:solidFill>
            </a:endParaRPr>
          </a:p>
        </p:txBody>
      </p:sp>
      <p:sp>
        <p:nvSpPr>
          <p:cNvPr id="71" name="Text Placeholder 2">
            <a:extLst>
              <a:ext uri="{FF2B5EF4-FFF2-40B4-BE49-F238E27FC236}">
                <a16:creationId xmlns:a16="http://schemas.microsoft.com/office/drawing/2014/main" id="{77C7C1D9-1FFE-095A-5293-C0D4A2E400FA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814388" y="4546600"/>
            <a:ext cx="19685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fld id="{F21B8818-6E2B-41FC-88F0-8041EF57CD85}" type="datetime'''''''3''''''''K'''''''''''''''''''''''''''''">
              <a:rPr lang="en-US" altLang="en-US" sz="1400" smtClean="0">
                <a:solidFill>
                  <a:srgbClr val="0D0D2F"/>
                </a:solidFill>
              </a:rPr>
              <a:pPr marL="0" lv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3K</a:t>
            </a:fld>
            <a:endParaRPr lang="en-US" sz="1400" dirty="0">
              <a:solidFill>
                <a:srgbClr val="0D0D2F"/>
              </a:solidFill>
            </a:endParaRPr>
          </a:p>
        </p:txBody>
      </p:sp>
      <p:sp>
        <p:nvSpPr>
          <p:cNvPr id="74" name="Text Placeholder 2">
            <a:extLst>
              <a:ext uri="{FF2B5EF4-FFF2-40B4-BE49-F238E27FC236}">
                <a16:creationId xmlns:a16="http://schemas.microsoft.com/office/drawing/2014/main" id="{B545B6CD-3206-CB06-537B-3E76C340E398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814388" y="3611563"/>
            <a:ext cx="19685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fld id="{65AEFCA6-D458-4DF3-AC0E-1C86E083568D}" type="datetime'''6''''''''''''''''''''''''''''K'''''''''''''''''''''''''''''">
              <a:rPr lang="en-US" altLang="en-US" sz="1400" smtClean="0">
                <a:solidFill>
                  <a:srgbClr val="0D0D2F"/>
                </a:solidFill>
              </a:rPr>
              <a:pPr marL="0" lv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6K</a:t>
            </a:fld>
            <a:endParaRPr lang="en-US" sz="1400" dirty="0">
              <a:solidFill>
                <a:srgbClr val="0D0D2F"/>
              </a:solidFill>
            </a:endParaRPr>
          </a:p>
        </p:txBody>
      </p:sp>
      <p:sp>
        <p:nvSpPr>
          <p:cNvPr id="77" name="Text Placeholder 2">
            <a:extLst>
              <a:ext uri="{FF2B5EF4-FFF2-40B4-BE49-F238E27FC236}">
                <a16:creationId xmlns:a16="http://schemas.microsoft.com/office/drawing/2014/main" id="{E6C4E5AC-BBB3-7ED4-660F-950B52A589F0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814388" y="2676525"/>
            <a:ext cx="19685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fld id="{3298C902-85CC-4B31-8219-516CB3CD68E3}" type="datetime'''''''''''9''''''''''''''''''K'''''''''''''''''''">
              <a:rPr lang="en-US" altLang="en-US" sz="1400" smtClean="0">
                <a:solidFill>
                  <a:srgbClr val="0D0D2F"/>
                </a:solidFill>
              </a:rPr>
              <a:pPr marL="0" lv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9K</a:t>
            </a:fld>
            <a:endParaRPr lang="en-US" sz="1400" dirty="0">
              <a:solidFill>
                <a:srgbClr val="0D0D2F"/>
              </a:solidFill>
            </a:endParaRPr>
          </a:p>
        </p:txBody>
      </p:sp>
      <p:sp>
        <p:nvSpPr>
          <p:cNvPr id="80" name="Text Placeholder 2">
            <a:extLst>
              <a:ext uri="{FF2B5EF4-FFF2-40B4-BE49-F238E27FC236}">
                <a16:creationId xmlns:a16="http://schemas.microsoft.com/office/drawing/2014/main" id="{44CEE13F-CD4F-B25F-F452-FD98E84E3849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719138" y="1741488"/>
            <a:ext cx="2921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fld id="{15695441-3693-432B-836B-55D04901A994}" type="datetime'''''''''1''''''''''''''2''''''''''''''''''''''''''''K'''''''''">
              <a:rPr lang="en-US" altLang="en-US" sz="1400" smtClean="0">
                <a:solidFill>
                  <a:srgbClr val="0D0D2F"/>
                </a:solidFill>
              </a:rPr>
              <a:pPr marL="0" lv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12K</a:t>
            </a:fld>
            <a:endParaRPr lang="en-US" sz="1400" dirty="0">
              <a:solidFill>
                <a:srgbClr val="0D0D2F"/>
              </a:solidFill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8582025-4E82-7E11-9D09-B9377C5DE822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1223963" y="5648325"/>
            <a:ext cx="620713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3830D1D4-6AB6-4AAA-BDC1-10F5B374C77E}" type="datetime'''''''''''S''''u''''''''''''''n''''''''''''ny'''''''''">
              <a:rPr lang="en-US" altLang="en-US" sz="1800" smtClean="0">
                <a:solidFill>
                  <a:srgbClr val="0D0D2F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Sunny</a:t>
            </a:fld>
            <a:endParaRPr lang="en-US" sz="1800" dirty="0">
              <a:solidFill>
                <a:srgbClr val="0D0D2F"/>
              </a:solidFill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92C87BC-225C-24BD-BE34-BF0950530DE5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2051050" y="5648325"/>
            <a:ext cx="5842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DD6038F6-87B1-4C6C-86FC-0C41E8AFFE33}" type="datetime'''''''''''F''o''''gg''''''''''''y'''''''''''''''''''''">
              <a:rPr lang="en-US" altLang="en-US" sz="1800" smtClean="0">
                <a:solidFill>
                  <a:srgbClr val="0D0D2F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Foggy</a:t>
            </a:fld>
            <a:endParaRPr lang="en-US" sz="1800" dirty="0">
              <a:solidFill>
                <a:srgbClr val="0D0D2F"/>
              </a:solidFill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B1034F5-D5EC-44AE-D499-B6B86EF352F1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2855913" y="5648325"/>
            <a:ext cx="595313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2A6DE0AE-7834-410A-ACF6-EFAC9B9FAF27}" type="datetime'M''''''''''''''''''ix''''e''''''''''''d'''">
              <a:rPr lang="en-US" altLang="en-US" sz="1800" smtClean="0">
                <a:solidFill>
                  <a:srgbClr val="0D0D2F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Mixed</a:t>
            </a:fld>
            <a:endParaRPr lang="en-US" sz="1800" dirty="0">
              <a:solidFill>
                <a:srgbClr val="0D0D2F"/>
              </a:solidFill>
            </a:endParaRP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C53A9C08-A6F1-8A73-1384-E108CCDEAD8B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3648075" y="5648325"/>
            <a:ext cx="627063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12BC229F-F3A8-467B-AE19-71C4C178F6DE}" type="datetime'''W''''''''''''''''''''''''i''''''n''''''''''''''''''''d''y'''">
              <a:rPr lang="en-US" altLang="en-US" sz="1800" smtClean="0">
                <a:solidFill>
                  <a:srgbClr val="0D0D2F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Windy</a:t>
            </a:fld>
            <a:endParaRPr lang="en-US" sz="1800" dirty="0">
              <a:solidFill>
                <a:srgbClr val="0D0D2F"/>
              </a:solidFill>
            </a:endParaRP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E887415-E94C-00F0-5D9E-B5FFDE179D77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4543425" y="5648325"/>
            <a:ext cx="454025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D376BA4B-4CAC-4A69-9844-B1C200AD3F88}" type="datetime'''''R''''''''''''''''a''''''''in'''''''''''''">
              <a:rPr lang="en-US" altLang="en-US" sz="1800" smtClean="0">
                <a:solidFill>
                  <a:srgbClr val="0D0D2F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Rain</a:t>
            </a:fld>
            <a:endParaRPr lang="en-US" sz="1800" dirty="0">
              <a:solidFill>
                <a:srgbClr val="0D0D2F"/>
              </a:solidFill>
            </a:endParaRP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4C514310-A5C6-32BA-FDFC-D4BE7D47ADFB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5302250" y="5648325"/>
            <a:ext cx="555625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76908382-15DD-4A74-9021-C5B4E7D070F3}" type="datetime'''''''Sn''o''''''''w'''''''''''''''">
              <a:rPr lang="en-US" altLang="en-US" sz="1800" smtClean="0">
                <a:solidFill>
                  <a:srgbClr val="0D0D2F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Snow</a:t>
            </a:fld>
            <a:endParaRPr lang="en-US" sz="1800" dirty="0">
              <a:solidFill>
                <a:srgbClr val="0D0D2F"/>
              </a:solidFill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51CFB34-34DB-7207-74FE-44F216A3807C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auto">
          <a:xfrm>
            <a:off x="384175" y="3009900"/>
            <a:ext cx="192088" cy="1385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effectLst/>
              </a:rPr>
              <a:t>Average daily trips</a:t>
            </a:r>
          </a:p>
        </p:txBody>
      </p:sp>
    </p:spTree>
    <p:extLst>
      <p:ext uri="{BB962C8B-B14F-4D97-AF65-F5344CB8AC3E}">
        <p14:creationId xmlns:p14="http://schemas.microsoft.com/office/powerpoint/2010/main" val="1348432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846AD-B852-4DAB-89D7-F4127B350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65385A5-E2E8-1181-3334-D730654B511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075175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1" imgW="417" imgH="416" progId="TCLayout.ActiveDocument.1">
                  <p:embed/>
                </p:oleObj>
              </mc:Choice>
              <mc:Fallback>
                <p:oleObj name="think-cell Slide" r:id="rId21" imgW="417" imgH="41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3679A3C-8550-0CAD-C9AA-EEE9E26D78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7D4D3C-51A8-A45D-30B2-E3736DAF1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12A66-822E-4D68-834D-298940211017}" type="slidenum">
              <a:rPr lang="en-US" smtClean="0"/>
              <a:t>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A3FA86-F330-C73F-94F1-54590C964963}"/>
              </a:ext>
            </a:extLst>
          </p:cNvPr>
          <p:cNvSpPr txBox="1"/>
          <p:nvPr/>
        </p:nvSpPr>
        <p:spPr>
          <a:xfrm>
            <a:off x="194678" y="171081"/>
            <a:ext cx="117810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D0D2F"/>
                </a:solidFill>
                <a:latin typeface="Lyft Pro UI" panose="02000503030000000000" pitchFamily="50" charset="0"/>
              </a:rPr>
              <a:t>Warmer Temperatures Boost Trips by 3-4x; Integrate Forecasts to Mitigate Hazard Risks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DC7C82-227F-9D02-9370-92359D8486CF}"/>
              </a:ext>
            </a:extLst>
          </p:cNvPr>
          <p:cNvSpPr txBox="1"/>
          <p:nvPr/>
        </p:nvSpPr>
        <p:spPr>
          <a:xfrm>
            <a:off x="80817" y="6535572"/>
            <a:ext cx="3557733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-US" sz="1100" dirty="0">
                <a:solidFill>
                  <a:srgbClr val="0D0D2F"/>
                </a:solidFill>
                <a:latin typeface="Lyft Pro UI" panose="02000503030000000000" pitchFamily="50" charset="0"/>
              </a:rPr>
              <a:t>Source: </a:t>
            </a:r>
            <a:r>
              <a:rPr lang="en-US" sz="1100" dirty="0" err="1">
                <a:solidFill>
                  <a:srgbClr val="0D0D2F"/>
                </a:solidFill>
                <a:latin typeface="Lyft Pro UI" panose="02000503030000000000" pitchFamily="50" charset="0"/>
              </a:rPr>
              <a:t>Bluebikes</a:t>
            </a:r>
            <a:r>
              <a:rPr lang="en-US" sz="1100" dirty="0">
                <a:solidFill>
                  <a:srgbClr val="0D0D2F"/>
                </a:solidFill>
                <a:latin typeface="Lyft Pro UI" panose="02000503030000000000" pitchFamily="50" charset="0"/>
              </a:rPr>
              <a:t> trip &amp; station data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17379AF6-9B2E-65B2-3496-49E9A4575FFA}"/>
              </a:ext>
            </a:extLst>
          </p:cNvPr>
          <p:cNvSpPr/>
          <p:nvPr/>
        </p:nvSpPr>
        <p:spPr>
          <a:xfrm>
            <a:off x="6553200" y="1749425"/>
            <a:ext cx="5638800" cy="4139930"/>
          </a:xfrm>
          <a:prstGeom prst="rect">
            <a:avLst/>
          </a:prstGeom>
          <a:solidFill>
            <a:srgbClr val="4777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18151853-EE19-9201-53B4-188E3F9CEE48}"/>
              </a:ext>
            </a:extLst>
          </p:cNvPr>
          <p:cNvSpPr txBox="1"/>
          <p:nvPr/>
        </p:nvSpPr>
        <p:spPr>
          <a:xfrm>
            <a:off x="6681391" y="2032363"/>
            <a:ext cx="5382417" cy="357405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EA8735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Lyft Pro UI" panose="02000503030000000000" pitchFamily="50" charset="0"/>
              </a:rPr>
              <a:t>Warm, non-hazard days: highest usage (e.g., ~13k trips/day)</a:t>
            </a:r>
          </a:p>
          <a:p>
            <a:pPr marL="342900" indent="-342900">
              <a:buClr>
                <a:srgbClr val="EA8735"/>
              </a:buClr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  <a:latin typeface="Lyft Pro UI" panose="02000503030000000000" pitchFamily="50" charset="0"/>
            </a:endParaRPr>
          </a:p>
          <a:p>
            <a:pPr marL="342900" indent="-342900">
              <a:lnSpc>
                <a:spcPct val="150000"/>
              </a:lnSpc>
              <a:buClr>
                <a:srgbClr val="EA8735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Lyft Pro UI" panose="02000503030000000000" pitchFamily="50" charset="0"/>
              </a:rPr>
              <a:t>Hazards lower demand 20-30% across all temp buckets</a:t>
            </a:r>
          </a:p>
          <a:p>
            <a:pPr>
              <a:lnSpc>
                <a:spcPct val="150000"/>
              </a:lnSpc>
              <a:buClr>
                <a:srgbClr val="EA8735"/>
              </a:buClr>
            </a:pPr>
            <a:endParaRPr lang="en-US" sz="1200" dirty="0">
              <a:solidFill>
                <a:schemeClr val="bg1"/>
              </a:solidFill>
              <a:latin typeface="Lyft Pro UI" panose="02000503030000000000" pitchFamily="50" charset="0"/>
            </a:endParaRPr>
          </a:p>
          <a:p>
            <a:pPr marL="342900" indent="-342900">
              <a:lnSpc>
                <a:spcPct val="150000"/>
              </a:lnSpc>
              <a:buClr>
                <a:srgbClr val="EA8735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Lyft Pro UI" panose="02000503030000000000" pitchFamily="50" charset="0"/>
              </a:rPr>
              <a:t>Below-freezing, hazard days: lowest usage (e.g., ~3k trips/day)</a:t>
            </a:r>
          </a:p>
        </p:txBody>
      </p:sp>
      <p:graphicFrame>
        <p:nvGraphicFramePr>
          <p:cNvPr id="50" name="Chart 49">
            <a:extLst>
              <a:ext uri="{FF2B5EF4-FFF2-40B4-BE49-F238E27FC236}">
                <a16:creationId xmlns:a16="http://schemas.microsoft.com/office/drawing/2014/main" id="{A2B3A422-F9C6-EF77-7C18-B0D7C64EB2DC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46631624"/>
              </p:ext>
            </p:extLst>
          </p:nvPr>
        </p:nvGraphicFramePr>
        <p:xfrm>
          <a:off x="1046163" y="1749425"/>
          <a:ext cx="5021262" cy="3676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3"/>
          </a:graphicData>
        </a:graphic>
      </p:graphicFrame>
      <p:sp>
        <p:nvSpPr>
          <p:cNvPr id="68" name="Text Placeholder 2">
            <a:extLst>
              <a:ext uri="{FF2B5EF4-FFF2-40B4-BE49-F238E27FC236}">
                <a16:creationId xmlns:a16="http://schemas.microsoft.com/office/drawing/2014/main" id="{D6CAE5B1-9961-D215-6574-74316177F807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814388" y="5233988"/>
            <a:ext cx="19685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fld id="{19778A52-2211-40F2-BA9E-C3941B8B913B}" type="datetime'''''''0''''K'''''''''''''''''">
              <a:rPr lang="en-US" altLang="en-US" sz="1400" smtClean="0">
                <a:solidFill>
                  <a:srgbClr val="0D0D2F"/>
                </a:solidFill>
              </a:rPr>
              <a:pPr marL="0" lv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0K</a:t>
            </a:fld>
            <a:endParaRPr lang="en-US" sz="1400" dirty="0">
              <a:solidFill>
                <a:srgbClr val="0D0D2F"/>
              </a:solidFill>
            </a:endParaRPr>
          </a:p>
        </p:txBody>
      </p:sp>
      <p:sp>
        <p:nvSpPr>
          <p:cNvPr id="71" name="Text Placeholder 2">
            <a:extLst>
              <a:ext uri="{FF2B5EF4-FFF2-40B4-BE49-F238E27FC236}">
                <a16:creationId xmlns:a16="http://schemas.microsoft.com/office/drawing/2014/main" id="{C7E639BB-A299-5158-2FAF-0D926A2D8E9B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814388" y="4535488"/>
            <a:ext cx="19685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fld id="{F21B8818-6E2B-41FC-88F0-8041EF57CD85}" type="datetime'''''''3''''''''K'''''''''''''''''''''''''''''">
              <a:rPr lang="en-US" altLang="en-US" sz="1400" smtClean="0">
                <a:solidFill>
                  <a:srgbClr val="0D0D2F"/>
                </a:solidFill>
              </a:rPr>
              <a:pPr marL="0" lv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3K</a:t>
            </a:fld>
            <a:endParaRPr lang="en-US" sz="1400" dirty="0">
              <a:solidFill>
                <a:srgbClr val="0D0D2F"/>
              </a:solidFill>
            </a:endParaRPr>
          </a:p>
        </p:txBody>
      </p:sp>
      <p:sp>
        <p:nvSpPr>
          <p:cNvPr id="74" name="Text Placeholder 2">
            <a:extLst>
              <a:ext uri="{FF2B5EF4-FFF2-40B4-BE49-F238E27FC236}">
                <a16:creationId xmlns:a16="http://schemas.microsoft.com/office/drawing/2014/main" id="{F84C1B5D-C8D6-AB45-306A-AF5FE2765C2E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814388" y="3836988"/>
            <a:ext cx="19685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fld id="{65AEFCA6-D458-4DF3-AC0E-1C86E083568D}" type="datetime'''6''''''''''''''''''''''''''''K'''''''''''''''''''''''''''''">
              <a:rPr lang="en-US" altLang="en-US" sz="1400" smtClean="0">
                <a:solidFill>
                  <a:srgbClr val="0D0D2F"/>
                </a:solidFill>
              </a:rPr>
              <a:pPr marL="0" lv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6K</a:t>
            </a:fld>
            <a:endParaRPr lang="en-US" sz="1400" dirty="0">
              <a:solidFill>
                <a:srgbClr val="0D0D2F"/>
              </a:solidFill>
            </a:endParaRPr>
          </a:p>
        </p:txBody>
      </p:sp>
      <p:sp>
        <p:nvSpPr>
          <p:cNvPr id="77" name="Text Placeholder 2">
            <a:extLst>
              <a:ext uri="{FF2B5EF4-FFF2-40B4-BE49-F238E27FC236}">
                <a16:creationId xmlns:a16="http://schemas.microsoft.com/office/drawing/2014/main" id="{83535FC6-CC67-1079-9FC7-DD1E21C96F9F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814388" y="3138488"/>
            <a:ext cx="19685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fld id="{3298C902-85CC-4B31-8219-516CB3CD68E3}" type="datetime'''''''''''9''''''''''''''''''K'''''''''''''''''''">
              <a:rPr lang="en-US" altLang="en-US" sz="1400" smtClean="0">
                <a:solidFill>
                  <a:srgbClr val="0D0D2F"/>
                </a:solidFill>
              </a:rPr>
              <a:pPr marL="0" lv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9K</a:t>
            </a:fld>
            <a:endParaRPr lang="en-US" sz="1400" dirty="0">
              <a:solidFill>
                <a:srgbClr val="0D0D2F"/>
              </a:solidFill>
            </a:endParaRPr>
          </a:p>
        </p:txBody>
      </p:sp>
      <p:sp>
        <p:nvSpPr>
          <p:cNvPr id="80" name="Text Placeholder 2">
            <a:extLst>
              <a:ext uri="{FF2B5EF4-FFF2-40B4-BE49-F238E27FC236}">
                <a16:creationId xmlns:a16="http://schemas.microsoft.com/office/drawing/2014/main" id="{01E8A3BF-1899-5BC1-DF9D-70EAC8E39A90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719138" y="2439988"/>
            <a:ext cx="2921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fld id="{15695441-3693-432B-836B-55D04901A994}" type="datetime'''''''''1''''''''''''''2''''''''''''''''''''''''''''K'''''''''">
              <a:rPr lang="en-US" altLang="en-US" sz="1400" smtClean="0">
                <a:solidFill>
                  <a:srgbClr val="0D0D2F"/>
                </a:solidFill>
              </a:rPr>
              <a:pPr marL="0" lv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12K</a:t>
            </a:fld>
            <a:endParaRPr lang="en-US" sz="1400" dirty="0">
              <a:solidFill>
                <a:srgbClr val="0D0D2F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51CFB34-34DB-7207-74FE-44F216A3807C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719138" y="1741488"/>
            <a:ext cx="2921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fld id="{87506D3F-BE7E-4782-A5AB-234479173915}" type="datetime'''''''''1''''''5''''''''''''''''''''''''''K'">
              <a:rPr lang="en-US" altLang="en-US" sz="1400" smtClean="0">
                <a:solidFill>
                  <a:srgbClr val="0D0D2F"/>
                </a:solidFill>
                <a:effectLst/>
              </a:rPr>
              <a:pPr marL="0" lv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15K</a:t>
            </a:fld>
            <a:endParaRPr lang="en-US" sz="1400" dirty="0">
              <a:solidFill>
                <a:srgbClr val="0D0D2F"/>
              </a:solidFill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DE56E43-397D-0E02-0A73-3B623AAD8018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384175" y="2886075"/>
            <a:ext cx="192088" cy="1385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effectLst/>
              </a:rPr>
              <a:t>Average daily trips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62F5901-2E07-6CBC-D336-1EFCC91CB7CB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1198563" y="5400675"/>
            <a:ext cx="833438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C3E7D375-EF7A-4010-8194-470720C81CCF}" type="datetime'B''''''''el''''''ow ''F''''''re''''''e''z''''i''''ng'''''''">
              <a:rPr lang="en-US" altLang="en-US" sz="1800" smtClean="0">
                <a:solidFill>
                  <a:srgbClr val="0D0D2F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Below Freezing</a:t>
            </a:fld>
            <a:endParaRPr lang="en-US" sz="1800" dirty="0">
              <a:solidFill>
                <a:srgbClr val="0D0D2F"/>
              </a:solidFill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8A91FDE-DE29-C4AE-C570-5D73CF632FDF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2344738" y="5400675"/>
            <a:ext cx="484188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1459DE96-9E6B-4BDD-B036-79FBC14B855D}" type="datetime'''''''''''''''''''''''''Co''l''''''''''''d'">
              <a:rPr lang="en-US" altLang="en-US" sz="1800" smtClean="0">
                <a:solidFill>
                  <a:srgbClr val="0D0D2F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Cold</a:t>
            </a:fld>
            <a:endParaRPr lang="en-US" sz="1800" dirty="0">
              <a:solidFill>
                <a:srgbClr val="0D0D2F"/>
              </a:solidFill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4B0AC280-E2AD-8D6D-4338-34B7E8CD1009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3338513" y="5400675"/>
            <a:ext cx="434975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6261DB6B-5725-473A-B20E-AD8BF3A85AE5}" type="datetime'''''''''M''''''''''''''''i''''''''''l''''''''''''d'">
              <a:rPr lang="en-US" altLang="en-US" sz="1800" smtClean="0">
                <a:solidFill>
                  <a:srgbClr val="0D0D2F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Mild</a:t>
            </a:fld>
            <a:endParaRPr lang="en-US" sz="1800" dirty="0">
              <a:solidFill>
                <a:srgbClr val="0D0D2F"/>
              </a:solidFill>
            </a:endParaRP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8B1C916-7660-B0EB-648F-A6E39CA4BB22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4227513" y="5400675"/>
            <a:ext cx="600075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192425E3-DA2C-44FE-B8EF-F2E28D82E177}" type="datetime'''''''''W''''''a''''''''''''''''''''r''''''''''''''m'">
              <a:rPr lang="en-US" altLang="en-US" sz="1800" smtClean="0">
                <a:solidFill>
                  <a:srgbClr val="0D0D2F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Warm</a:t>
            </a:fld>
            <a:endParaRPr lang="en-US" sz="1800" dirty="0">
              <a:solidFill>
                <a:srgbClr val="0D0D2F"/>
              </a:solidFill>
            </a:endParaRP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EA3305C6-D940-E6F9-89A1-C0404C0A5A8F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auto">
          <a:xfrm>
            <a:off x="5311775" y="5400675"/>
            <a:ext cx="37465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9A6D32D2-BAA4-4DF0-B063-D6E3CE708FEC}" type="datetime'''''''''''''''''''''''''Ho''''''''''''''''t'''''''''''''''''''">
              <a:rPr lang="en-US" altLang="en-US" sz="1800" smtClean="0">
                <a:solidFill>
                  <a:srgbClr val="0D0D2F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Hot</a:t>
            </a:fld>
            <a:endParaRPr lang="en-US" sz="1800" dirty="0">
              <a:solidFill>
                <a:srgbClr val="0D0D2F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30BCFC3-D7BA-3A0C-5AF6-9CDA64F208BF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3775075" y="5895975"/>
            <a:ext cx="250825" cy="187325"/>
          </a:xfrm>
          <a:prstGeom prst="rect">
            <a:avLst/>
          </a:prstGeom>
          <a:solidFill>
            <a:srgbClr val="FB4D42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5D496CA-D236-6BBF-BE23-C5FD9AEBE736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4727575" y="5895975"/>
            <a:ext cx="250825" cy="187325"/>
          </a:xfrm>
          <a:prstGeom prst="rect">
            <a:avLst/>
          </a:prstGeom>
          <a:solidFill>
            <a:srgbClr val="4272B7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C51CFB34-34DB-7207-74FE-44F216A3807C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5029200" y="5907088"/>
            <a:ext cx="86677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139F9FFD-DA47-480C-BFCD-31541383149E}" type="datetime'''No''''''''''''''''''''''''t'''' ''''''''''''Haza''''r''''d'">
              <a:rPr lang="en-US" altLang="en-US" sz="1400" smtClean="0">
                <a:effectLst/>
              </a:rPr>
              <a:pPr/>
              <a:t>Not Hazard</a:t>
            </a:fld>
            <a:endParaRPr lang="en-US" sz="1400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51CFB34-34DB-7207-74FE-44F216A3807C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auto">
          <a:xfrm>
            <a:off x="4076700" y="5907088"/>
            <a:ext cx="54927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C966BA03-3A31-4A29-A894-684034D74F78}" type="datetime'''''''''H''''''''''a''''''''''''''''''''za''''''r''''''''d'">
              <a:rPr lang="en-US" altLang="en-US" sz="1400" smtClean="0">
                <a:effectLst/>
              </a:rPr>
              <a:pPr/>
              <a:t>Hazard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1675290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DBB47-4B2E-E751-2438-192971483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0175CEBF-8D95-E615-2D10-9B6381B0BDD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36994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17" imgH="416" progId="TCLayout.ActiveDocument.1">
                  <p:embed/>
                </p:oleObj>
              </mc:Choice>
              <mc:Fallback>
                <p:oleObj name="think-cell Slide" r:id="rId4" imgW="417" imgH="41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6987D8F-F5E2-FD40-C5F5-447A49C12C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Group 24">
            <a:extLst>
              <a:ext uri="{FF2B5EF4-FFF2-40B4-BE49-F238E27FC236}">
                <a16:creationId xmlns:a16="http://schemas.microsoft.com/office/drawing/2014/main" id="{9A4FF7D4-A963-2791-27E4-B3602DE7338B}"/>
              </a:ext>
            </a:extLst>
          </p:cNvPr>
          <p:cNvGrpSpPr/>
          <p:nvPr/>
        </p:nvGrpSpPr>
        <p:grpSpPr>
          <a:xfrm>
            <a:off x="2563813" y="3295599"/>
            <a:ext cx="7064374" cy="523220"/>
            <a:chOff x="2563813" y="3050355"/>
            <a:chExt cx="7064374" cy="52322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B0009DE-0538-57B1-7176-7ACABBCF8CA1}"/>
                </a:ext>
              </a:extLst>
            </p:cNvPr>
            <p:cNvSpPr txBox="1"/>
            <p:nvPr/>
          </p:nvSpPr>
          <p:spPr>
            <a:xfrm>
              <a:off x="3302421" y="3050355"/>
              <a:ext cx="632576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2800" b="1">
                  <a:solidFill>
                    <a:srgbClr val="091F2F"/>
                  </a:solidFill>
                  <a:latin typeface="Montserrat" pitchFamily="2" charset="0"/>
                </a:defRPr>
              </a:lvl1pPr>
            </a:lstStyle>
            <a:p>
              <a:r>
                <a:rPr lang="en-US" dirty="0">
                  <a:solidFill>
                    <a:srgbClr val="0D0D2F"/>
                  </a:solidFill>
                  <a:latin typeface="Lyft Pro UI" panose="02000503030000000000" pitchFamily="50" charset="0"/>
                </a:rPr>
                <a:t>Weather Impact</a:t>
              </a:r>
            </a:p>
          </p:txBody>
        </p:sp>
        <p:pic>
          <p:nvPicPr>
            <p:cNvPr id="8" name="Graphic 7" descr="Partial sun with solid fill">
              <a:extLst>
                <a:ext uri="{FF2B5EF4-FFF2-40B4-BE49-F238E27FC236}">
                  <a16:creationId xmlns:a16="http://schemas.microsoft.com/office/drawing/2014/main" id="{25F5B6C2-293E-CA2A-13DC-8195F0D7BE8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563813" y="3055549"/>
              <a:ext cx="512832" cy="512832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5513C21-CD37-A27B-FC99-7CBAE43433EA}"/>
              </a:ext>
            </a:extLst>
          </p:cNvPr>
          <p:cNvGrpSpPr/>
          <p:nvPr/>
        </p:nvGrpSpPr>
        <p:grpSpPr>
          <a:xfrm>
            <a:off x="2563813" y="2264787"/>
            <a:ext cx="7064374" cy="523220"/>
            <a:chOff x="2563813" y="2142165"/>
            <a:chExt cx="7064374" cy="523220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8EE771F-10F9-A417-3AB6-56A6E0FCBC82}"/>
                </a:ext>
              </a:extLst>
            </p:cNvPr>
            <p:cNvSpPr txBox="1"/>
            <p:nvPr/>
          </p:nvSpPr>
          <p:spPr>
            <a:xfrm>
              <a:off x="3302421" y="2142165"/>
              <a:ext cx="632576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rgbClr val="0D0D2F"/>
                  </a:solidFill>
                  <a:latin typeface="Lyft Pro UI" panose="02000503030000000000" pitchFamily="50" charset="0"/>
                </a:rPr>
                <a:t>Usage Profile</a:t>
              </a:r>
            </a:p>
          </p:txBody>
        </p:sp>
        <p:pic>
          <p:nvPicPr>
            <p:cNvPr id="2" name="Graphic 1" descr="Signal with solid fill">
              <a:extLst>
                <a:ext uri="{FF2B5EF4-FFF2-40B4-BE49-F238E27FC236}">
                  <a16:creationId xmlns:a16="http://schemas.microsoft.com/office/drawing/2014/main" id="{257A8C7E-A367-BE3E-3393-B54429D1CB5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563813" y="2147359"/>
              <a:ext cx="512832" cy="512832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D1B797B-9D38-7C8B-F889-5AD1DF6A4FEA}"/>
              </a:ext>
            </a:extLst>
          </p:cNvPr>
          <p:cNvGrpSpPr/>
          <p:nvPr/>
        </p:nvGrpSpPr>
        <p:grpSpPr>
          <a:xfrm>
            <a:off x="2563813" y="1233975"/>
            <a:ext cx="7064374" cy="523220"/>
            <a:chOff x="2563813" y="1233975"/>
            <a:chExt cx="7064374" cy="523220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9B43D30-5E57-AAAC-78BA-83A282A1E2D8}"/>
                </a:ext>
              </a:extLst>
            </p:cNvPr>
            <p:cNvSpPr txBox="1"/>
            <p:nvPr/>
          </p:nvSpPr>
          <p:spPr>
            <a:xfrm>
              <a:off x="3302421" y="1233975"/>
              <a:ext cx="632576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2800" b="1">
                  <a:solidFill>
                    <a:srgbClr val="091F2F"/>
                  </a:solidFill>
                  <a:latin typeface="Montserrat" pitchFamily="2" charset="0"/>
                </a:defRPr>
              </a:lvl1pPr>
            </a:lstStyle>
            <a:p>
              <a:r>
                <a:rPr lang="en-US" dirty="0">
                  <a:solidFill>
                    <a:srgbClr val="0D0D2F"/>
                  </a:solidFill>
                  <a:latin typeface="Lyft Pro UI" panose="02000503030000000000" pitchFamily="50" charset="0"/>
                </a:rPr>
                <a:t>Problem Definition and Objectives</a:t>
              </a:r>
            </a:p>
          </p:txBody>
        </p:sp>
        <p:pic>
          <p:nvPicPr>
            <p:cNvPr id="26" name="Graphic 25" descr="Bullseye with solid fill">
              <a:extLst>
                <a:ext uri="{FF2B5EF4-FFF2-40B4-BE49-F238E27FC236}">
                  <a16:creationId xmlns:a16="http://schemas.microsoft.com/office/drawing/2014/main" id="{46668423-A0C3-70D6-F39B-86CF723F73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563813" y="1239169"/>
              <a:ext cx="512832" cy="512832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1C0E791-ACF3-5DCA-86D1-184E62458C23}"/>
              </a:ext>
            </a:extLst>
          </p:cNvPr>
          <p:cNvGrpSpPr/>
          <p:nvPr/>
        </p:nvGrpSpPr>
        <p:grpSpPr>
          <a:xfrm>
            <a:off x="2563813" y="5357221"/>
            <a:ext cx="7064374" cy="523220"/>
            <a:chOff x="2563813" y="5774927"/>
            <a:chExt cx="7064374" cy="523220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24F12D0-311E-C5F2-9BD6-64B030CCBE56}"/>
                </a:ext>
              </a:extLst>
            </p:cNvPr>
            <p:cNvSpPr txBox="1"/>
            <p:nvPr/>
          </p:nvSpPr>
          <p:spPr>
            <a:xfrm>
              <a:off x="3302421" y="5774927"/>
              <a:ext cx="632576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2800" b="1">
                  <a:solidFill>
                    <a:srgbClr val="091F2F"/>
                  </a:solidFill>
                  <a:latin typeface="Montserrat" pitchFamily="2" charset="0"/>
                </a:defRPr>
              </a:lvl1pPr>
            </a:lstStyle>
            <a:p>
              <a:r>
                <a:rPr lang="en-US" dirty="0">
                  <a:solidFill>
                    <a:srgbClr val="0D0D2F"/>
                  </a:solidFill>
                  <a:latin typeface="Lyft Pro UI" panose="02000503030000000000" pitchFamily="50" charset="0"/>
                </a:rPr>
                <a:t>Conclusion</a:t>
              </a:r>
            </a:p>
          </p:txBody>
        </p:sp>
        <p:pic>
          <p:nvPicPr>
            <p:cNvPr id="6" name="Graphic 5" descr="Rewind with solid fill">
              <a:extLst>
                <a:ext uri="{FF2B5EF4-FFF2-40B4-BE49-F238E27FC236}">
                  <a16:creationId xmlns:a16="http://schemas.microsoft.com/office/drawing/2014/main" id="{60F5C5B4-1DB9-52F9-0222-A02938F3EA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flipH="1">
              <a:off x="2563813" y="5780121"/>
              <a:ext cx="512832" cy="512832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C7FCDDAE-FDDC-1946-85C8-0C491206F8C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80000"/>
                </a:schemeClr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716311-4BD9-FC3C-E62B-F54A74540024}"/>
              </a:ext>
            </a:extLst>
          </p:cNvPr>
          <p:cNvSpPr txBox="1"/>
          <p:nvPr/>
        </p:nvSpPr>
        <p:spPr>
          <a:xfrm>
            <a:off x="194678" y="171081"/>
            <a:ext cx="117810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D0D2F"/>
                </a:solidFill>
                <a:latin typeface="Lyft Pro UI" panose="02000503030000000000" pitchFamily="50" charset="0"/>
              </a:rPr>
              <a:t>Table of Contents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AA4677C-5E43-1363-EA90-AF94744C9EA9}"/>
              </a:ext>
            </a:extLst>
          </p:cNvPr>
          <p:cNvGrpSpPr>
            <a:grpSpLocks noChangeAspect="1"/>
          </p:cNvGrpSpPr>
          <p:nvPr/>
        </p:nvGrpSpPr>
        <p:grpSpPr>
          <a:xfrm>
            <a:off x="11523824" y="6371722"/>
            <a:ext cx="494499" cy="334378"/>
            <a:chOff x="7857722" y="318591"/>
            <a:chExt cx="2080112" cy="1406566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AB8FE44-DA6A-ACFC-2D15-70178EB619F4}"/>
                </a:ext>
              </a:extLst>
            </p:cNvPr>
            <p:cNvGrpSpPr/>
            <p:nvPr userDrawn="1"/>
          </p:nvGrpSpPr>
          <p:grpSpPr>
            <a:xfrm>
              <a:off x="7857724" y="318591"/>
              <a:ext cx="2080110" cy="584948"/>
              <a:chOff x="7857724" y="318591"/>
              <a:chExt cx="2080110" cy="584948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84508767-D856-5B4A-6369-F15751DD70F3}"/>
                  </a:ext>
                </a:extLst>
              </p:cNvPr>
              <p:cNvSpPr/>
              <p:nvPr/>
            </p:nvSpPr>
            <p:spPr>
              <a:xfrm>
                <a:off x="7857724" y="318591"/>
                <a:ext cx="1528161" cy="584948"/>
              </a:xfrm>
              <a:custGeom>
                <a:avLst/>
                <a:gdLst>
                  <a:gd name="connsiteX0" fmla="*/ 152967 w 1528161"/>
                  <a:gd name="connsiteY0" fmla="*/ 453381 h 584948"/>
                  <a:gd name="connsiteX1" fmla="*/ 275518 w 1528161"/>
                  <a:gd name="connsiteY1" fmla="*/ 453381 h 584948"/>
                  <a:gd name="connsiteX2" fmla="*/ 357751 w 1528161"/>
                  <a:gd name="connsiteY2" fmla="*/ 389181 h 584948"/>
                  <a:gd name="connsiteX3" fmla="*/ 275518 w 1528161"/>
                  <a:gd name="connsiteY3" fmla="*/ 321813 h 584948"/>
                  <a:gd name="connsiteX4" fmla="*/ 152967 w 1528161"/>
                  <a:gd name="connsiteY4" fmla="*/ 321813 h 584948"/>
                  <a:gd name="connsiteX5" fmla="*/ 152967 w 1528161"/>
                  <a:gd name="connsiteY5" fmla="*/ 225513 h 584948"/>
                  <a:gd name="connsiteX6" fmla="*/ 271381 w 1528161"/>
                  <a:gd name="connsiteY6" fmla="*/ 225513 h 584948"/>
                  <a:gd name="connsiteX7" fmla="*/ 333926 w 1528161"/>
                  <a:gd name="connsiteY7" fmla="*/ 170957 h 584948"/>
                  <a:gd name="connsiteX8" fmla="*/ 271409 w 1528161"/>
                  <a:gd name="connsiteY8" fmla="*/ 115603 h 584948"/>
                  <a:gd name="connsiteX9" fmla="*/ 152996 w 1528161"/>
                  <a:gd name="connsiteY9" fmla="*/ 115603 h 584948"/>
                  <a:gd name="connsiteX10" fmla="*/ 0 w 1528161"/>
                  <a:gd name="connsiteY10" fmla="*/ 71 h 584948"/>
                  <a:gd name="connsiteX11" fmla="*/ 274691 w 1528161"/>
                  <a:gd name="connsiteY11" fmla="*/ 71 h 584948"/>
                  <a:gd name="connsiteX12" fmla="*/ 486865 w 1528161"/>
                  <a:gd name="connsiteY12" fmla="*/ 143679 h 584948"/>
                  <a:gd name="connsiteX13" fmla="*/ 409568 w 1528161"/>
                  <a:gd name="connsiteY13" fmla="*/ 259240 h 584948"/>
                  <a:gd name="connsiteX14" fmla="*/ 510747 w 1528161"/>
                  <a:gd name="connsiteY14" fmla="*/ 394802 h 584948"/>
                  <a:gd name="connsiteX15" fmla="*/ 282081 w 1528161"/>
                  <a:gd name="connsiteY15" fmla="*/ 572936 h 584948"/>
                  <a:gd name="connsiteX16" fmla="*/ 0 w 1528161"/>
                  <a:gd name="connsiteY16" fmla="*/ 572936 h 584948"/>
                  <a:gd name="connsiteX17" fmla="*/ 564904 w 1528161"/>
                  <a:gd name="connsiteY17" fmla="*/ 42 h 584948"/>
                  <a:gd name="connsiteX18" fmla="*/ 717899 w 1528161"/>
                  <a:gd name="connsiteY18" fmla="*/ 42 h 584948"/>
                  <a:gd name="connsiteX19" fmla="*/ 717899 w 1528161"/>
                  <a:gd name="connsiteY19" fmla="*/ 444535 h 584948"/>
                  <a:gd name="connsiteX20" fmla="*/ 991763 w 1528161"/>
                  <a:gd name="connsiteY20" fmla="*/ 444535 h 584948"/>
                  <a:gd name="connsiteX21" fmla="*/ 991763 w 1528161"/>
                  <a:gd name="connsiteY21" fmla="*/ 572936 h 584948"/>
                  <a:gd name="connsiteX22" fmla="*/ 564904 w 1528161"/>
                  <a:gd name="connsiteY22" fmla="*/ 572936 h 584948"/>
                  <a:gd name="connsiteX23" fmla="*/ 1528161 w 1528161"/>
                  <a:gd name="connsiteY23" fmla="*/ 336223 h 584948"/>
                  <a:gd name="connsiteX24" fmla="*/ 1272360 w 1528161"/>
                  <a:gd name="connsiteY24" fmla="*/ 584948 h 584948"/>
                  <a:gd name="connsiteX25" fmla="*/ 1016587 w 1528161"/>
                  <a:gd name="connsiteY25" fmla="*/ 336223 h 584948"/>
                  <a:gd name="connsiteX26" fmla="*/ 1016587 w 1528161"/>
                  <a:gd name="connsiteY26" fmla="*/ 42 h 584948"/>
                  <a:gd name="connsiteX27" fmla="*/ 1169583 w 1528161"/>
                  <a:gd name="connsiteY27" fmla="*/ 42 h 584948"/>
                  <a:gd name="connsiteX28" fmla="*/ 1169583 w 1528161"/>
                  <a:gd name="connsiteY28" fmla="*/ 345068 h 584948"/>
                  <a:gd name="connsiteX29" fmla="*/ 1272360 w 1528161"/>
                  <a:gd name="connsiteY29" fmla="*/ 456576 h 584948"/>
                  <a:gd name="connsiteX30" fmla="*/ 1375194 w 1528161"/>
                  <a:gd name="connsiteY30" fmla="*/ 345068 h 584948"/>
                  <a:gd name="connsiteX31" fmla="*/ 1375194 w 1528161"/>
                  <a:gd name="connsiteY31" fmla="*/ 14 h 584948"/>
                  <a:gd name="connsiteX32" fmla="*/ 1528161 w 1528161"/>
                  <a:gd name="connsiteY32" fmla="*/ 14 h 5849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28161" h="584948">
                    <a:moveTo>
                      <a:pt x="152967" y="453381"/>
                    </a:moveTo>
                    <a:lnTo>
                      <a:pt x="275518" y="453381"/>
                    </a:lnTo>
                    <a:cubicBezTo>
                      <a:pt x="324025" y="453381"/>
                      <a:pt x="357751" y="436546"/>
                      <a:pt x="357751" y="389181"/>
                    </a:cubicBezTo>
                    <a:cubicBezTo>
                      <a:pt x="357751" y="338677"/>
                      <a:pt x="321571" y="321813"/>
                      <a:pt x="275518" y="321813"/>
                    </a:cubicBezTo>
                    <a:lnTo>
                      <a:pt x="152967" y="321813"/>
                    </a:lnTo>
                    <a:close/>
                    <a:moveTo>
                      <a:pt x="152967" y="225513"/>
                    </a:moveTo>
                    <a:lnTo>
                      <a:pt x="271381" y="225513"/>
                    </a:lnTo>
                    <a:cubicBezTo>
                      <a:pt x="297717" y="225513"/>
                      <a:pt x="333926" y="211874"/>
                      <a:pt x="333926" y="170957"/>
                    </a:cubicBezTo>
                    <a:cubicBezTo>
                      <a:pt x="333926" y="129242"/>
                      <a:pt x="303481" y="115603"/>
                      <a:pt x="271409" y="115603"/>
                    </a:cubicBezTo>
                    <a:lnTo>
                      <a:pt x="152996" y="115603"/>
                    </a:lnTo>
                    <a:close/>
                    <a:moveTo>
                      <a:pt x="0" y="71"/>
                    </a:moveTo>
                    <a:lnTo>
                      <a:pt x="274691" y="71"/>
                    </a:lnTo>
                    <a:cubicBezTo>
                      <a:pt x="375870" y="-1555"/>
                      <a:pt x="486865" y="24125"/>
                      <a:pt x="486865" y="143679"/>
                    </a:cubicBezTo>
                    <a:cubicBezTo>
                      <a:pt x="486865" y="195040"/>
                      <a:pt x="455621" y="236755"/>
                      <a:pt x="409568" y="259240"/>
                    </a:cubicBezTo>
                    <a:cubicBezTo>
                      <a:pt x="472085" y="276845"/>
                      <a:pt x="510747" y="329831"/>
                      <a:pt x="510747" y="394802"/>
                    </a:cubicBezTo>
                    <a:cubicBezTo>
                      <a:pt x="510747" y="531191"/>
                      <a:pt x="407942" y="572936"/>
                      <a:pt x="282081" y="572936"/>
                    </a:cubicBezTo>
                    <a:lnTo>
                      <a:pt x="0" y="572936"/>
                    </a:lnTo>
                    <a:close/>
                    <a:moveTo>
                      <a:pt x="564904" y="42"/>
                    </a:moveTo>
                    <a:lnTo>
                      <a:pt x="717899" y="42"/>
                    </a:lnTo>
                    <a:lnTo>
                      <a:pt x="717899" y="444535"/>
                    </a:lnTo>
                    <a:lnTo>
                      <a:pt x="991763" y="444535"/>
                    </a:lnTo>
                    <a:lnTo>
                      <a:pt x="991763" y="572936"/>
                    </a:lnTo>
                    <a:lnTo>
                      <a:pt x="564904" y="572936"/>
                    </a:lnTo>
                    <a:close/>
                    <a:moveTo>
                      <a:pt x="1528161" y="336223"/>
                    </a:moveTo>
                    <a:cubicBezTo>
                      <a:pt x="1528161" y="502315"/>
                      <a:pt x="1450009" y="584948"/>
                      <a:pt x="1272360" y="584948"/>
                    </a:cubicBezTo>
                    <a:cubicBezTo>
                      <a:pt x="1094711" y="584948"/>
                      <a:pt x="1016587" y="502315"/>
                      <a:pt x="1016587" y="336223"/>
                    </a:cubicBezTo>
                    <a:lnTo>
                      <a:pt x="1016587" y="42"/>
                    </a:lnTo>
                    <a:lnTo>
                      <a:pt x="1169583" y="42"/>
                    </a:lnTo>
                    <a:lnTo>
                      <a:pt x="1169583" y="345068"/>
                    </a:lnTo>
                    <a:cubicBezTo>
                      <a:pt x="1169583" y="418855"/>
                      <a:pt x="1197545" y="456576"/>
                      <a:pt x="1272360" y="456576"/>
                    </a:cubicBezTo>
                    <a:cubicBezTo>
                      <a:pt x="1347203" y="456576"/>
                      <a:pt x="1375194" y="418855"/>
                      <a:pt x="1375194" y="345068"/>
                    </a:cubicBezTo>
                    <a:lnTo>
                      <a:pt x="1375194" y="14"/>
                    </a:lnTo>
                    <a:lnTo>
                      <a:pt x="1528161" y="14"/>
                    </a:lnTo>
                    <a:close/>
                  </a:path>
                </a:pathLst>
              </a:custGeom>
              <a:solidFill>
                <a:srgbClr val="2CA3E1"/>
              </a:solidFill>
              <a:ln w="285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95EF8942-3BC2-5058-D6CD-AE4966603189}"/>
                  </a:ext>
                </a:extLst>
              </p:cNvPr>
              <p:cNvSpPr/>
              <p:nvPr/>
            </p:nvSpPr>
            <p:spPr>
              <a:xfrm>
                <a:off x="9461613" y="318634"/>
                <a:ext cx="476221" cy="572893"/>
              </a:xfrm>
              <a:custGeom>
                <a:avLst/>
                <a:gdLst>
                  <a:gd name="connsiteX0" fmla="*/ 0 w 476221"/>
                  <a:gd name="connsiteY0" fmla="*/ 0 h 572893"/>
                  <a:gd name="connsiteX1" fmla="*/ 467976 w 476221"/>
                  <a:gd name="connsiteY1" fmla="*/ 0 h 572893"/>
                  <a:gd name="connsiteX2" fmla="*/ 467976 w 476221"/>
                  <a:gd name="connsiteY2" fmla="*/ 119555 h 572893"/>
                  <a:gd name="connsiteX3" fmla="*/ 152967 w 476221"/>
                  <a:gd name="connsiteY3" fmla="*/ 119555 h 572893"/>
                  <a:gd name="connsiteX4" fmla="*/ 152967 w 476221"/>
                  <a:gd name="connsiteY4" fmla="*/ 219850 h 572893"/>
                  <a:gd name="connsiteX5" fmla="*/ 440869 w 476221"/>
                  <a:gd name="connsiteY5" fmla="*/ 219850 h 572893"/>
                  <a:gd name="connsiteX6" fmla="*/ 440869 w 476221"/>
                  <a:gd name="connsiteY6" fmla="*/ 335410 h 572893"/>
                  <a:gd name="connsiteX7" fmla="*/ 152967 w 476221"/>
                  <a:gd name="connsiteY7" fmla="*/ 335410 h 572893"/>
                  <a:gd name="connsiteX8" fmla="*/ 152967 w 476221"/>
                  <a:gd name="connsiteY8" fmla="*/ 444493 h 572893"/>
                  <a:gd name="connsiteX9" fmla="*/ 476222 w 476221"/>
                  <a:gd name="connsiteY9" fmla="*/ 444493 h 572893"/>
                  <a:gd name="connsiteX10" fmla="*/ 476222 w 476221"/>
                  <a:gd name="connsiteY10" fmla="*/ 572893 h 572893"/>
                  <a:gd name="connsiteX11" fmla="*/ 0 w 476221"/>
                  <a:gd name="connsiteY11" fmla="*/ 572893 h 5728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76221" h="572893">
                    <a:moveTo>
                      <a:pt x="0" y="0"/>
                    </a:moveTo>
                    <a:lnTo>
                      <a:pt x="467976" y="0"/>
                    </a:lnTo>
                    <a:lnTo>
                      <a:pt x="467976" y="119555"/>
                    </a:lnTo>
                    <a:lnTo>
                      <a:pt x="152967" y="119555"/>
                    </a:lnTo>
                    <a:lnTo>
                      <a:pt x="152967" y="219850"/>
                    </a:lnTo>
                    <a:lnTo>
                      <a:pt x="440869" y="219850"/>
                    </a:lnTo>
                    <a:lnTo>
                      <a:pt x="440869" y="335410"/>
                    </a:lnTo>
                    <a:lnTo>
                      <a:pt x="152967" y="335410"/>
                    </a:lnTo>
                    <a:lnTo>
                      <a:pt x="152967" y="444493"/>
                    </a:lnTo>
                    <a:lnTo>
                      <a:pt x="476222" y="444493"/>
                    </a:lnTo>
                    <a:lnTo>
                      <a:pt x="476222" y="572893"/>
                    </a:lnTo>
                    <a:lnTo>
                      <a:pt x="0" y="572893"/>
                    </a:lnTo>
                    <a:close/>
                  </a:path>
                </a:pathLst>
              </a:custGeom>
              <a:solidFill>
                <a:srgbClr val="2CA3E1"/>
              </a:solidFill>
              <a:ln w="285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ACEC423-F9DD-9A9F-C5CE-457F93F8FDDC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7857722" y="1038476"/>
              <a:ext cx="2080110" cy="686681"/>
              <a:chOff x="10011822" y="312071"/>
              <a:chExt cx="1789355" cy="590698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68CFD3D3-CE4D-CC29-3DB7-C2D4B870AEB7}"/>
                  </a:ext>
                </a:extLst>
              </p:cNvPr>
              <p:cNvSpPr/>
              <p:nvPr userDrawn="1"/>
            </p:nvSpPr>
            <p:spPr>
              <a:xfrm>
                <a:off x="10011822" y="318605"/>
                <a:ext cx="1020238" cy="584106"/>
              </a:xfrm>
              <a:custGeom>
                <a:avLst/>
                <a:gdLst>
                  <a:gd name="connsiteX0" fmla="*/ 209720 w 1020238"/>
                  <a:gd name="connsiteY0" fmla="*/ 219108 h 584106"/>
                  <a:gd name="connsiteX1" fmla="*/ 90479 w 1020238"/>
                  <a:gd name="connsiteY1" fmla="*/ 365912 h 584106"/>
                  <a:gd name="connsiteX2" fmla="*/ 209749 w 1020238"/>
                  <a:gd name="connsiteY2" fmla="*/ 511917 h 584106"/>
                  <a:gd name="connsiteX3" fmla="*/ 327363 w 1020238"/>
                  <a:gd name="connsiteY3" fmla="*/ 365912 h 584106"/>
                  <a:gd name="connsiteX4" fmla="*/ 209720 w 1020238"/>
                  <a:gd name="connsiteY4" fmla="*/ 219079 h 584106"/>
                  <a:gd name="connsiteX5" fmla="*/ 0 w 1020238"/>
                  <a:gd name="connsiteY5" fmla="*/ 0 h 584106"/>
                  <a:gd name="connsiteX6" fmla="*/ 93761 w 1020238"/>
                  <a:gd name="connsiteY6" fmla="*/ 0 h 584106"/>
                  <a:gd name="connsiteX7" fmla="*/ 93761 w 1020238"/>
                  <a:gd name="connsiteY7" fmla="*/ 211832 h 584106"/>
                  <a:gd name="connsiteX8" fmla="*/ 95415 w 1020238"/>
                  <a:gd name="connsiteY8" fmla="*/ 211832 h 584106"/>
                  <a:gd name="connsiteX9" fmla="*/ 222075 w 1020238"/>
                  <a:gd name="connsiteY9" fmla="*/ 146833 h 584106"/>
                  <a:gd name="connsiteX10" fmla="*/ 421095 w 1020238"/>
                  <a:gd name="connsiteY10" fmla="*/ 367481 h 584106"/>
                  <a:gd name="connsiteX11" fmla="*/ 237683 w 1020238"/>
                  <a:gd name="connsiteY11" fmla="*/ 584107 h 584106"/>
                  <a:gd name="connsiteX12" fmla="*/ 90451 w 1020238"/>
                  <a:gd name="connsiteY12" fmla="*/ 515912 h 584106"/>
                  <a:gd name="connsiteX13" fmla="*/ 88824 w 1020238"/>
                  <a:gd name="connsiteY13" fmla="*/ 515912 h 584106"/>
                  <a:gd name="connsiteX14" fmla="*/ 88824 w 1020238"/>
                  <a:gd name="connsiteY14" fmla="*/ 572865 h 584106"/>
                  <a:gd name="connsiteX15" fmla="*/ 29 w 1020238"/>
                  <a:gd name="connsiteY15" fmla="*/ 572865 h 584106"/>
                  <a:gd name="connsiteX16" fmla="*/ 467148 w 1020238"/>
                  <a:gd name="connsiteY16" fmla="*/ 572922 h 584106"/>
                  <a:gd name="connsiteX17" fmla="*/ 560909 w 1020238"/>
                  <a:gd name="connsiteY17" fmla="*/ 572922 h 584106"/>
                  <a:gd name="connsiteX18" fmla="*/ 560909 w 1020238"/>
                  <a:gd name="connsiteY18" fmla="*/ 158075 h 584106"/>
                  <a:gd name="connsiteX19" fmla="*/ 467148 w 1020238"/>
                  <a:gd name="connsiteY19" fmla="*/ 158075 h 584106"/>
                  <a:gd name="connsiteX20" fmla="*/ 626307 w 1020238"/>
                  <a:gd name="connsiteY20" fmla="*/ 29 h 584106"/>
                  <a:gd name="connsiteX21" fmla="*/ 720039 w 1020238"/>
                  <a:gd name="connsiteY21" fmla="*/ 29 h 584106"/>
                  <a:gd name="connsiteX22" fmla="*/ 720039 w 1020238"/>
                  <a:gd name="connsiteY22" fmla="*/ 325823 h 584106"/>
                  <a:gd name="connsiteX23" fmla="*/ 889470 w 1020238"/>
                  <a:gd name="connsiteY23" fmla="*/ 158132 h 584106"/>
                  <a:gd name="connsiteX24" fmla="*/ 1004603 w 1020238"/>
                  <a:gd name="connsiteY24" fmla="*/ 158132 h 584106"/>
                  <a:gd name="connsiteX25" fmla="*/ 841763 w 1020238"/>
                  <a:gd name="connsiteY25" fmla="*/ 310586 h 584106"/>
                  <a:gd name="connsiteX26" fmla="*/ 1020239 w 1020238"/>
                  <a:gd name="connsiteY26" fmla="*/ 572950 h 584106"/>
                  <a:gd name="connsiteX27" fmla="*/ 905934 w 1020238"/>
                  <a:gd name="connsiteY27" fmla="*/ 572950 h 584106"/>
                  <a:gd name="connsiteX28" fmla="*/ 775993 w 1020238"/>
                  <a:gd name="connsiteY28" fmla="*/ 371562 h 584106"/>
                  <a:gd name="connsiteX29" fmla="*/ 720039 w 1020238"/>
                  <a:gd name="connsiteY29" fmla="*/ 424491 h 584106"/>
                  <a:gd name="connsiteX30" fmla="*/ 720039 w 1020238"/>
                  <a:gd name="connsiteY30" fmla="*/ 572950 h 584106"/>
                  <a:gd name="connsiteX31" fmla="*/ 626279 w 1020238"/>
                  <a:gd name="connsiteY31" fmla="*/ 572950 h 5841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020238" h="584106">
                    <a:moveTo>
                      <a:pt x="209720" y="219108"/>
                    </a:moveTo>
                    <a:cubicBezTo>
                      <a:pt x="130797" y="219108"/>
                      <a:pt x="90479" y="277658"/>
                      <a:pt x="90479" y="365912"/>
                    </a:cubicBezTo>
                    <a:cubicBezTo>
                      <a:pt x="90479" y="449344"/>
                      <a:pt x="134078" y="511917"/>
                      <a:pt x="209749" y="511917"/>
                    </a:cubicBezTo>
                    <a:cubicBezTo>
                      <a:pt x="295263" y="511917"/>
                      <a:pt x="327363" y="438101"/>
                      <a:pt x="327363" y="365912"/>
                    </a:cubicBezTo>
                    <a:cubicBezTo>
                      <a:pt x="327363" y="290498"/>
                      <a:pt x="287046" y="219079"/>
                      <a:pt x="209720" y="219079"/>
                    </a:cubicBezTo>
                    <a:moveTo>
                      <a:pt x="0" y="0"/>
                    </a:moveTo>
                    <a:lnTo>
                      <a:pt x="93761" y="0"/>
                    </a:lnTo>
                    <a:lnTo>
                      <a:pt x="93761" y="211832"/>
                    </a:lnTo>
                    <a:lnTo>
                      <a:pt x="95415" y="211832"/>
                    </a:lnTo>
                    <a:cubicBezTo>
                      <a:pt x="120924" y="171714"/>
                      <a:pt x="174396" y="146833"/>
                      <a:pt x="222075" y="146833"/>
                    </a:cubicBezTo>
                    <a:cubicBezTo>
                      <a:pt x="356125" y="146833"/>
                      <a:pt x="421095" y="246329"/>
                      <a:pt x="421095" y="367481"/>
                    </a:cubicBezTo>
                    <a:cubicBezTo>
                      <a:pt x="421095" y="478990"/>
                      <a:pt x="363544" y="584107"/>
                      <a:pt x="237683" y="584107"/>
                    </a:cubicBezTo>
                    <a:cubicBezTo>
                      <a:pt x="180131" y="584107"/>
                      <a:pt x="118442" y="570468"/>
                      <a:pt x="90451" y="515912"/>
                    </a:cubicBezTo>
                    <a:lnTo>
                      <a:pt x="88824" y="515912"/>
                    </a:lnTo>
                    <a:lnTo>
                      <a:pt x="88824" y="572865"/>
                    </a:lnTo>
                    <a:lnTo>
                      <a:pt x="29" y="572865"/>
                    </a:lnTo>
                    <a:close/>
                    <a:moveTo>
                      <a:pt x="467148" y="572922"/>
                    </a:moveTo>
                    <a:lnTo>
                      <a:pt x="560909" y="572922"/>
                    </a:lnTo>
                    <a:lnTo>
                      <a:pt x="560909" y="158075"/>
                    </a:lnTo>
                    <a:lnTo>
                      <a:pt x="467148" y="158075"/>
                    </a:lnTo>
                    <a:close/>
                    <a:moveTo>
                      <a:pt x="626307" y="29"/>
                    </a:moveTo>
                    <a:lnTo>
                      <a:pt x="720039" y="29"/>
                    </a:lnTo>
                    <a:lnTo>
                      <a:pt x="720039" y="325823"/>
                    </a:lnTo>
                    <a:lnTo>
                      <a:pt x="889470" y="158132"/>
                    </a:lnTo>
                    <a:lnTo>
                      <a:pt x="1004603" y="158132"/>
                    </a:lnTo>
                    <a:lnTo>
                      <a:pt x="841763" y="310586"/>
                    </a:lnTo>
                    <a:lnTo>
                      <a:pt x="1020239" y="572950"/>
                    </a:lnTo>
                    <a:lnTo>
                      <a:pt x="905934" y="572950"/>
                    </a:lnTo>
                    <a:lnTo>
                      <a:pt x="775993" y="371562"/>
                    </a:lnTo>
                    <a:lnTo>
                      <a:pt x="720039" y="424491"/>
                    </a:lnTo>
                    <a:lnTo>
                      <a:pt x="720039" y="572950"/>
                    </a:lnTo>
                    <a:lnTo>
                      <a:pt x="626279" y="572950"/>
                    </a:lnTo>
                    <a:close/>
                  </a:path>
                </a:pathLst>
              </a:custGeom>
              <a:solidFill>
                <a:srgbClr val="0090DA"/>
              </a:solidFill>
              <a:ln w="285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F2E55F52-594E-9698-2CBA-7AC27F996F0E}"/>
                  </a:ext>
                </a:extLst>
              </p:cNvPr>
              <p:cNvSpPr/>
              <p:nvPr/>
            </p:nvSpPr>
            <p:spPr>
              <a:xfrm>
                <a:off x="11000788" y="464411"/>
                <a:ext cx="800389" cy="438358"/>
              </a:xfrm>
              <a:custGeom>
                <a:avLst/>
                <a:gdLst>
                  <a:gd name="connsiteX0" fmla="*/ 312555 w 800389"/>
                  <a:gd name="connsiteY0" fmla="*/ 183184 h 438358"/>
                  <a:gd name="connsiteX1" fmla="*/ 205611 w 800389"/>
                  <a:gd name="connsiteY1" fmla="*/ 73274 h 438358"/>
                  <a:gd name="connsiteX2" fmla="*/ 93761 w 800389"/>
                  <a:gd name="connsiteY2" fmla="*/ 183184 h 438358"/>
                  <a:gd name="connsiteX3" fmla="*/ 93761 w 800389"/>
                  <a:gd name="connsiteY3" fmla="*/ 243390 h 438358"/>
                  <a:gd name="connsiteX4" fmla="*/ 208094 w 800389"/>
                  <a:gd name="connsiteY4" fmla="*/ 366112 h 438358"/>
                  <a:gd name="connsiteX5" fmla="*/ 311727 w 800389"/>
                  <a:gd name="connsiteY5" fmla="*/ 297118 h 438358"/>
                  <a:gd name="connsiteX6" fmla="*/ 400551 w 800389"/>
                  <a:gd name="connsiteY6" fmla="*/ 297118 h 438358"/>
                  <a:gd name="connsiteX7" fmla="*/ 208094 w 800389"/>
                  <a:gd name="connsiteY7" fmla="*/ 438358 h 438358"/>
                  <a:gd name="connsiteX8" fmla="*/ 0 w 800389"/>
                  <a:gd name="connsiteY8" fmla="*/ 220106 h 438358"/>
                  <a:gd name="connsiteX9" fmla="*/ 205611 w 800389"/>
                  <a:gd name="connsiteY9" fmla="*/ 1084 h 438358"/>
                  <a:gd name="connsiteX10" fmla="*/ 406287 w 800389"/>
                  <a:gd name="connsiteY10" fmla="*/ 243390 h 438358"/>
                  <a:gd name="connsiteX11" fmla="*/ 515826 w 800389"/>
                  <a:gd name="connsiteY11" fmla="*/ 292867 h 438358"/>
                  <a:gd name="connsiteX12" fmla="*/ 612012 w 800389"/>
                  <a:gd name="connsiteY12" fmla="*/ 365056 h 438358"/>
                  <a:gd name="connsiteX13" fmla="*/ 706629 w 800389"/>
                  <a:gd name="connsiteY13" fmla="*/ 310500 h 438358"/>
                  <a:gd name="connsiteX14" fmla="*/ 567643 w 800389"/>
                  <a:gd name="connsiteY14" fmla="*/ 241507 h 438358"/>
                  <a:gd name="connsiteX15" fmla="*/ 431111 w 800389"/>
                  <a:gd name="connsiteY15" fmla="*/ 118756 h 438358"/>
                  <a:gd name="connsiteX16" fmla="*/ 608760 w 800389"/>
                  <a:gd name="connsiteY16" fmla="*/ 0 h 438358"/>
                  <a:gd name="connsiteX17" fmla="*/ 786408 w 800389"/>
                  <a:gd name="connsiteY17" fmla="*/ 127573 h 438358"/>
                  <a:gd name="connsiteX18" fmla="*/ 688539 w 800389"/>
                  <a:gd name="connsiteY18" fmla="*/ 127573 h 438358"/>
                  <a:gd name="connsiteX19" fmla="*/ 602168 w 800389"/>
                  <a:gd name="connsiteY19" fmla="*/ 72218 h 438358"/>
                  <a:gd name="connsiteX20" fmla="*/ 524871 w 800389"/>
                  <a:gd name="connsiteY20" fmla="*/ 114733 h 438358"/>
                  <a:gd name="connsiteX21" fmla="*/ 663030 w 800389"/>
                  <a:gd name="connsiteY21" fmla="*/ 181330 h 438358"/>
                  <a:gd name="connsiteX22" fmla="*/ 800389 w 800389"/>
                  <a:gd name="connsiteY22" fmla="*/ 302482 h 438358"/>
                  <a:gd name="connsiteX23" fmla="*/ 610386 w 800389"/>
                  <a:gd name="connsiteY23" fmla="*/ 437274 h 438358"/>
                  <a:gd name="connsiteX24" fmla="*/ 422066 w 800389"/>
                  <a:gd name="connsiteY24" fmla="*/ 292867 h 4383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800389" h="438358">
                    <a:moveTo>
                      <a:pt x="312555" y="183184"/>
                    </a:moveTo>
                    <a:cubicBezTo>
                      <a:pt x="309245" y="125433"/>
                      <a:pt x="268956" y="73274"/>
                      <a:pt x="205611" y="73274"/>
                    </a:cubicBezTo>
                    <a:cubicBezTo>
                      <a:pt x="140641" y="73274"/>
                      <a:pt x="96215" y="121410"/>
                      <a:pt x="93761" y="183184"/>
                    </a:cubicBezTo>
                    <a:close/>
                    <a:moveTo>
                      <a:pt x="93761" y="243390"/>
                    </a:moveTo>
                    <a:cubicBezTo>
                      <a:pt x="93761" y="308360"/>
                      <a:pt x="129941" y="366112"/>
                      <a:pt x="208094" y="366112"/>
                    </a:cubicBezTo>
                    <a:cubicBezTo>
                      <a:pt x="262364" y="366112"/>
                      <a:pt x="295263" y="342857"/>
                      <a:pt x="311727" y="297118"/>
                    </a:cubicBezTo>
                    <a:lnTo>
                      <a:pt x="400551" y="297118"/>
                    </a:lnTo>
                    <a:cubicBezTo>
                      <a:pt x="379979" y="387797"/>
                      <a:pt x="301027" y="438358"/>
                      <a:pt x="208094" y="438358"/>
                    </a:cubicBezTo>
                    <a:cubicBezTo>
                      <a:pt x="74843" y="438358"/>
                      <a:pt x="0" y="347679"/>
                      <a:pt x="0" y="220106"/>
                    </a:cubicBezTo>
                    <a:cubicBezTo>
                      <a:pt x="0" y="102178"/>
                      <a:pt x="78952" y="1084"/>
                      <a:pt x="205611" y="1084"/>
                    </a:cubicBezTo>
                    <a:cubicBezTo>
                      <a:pt x="339690" y="1084"/>
                      <a:pt x="421923" y="119013"/>
                      <a:pt x="406287" y="243390"/>
                    </a:cubicBezTo>
                    <a:close/>
                    <a:moveTo>
                      <a:pt x="515826" y="292867"/>
                    </a:moveTo>
                    <a:cubicBezTo>
                      <a:pt x="520734" y="345796"/>
                      <a:pt x="561850" y="365056"/>
                      <a:pt x="612012" y="365056"/>
                    </a:cubicBezTo>
                    <a:cubicBezTo>
                      <a:pt x="647393" y="365056"/>
                      <a:pt x="709083" y="357837"/>
                      <a:pt x="706629" y="310500"/>
                    </a:cubicBezTo>
                    <a:cubicBezTo>
                      <a:pt x="704146" y="262364"/>
                      <a:pt x="635894" y="256743"/>
                      <a:pt x="567643" y="241507"/>
                    </a:cubicBezTo>
                    <a:cubicBezTo>
                      <a:pt x="498535" y="227040"/>
                      <a:pt x="431111" y="202986"/>
                      <a:pt x="431111" y="118756"/>
                    </a:cubicBezTo>
                    <a:cubicBezTo>
                      <a:pt x="431111" y="28105"/>
                      <a:pt x="531434" y="0"/>
                      <a:pt x="608760" y="0"/>
                    </a:cubicBezTo>
                    <a:cubicBezTo>
                      <a:pt x="695929" y="0"/>
                      <a:pt x="774881" y="35296"/>
                      <a:pt x="786408" y="127573"/>
                    </a:cubicBezTo>
                    <a:lnTo>
                      <a:pt x="688539" y="127573"/>
                    </a:lnTo>
                    <a:cubicBezTo>
                      <a:pt x="680292" y="84259"/>
                      <a:pt x="643285" y="72218"/>
                      <a:pt x="602168" y="72218"/>
                    </a:cubicBezTo>
                    <a:cubicBezTo>
                      <a:pt x="575033" y="72218"/>
                      <a:pt x="524871" y="78638"/>
                      <a:pt x="524871" y="114733"/>
                    </a:cubicBezTo>
                    <a:cubicBezTo>
                      <a:pt x="524871" y="159673"/>
                      <a:pt x="593950" y="166093"/>
                      <a:pt x="663030" y="181330"/>
                    </a:cubicBezTo>
                    <a:cubicBezTo>
                      <a:pt x="731282" y="196566"/>
                      <a:pt x="800389" y="220649"/>
                      <a:pt x="800389" y="302482"/>
                    </a:cubicBezTo>
                    <a:cubicBezTo>
                      <a:pt x="800389" y="401179"/>
                      <a:pt x="698383" y="437274"/>
                      <a:pt x="610386" y="437274"/>
                    </a:cubicBezTo>
                    <a:cubicBezTo>
                      <a:pt x="503471" y="437274"/>
                      <a:pt x="423692" y="390765"/>
                      <a:pt x="422066" y="292867"/>
                    </a:cubicBezTo>
                    <a:close/>
                  </a:path>
                </a:pathLst>
              </a:custGeom>
              <a:solidFill>
                <a:srgbClr val="0090DA"/>
              </a:solidFill>
              <a:ln w="285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F946B595-6884-6AE7-B5E2-1B3C0B9CEF18}"/>
                  </a:ext>
                </a:extLst>
              </p:cNvPr>
              <p:cNvSpPr/>
              <p:nvPr/>
            </p:nvSpPr>
            <p:spPr>
              <a:xfrm>
                <a:off x="10470924" y="312071"/>
                <a:ext cx="109853" cy="107057"/>
              </a:xfrm>
              <a:custGeom>
                <a:avLst/>
                <a:gdLst>
                  <a:gd name="connsiteX0" fmla="*/ 109853 w 109853"/>
                  <a:gd name="connsiteY0" fmla="*/ 53529 h 107057"/>
                  <a:gd name="connsiteX1" fmla="*/ 54927 w 109853"/>
                  <a:gd name="connsiteY1" fmla="*/ 107057 h 107057"/>
                  <a:gd name="connsiteX2" fmla="*/ 0 w 109853"/>
                  <a:gd name="connsiteY2" fmla="*/ 53529 h 107057"/>
                  <a:gd name="connsiteX3" fmla="*/ 54927 w 109853"/>
                  <a:gd name="connsiteY3" fmla="*/ 0 h 107057"/>
                  <a:gd name="connsiteX4" fmla="*/ 109853 w 109853"/>
                  <a:gd name="connsiteY4" fmla="*/ 53529 h 1070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9853" h="107057">
                    <a:moveTo>
                      <a:pt x="109853" y="53529"/>
                    </a:moveTo>
                    <a:cubicBezTo>
                      <a:pt x="109853" y="83089"/>
                      <a:pt x="85258" y="107057"/>
                      <a:pt x="54927" y="107057"/>
                    </a:cubicBezTo>
                    <a:cubicBezTo>
                      <a:pt x="24596" y="107057"/>
                      <a:pt x="0" y="83089"/>
                      <a:pt x="0" y="53529"/>
                    </a:cubicBezTo>
                    <a:cubicBezTo>
                      <a:pt x="0" y="23968"/>
                      <a:pt x="24596" y="0"/>
                      <a:pt x="54927" y="0"/>
                    </a:cubicBezTo>
                    <a:cubicBezTo>
                      <a:pt x="85258" y="0"/>
                      <a:pt x="109853" y="23968"/>
                      <a:pt x="109853" y="53529"/>
                    </a:cubicBezTo>
                  </a:path>
                </a:pathLst>
              </a:custGeom>
              <a:solidFill>
                <a:srgbClr val="EA8735"/>
              </a:solidFill>
              <a:ln w="285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F115CD-7411-D06C-1DD9-253D3C0DB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12A66-822E-4D68-834D-298940211017}" type="slidenum">
              <a:rPr lang="en-US" smtClean="0"/>
              <a:t>10</a:t>
            </a:fld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40C3CD3-C547-6E34-9E74-DE5F23E88111}"/>
              </a:ext>
            </a:extLst>
          </p:cNvPr>
          <p:cNvCxnSpPr/>
          <p:nvPr/>
        </p:nvCxnSpPr>
        <p:spPr>
          <a:xfrm>
            <a:off x="11411339" y="6356791"/>
            <a:ext cx="0" cy="364243"/>
          </a:xfrm>
          <a:prstGeom prst="line">
            <a:avLst/>
          </a:prstGeom>
          <a:ln>
            <a:solidFill>
              <a:srgbClr val="EA87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D2A8D2F-119A-9BA3-4F83-E8B3A30ACC3C}"/>
              </a:ext>
            </a:extLst>
          </p:cNvPr>
          <p:cNvGrpSpPr/>
          <p:nvPr/>
        </p:nvGrpSpPr>
        <p:grpSpPr>
          <a:xfrm>
            <a:off x="2563813" y="4326411"/>
            <a:ext cx="7064374" cy="523220"/>
            <a:chOff x="2563813" y="3958545"/>
            <a:chExt cx="7064374" cy="523220"/>
          </a:xfrm>
        </p:grpSpPr>
        <p:pic>
          <p:nvPicPr>
            <p:cNvPr id="7" name="Graphic 6" descr="Streetcar with solid fill">
              <a:extLst>
                <a:ext uri="{FF2B5EF4-FFF2-40B4-BE49-F238E27FC236}">
                  <a16:creationId xmlns:a16="http://schemas.microsoft.com/office/drawing/2014/main" id="{29271DF2-41E2-0511-1FF5-08F03FCB3EE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2563813" y="3963739"/>
              <a:ext cx="512832" cy="512832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4D386FE-8E11-EF76-B192-CCAF4B3AE1E4}"/>
                </a:ext>
              </a:extLst>
            </p:cNvPr>
            <p:cNvSpPr txBox="1"/>
            <p:nvPr/>
          </p:nvSpPr>
          <p:spPr>
            <a:xfrm>
              <a:off x="3302421" y="3958545"/>
              <a:ext cx="632576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2800" b="1">
                  <a:solidFill>
                    <a:srgbClr val="091F2F"/>
                  </a:solidFill>
                  <a:latin typeface="Montserrat" pitchFamily="2" charset="0"/>
                </a:defRPr>
              </a:lvl1pPr>
            </a:lstStyle>
            <a:p>
              <a:r>
                <a:rPr lang="en-US" dirty="0">
                  <a:solidFill>
                    <a:srgbClr val="0D0D2F"/>
                  </a:solidFill>
                  <a:latin typeface="Lyft Pro UI" panose="02000503030000000000" pitchFamily="50" charset="0"/>
                </a:rPr>
                <a:t>MBTA Integration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913031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43961-E688-DCF7-B512-0CB254782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73E60122-706B-61A1-F9C2-DB8E6B82503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673559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17" imgH="416" progId="TCLayout.ActiveDocument.1">
                  <p:embed/>
                </p:oleObj>
              </mc:Choice>
              <mc:Fallback>
                <p:oleObj name="think-cell Slide" r:id="rId8" imgW="417" imgH="41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3679A3C-8550-0CAD-C9AA-EEE9E26D78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061DFD-321C-90CA-E7E0-DF6EAECC6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12A66-822E-4D68-834D-298940211017}" type="slidenum">
              <a:rPr lang="en-US" smtClean="0"/>
              <a:t>11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99C889-67D2-47C1-6142-1D8B229BB19A}"/>
              </a:ext>
            </a:extLst>
          </p:cNvPr>
          <p:cNvSpPr txBox="1"/>
          <p:nvPr/>
        </p:nvSpPr>
        <p:spPr>
          <a:xfrm>
            <a:off x="194678" y="171081"/>
            <a:ext cx="117810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D0D2F"/>
                </a:solidFill>
                <a:latin typeface="Lyft Pro UI" panose="02000503030000000000" pitchFamily="50" charset="0"/>
              </a:rPr>
              <a:t>MBTA Links Drive 70% of Trips; Expand Near Key Lines for Better Connectivity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B6C5B1-19F3-2DA1-8A58-80D349CF7895}"/>
              </a:ext>
            </a:extLst>
          </p:cNvPr>
          <p:cNvSpPr txBox="1"/>
          <p:nvPr/>
        </p:nvSpPr>
        <p:spPr>
          <a:xfrm>
            <a:off x="80817" y="6535572"/>
            <a:ext cx="3557733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-US" sz="1100" dirty="0">
                <a:solidFill>
                  <a:srgbClr val="0D0D2F"/>
                </a:solidFill>
                <a:latin typeface="Lyft Pro UI" panose="02000503030000000000" pitchFamily="50" charset="0"/>
              </a:rPr>
              <a:t>Source: </a:t>
            </a:r>
            <a:r>
              <a:rPr lang="en-US" sz="1100" dirty="0" err="1">
                <a:solidFill>
                  <a:srgbClr val="0D0D2F"/>
                </a:solidFill>
                <a:latin typeface="Lyft Pro UI" panose="02000503030000000000" pitchFamily="50" charset="0"/>
              </a:rPr>
              <a:t>Bluebikes</a:t>
            </a:r>
            <a:r>
              <a:rPr lang="en-US" sz="1100" dirty="0">
                <a:solidFill>
                  <a:srgbClr val="0D0D2F"/>
                </a:solidFill>
                <a:latin typeface="Lyft Pro UI" panose="02000503030000000000" pitchFamily="50" charset="0"/>
              </a:rPr>
              <a:t> trip &amp; station data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31545B1D-7FD4-48BB-DD17-035F0DF2D99E}"/>
              </a:ext>
            </a:extLst>
          </p:cNvPr>
          <p:cNvSpPr/>
          <p:nvPr/>
        </p:nvSpPr>
        <p:spPr>
          <a:xfrm>
            <a:off x="3143250" y="1677798"/>
            <a:ext cx="9048750" cy="4399151"/>
          </a:xfrm>
          <a:prstGeom prst="rect">
            <a:avLst/>
          </a:prstGeom>
          <a:solidFill>
            <a:srgbClr val="4777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FCC6200A-A62E-4E1A-EB60-EC310A09B5DE}"/>
              </a:ext>
            </a:extLst>
          </p:cNvPr>
          <p:cNvSpPr txBox="1"/>
          <p:nvPr/>
        </p:nvSpPr>
        <p:spPr>
          <a:xfrm>
            <a:off x="3367089" y="1770754"/>
            <a:ext cx="8696720" cy="40972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EA8735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Lyft Pro UI" panose="02000503030000000000" pitchFamily="50" charset="0"/>
              </a:rPr>
              <a:t>70% of all trips connect to MBTA, with Green Line leading at 9.4 million total trips and Red at 8.5 million, highlighting strong transit ties</a:t>
            </a:r>
          </a:p>
          <a:p>
            <a:pPr marL="342900" indent="-342900">
              <a:lnSpc>
                <a:spcPct val="150000"/>
              </a:lnSpc>
              <a:buClr>
                <a:srgbClr val="EA8735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Lyft Pro UI" panose="02000503030000000000" pitchFamily="50" charset="0"/>
              </a:rPr>
              <a:t>40% of trips serve as first- or last-mile connections, like 1.8 million last-mile from Green stops, making public transport more accessible</a:t>
            </a:r>
          </a:p>
          <a:p>
            <a:pPr marL="342900" indent="-342900">
              <a:lnSpc>
                <a:spcPct val="150000"/>
              </a:lnSpc>
              <a:buClr>
                <a:srgbClr val="EA8735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Lyft Pro UI" panose="02000503030000000000" pitchFamily="50" charset="0"/>
              </a:rPr>
              <a:t>324 stations are walkable (under 400 meters) to MBTA, driving higher usage and longer 30-minute trips for seamless transfers.</a:t>
            </a:r>
          </a:p>
        </p:txBody>
      </p:sp>
      <p:graphicFrame>
        <p:nvGraphicFramePr>
          <p:cNvPr id="60" name="Chart 59">
            <a:extLst>
              <a:ext uri="{FF2B5EF4-FFF2-40B4-BE49-F238E27FC236}">
                <a16:creationId xmlns:a16="http://schemas.microsoft.com/office/drawing/2014/main" id="{285BFAC5-CD97-EE95-E66F-F69431EB0447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267561821"/>
              </p:ext>
            </p:extLst>
          </p:nvPr>
        </p:nvGraphicFramePr>
        <p:xfrm>
          <a:off x="1039813" y="1443038"/>
          <a:ext cx="2198687" cy="47529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C51CFB34-34DB-7207-74FE-44F216A3807C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911225" y="2427288"/>
            <a:ext cx="725488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fld id="{93310B74-8D8D-4C83-9D98-73C7E3702694}" type="datetime'W''al''''''''k''''''''a''''''ble&#10;''''(&lt;4''''''0''0''m'')'''">
              <a:rPr lang="en-US" altLang="en-US" sz="1400" smtClean="0">
                <a:latin typeface="Lyft Pro UI" panose="02000503030000000000" pitchFamily="50" charset="0"/>
                <a:sym typeface="Lyft Pro UI" panose="02000503030000000000" pitchFamily="50" charset="0"/>
              </a:rPr>
              <a:pPr marL="0" lv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Walkable
(&lt;400m)</a:t>
            </a:fld>
            <a:endParaRPr lang="en-US" sz="1400" dirty="0">
              <a:latin typeface="Lyft Pro UI" panose="02000503030000000000" pitchFamily="50" charset="0"/>
              <a:sym typeface="Lyft Pro UI" panose="02000503030000000000" pitchFamily="50" charset="0"/>
            </a:endParaRP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51CFB34-34DB-7207-74FE-44F216A3807C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479425" y="3733800"/>
            <a:ext cx="1157288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fld id="{927BD979-5AFA-43FD-85DD-679769EFBD5F}" type="datetime'''''E''x''te''nd''''e''d'' W''a''''l''k''&#10;(400-''''''800m)'">
              <a:rPr lang="en-US" altLang="en-US" sz="1400" smtClean="0">
                <a:latin typeface="Lyft Pro UI" panose="02000503030000000000" pitchFamily="50" charset="0"/>
                <a:sym typeface="Lyft Pro UI" panose="02000503030000000000" pitchFamily="50" charset="0"/>
              </a:rPr>
              <a:pPr marL="0" lv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Extended Walk
(400-800m)</a:t>
            </a:fld>
            <a:endParaRPr lang="en-US" sz="1400" dirty="0">
              <a:latin typeface="Lyft Pro UI" panose="02000503030000000000" pitchFamily="50" charset="0"/>
              <a:sym typeface="Lyft Pro UI" panose="02000503030000000000" pitchFamily="50" charset="0"/>
            </a:endParaRP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C51CFB34-34DB-7207-74FE-44F216A3807C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820738" y="5030788"/>
            <a:ext cx="81597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fld id="{BD0E8383-B620-4CBC-BC25-960BF75A9609}" type="datetime'N''''''''''ot'' ''''''''''''L''''i''''''n''k''e''''''''d'">
              <a:rPr lang="en-US" altLang="en-US" sz="1400" smtClean="0">
                <a:latin typeface="Lyft Pro UI" panose="02000503030000000000" pitchFamily="50" charset="0"/>
                <a:sym typeface="Lyft Pro UI" panose="02000503030000000000" pitchFamily="50" charset="0"/>
              </a:rPr>
              <a:pPr marL="0" lv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Not Linked</a:t>
            </a:fld>
            <a:endParaRPr lang="en-US" sz="1400" dirty="0">
              <a:latin typeface="Lyft Pro UI" panose="02000503030000000000" pitchFamily="50" charset="0"/>
              <a:sym typeface="Lyft Pro UI" panose="0200050303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5837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1FD33-A904-57AB-3A1C-B074FC9FE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55AF1D5-4D5D-8419-06D4-8C9670E0ED7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58315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17" imgH="416" progId="TCLayout.ActiveDocument.1">
                  <p:embed/>
                </p:oleObj>
              </mc:Choice>
              <mc:Fallback>
                <p:oleObj name="think-cell Slide" r:id="rId4" imgW="417" imgH="41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175CEBF-8D95-E615-2D10-9B6381B0BD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Group 23">
            <a:extLst>
              <a:ext uri="{FF2B5EF4-FFF2-40B4-BE49-F238E27FC236}">
                <a16:creationId xmlns:a16="http://schemas.microsoft.com/office/drawing/2014/main" id="{9628C7A5-A3C9-A5A0-C10A-D24DC2F64EF7}"/>
              </a:ext>
            </a:extLst>
          </p:cNvPr>
          <p:cNvGrpSpPr/>
          <p:nvPr/>
        </p:nvGrpSpPr>
        <p:grpSpPr>
          <a:xfrm>
            <a:off x="2563813" y="4326411"/>
            <a:ext cx="7064374" cy="523220"/>
            <a:chOff x="2563813" y="3958545"/>
            <a:chExt cx="7064374" cy="523220"/>
          </a:xfrm>
        </p:grpSpPr>
        <p:pic>
          <p:nvPicPr>
            <p:cNvPr id="7" name="Graphic 6" descr="Streetcar with solid fill">
              <a:extLst>
                <a:ext uri="{FF2B5EF4-FFF2-40B4-BE49-F238E27FC236}">
                  <a16:creationId xmlns:a16="http://schemas.microsoft.com/office/drawing/2014/main" id="{2E870C5E-1B23-2C87-4FAC-1771541246C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563813" y="3963739"/>
              <a:ext cx="512832" cy="512832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8F3D145-A944-5514-F0B5-1AAC17D00DFD}"/>
                </a:ext>
              </a:extLst>
            </p:cNvPr>
            <p:cNvSpPr txBox="1"/>
            <p:nvPr/>
          </p:nvSpPr>
          <p:spPr>
            <a:xfrm>
              <a:off x="3302421" y="3958545"/>
              <a:ext cx="632576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2800" b="1">
                  <a:solidFill>
                    <a:srgbClr val="091F2F"/>
                  </a:solidFill>
                  <a:latin typeface="Montserrat" pitchFamily="2" charset="0"/>
                </a:defRPr>
              </a:lvl1pPr>
            </a:lstStyle>
            <a:p>
              <a:r>
                <a:rPr lang="en-US" dirty="0">
                  <a:solidFill>
                    <a:srgbClr val="0D0D2F"/>
                  </a:solidFill>
                  <a:latin typeface="Lyft Pro UI" panose="02000503030000000000" pitchFamily="50" charset="0"/>
                </a:rPr>
                <a:t>MBTA Integration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A5E195B-92BF-70EE-8BF5-F3F44C1C2036}"/>
              </a:ext>
            </a:extLst>
          </p:cNvPr>
          <p:cNvGrpSpPr/>
          <p:nvPr/>
        </p:nvGrpSpPr>
        <p:grpSpPr>
          <a:xfrm>
            <a:off x="2563813" y="3295599"/>
            <a:ext cx="7064374" cy="523220"/>
            <a:chOff x="2563813" y="3050355"/>
            <a:chExt cx="7064374" cy="52322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F75318F-5BA0-EB70-4B2B-DFC4963A1C37}"/>
                </a:ext>
              </a:extLst>
            </p:cNvPr>
            <p:cNvSpPr txBox="1"/>
            <p:nvPr/>
          </p:nvSpPr>
          <p:spPr>
            <a:xfrm>
              <a:off x="3302421" y="3050355"/>
              <a:ext cx="632576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2800" b="1">
                  <a:solidFill>
                    <a:srgbClr val="091F2F"/>
                  </a:solidFill>
                  <a:latin typeface="Montserrat" pitchFamily="2" charset="0"/>
                </a:defRPr>
              </a:lvl1pPr>
            </a:lstStyle>
            <a:p>
              <a:r>
                <a:rPr lang="en-US" dirty="0">
                  <a:solidFill>
                    <a:srgbClr val="0D0D2F"/>
                  </a:solidFill>
                  <a:latin typeface="Lyft Pro UI" panose="02000503030000000000" pitchFamily="50" charset="0"/>
                </a:rPr>
                <a:t>Weather Impact</a:t>
              </a:r>
            </a:p>
          </p:txBody>
        </p:sp>
        <p:pic>
          <p:nvPicPr>
            <p:cNvPr id="8" name="Graphic 7" descr="Partial sun with solid fill">
              <a:extLst>
                <a:ext uri="{FF2B5EF4-FFF2-40B4-BE49-F238E27FC236}">
                  <a16:creationId xmlns:a16="http://schemas.microsoft.com/office/drawing/2014/main" id="{E6F1BE63-1266-BE6F-4AE7-C679043EE47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563813" y="3055549"/>
              <a:ext cx="512832" cy="512832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2E2B4EC-9163-5C23-F547-55D144B8599B}"/>
              </a:ext>
            </a:extLst>
          </p:cNvPr>
          <p:cNvGrpSpPr/>
          <p:nvPr/>
        </p:nvGrpSpPr>
        <p:grpSpPr>
          <a:xfrm>
            <a:off x="2563813" y="2264787"/>
            <a:ext cx="7064374" cy="523220"/>
            <a:chOff x="2563813" y="2142165"/>
            <a:chExt cx="7064374" cy="523220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137F272-3EF8-4F44-C704-0145AFA37150}"/>
                </a:ext>
              </a:extLst>
            </p:cNvPr>
            <p:cNvSpPr txBox="1"/>
            <p:nvPr/>
          </p:nvSpPr>
          <p:spPr>
            <a:xfrm>
              <a:off x="3302421" y="2142165"/>
              <a:ext cx="632576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rgbClr val="0D0D2F"/>
                  </a:solidFill>
                  <a:latin typeface="Lyft Pro UI" panose="02000503030000000000" pitchFamily="50" charset="0"/>
                </a:rPr>
                <a:t>Usage Profile</a:t>
              </a:r>
            </a:p>
          </p:txBody>
        </p:sp>
        <p:pic>
          <p:nvPicPr>
            <p:cNvPr id="2" name="Graphic 1" descr="Signal with solid fill">
              <a:extLst>
                <a:ext uri="{FF2B5EF4-FFF2-40B4-BE49-F238E27FC236}">
                  <a16:creationId xmlns:a16="http://schemas.microsoft.com/office/drawing/2014/main" id="{5A1B7975-F3FE-0C61-27C7-F20539554C8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563813" y="2147359"/>
              <a:ext cx="512832" cy="512832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83D0979-946F-D755-9D43-F1B062580644}"/>
              </a:ext>
            </a:extLst>
          </p:cNvPr>
          <p:cNvGrpSpPr/>
          <p:nvPr/>
        </p:nvGrpSpPr>
        <p:grpSpPr>
          <a:xfrm>
            <a:off x="2563813" y="1233975"/>
            <a:ext cx="7064374" cy="523220"/>
            <a:chOff x="2563813" y="1233975"/>
            <a:chExt cx="7064374" cy="523220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5EB53B9-DA60-D00C-EA91-50ED811206F1}"/>
                </a:ext>
              </a:extLst>
            </p:cNvPr>
            <p:cNvSpPr txBox="1"/>
            <p:nvPr/>
          </p:nvSpPr>
          <p:spPr>
            <a:xfrm>
              <a:off x="3302421" y="1233975"/>
              <a:ext cx="632576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2800" b="1">
                  <a:solidFill>
                    <a:srgbClr val="091F2F"/>
                  </a:solidFill>
                  <a:latin typeface="Montserrat" pitchFamily="2" charset="0"/>
                </a:defRPr>
              </a:lvl1pPr>
            </a:lstStyle>
            <a:p>
              <a:r>
                <a:rPr lang="en-US" dirty="0">
                  <a:solidFill>
                    <a:srgbClr val="0D0D2F"/>
                  </a:solidFill>
                  <a:latin typeface="Lyft Pro UI" panose="02000503030000000000" pitchFamily="50" charset="0"/>
                </a:rPr>
                <a:t>Problem Definition and Objectives</a:t>
              </a:r>
            </a:p>
          </p:txBody>
        </p:sp>
        <p:pic>
          <p:nvPicPr>
            <p:cNvPr id="26" name="Graphic 25" descr="Bullseye with solid fill">
              <a:extLst>
                <a:ext uri="{FF2B5EF4-FFF2-40B4-BE49-F238E27FC236}">
                  <a16:creationId xmlns:a16="http://schemas.microsoft.com/office/drawing/2014/main" id="{E22AD624-D044-E1FB-FAFC-5D0556B2DD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563813" y="1239169"/>
              <a:ext cx="512832" cy="512832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389CA8BE-B853-B805-9F81-F19B7249743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80000"/>
                </a:schemeClr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7071A4-913B-5282-CAA5-769B78232479}"/>
              </a:ext>
            </a:extLst>
          </p:cNvPr>
          <p:cNvSpPr txBox="1"/>
          <p:nvPr/>
        </p:nvSpPr>
        <p:spPr>
          <a:xfrm>
            <a:off x="194678" y="171081"/>
            <a:ext cx="117810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D0D2F"/>
                </a:solidFill>
                <a:latin typeface="Lyft Pro UI" panose="02000503030000000000" pitchFamily="50" charset="0"/>
              </a:rPr>
              <a:t>Table of Contents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8B0E839-6E6A-FD8B-526E-F8A9AD3F8E71}"/>
              </a:ext>
            </a:extLst>
          </p:cNvPr>
          <p:cNvGrpSpPr>
            <a:grpSpLocks noChangeAspect="1"/>
          </p:cNvGrpSpPr>
          <p:nvPr/>
        </p:nvGrpSpPr>
        <p:grpSpPr>
          <a:xfrm>
            <a:off x="11523824" y="6371722"/>
            <a:ext cx="494499" cy="334378"/>
            <a:chOff x="7857722" y="318591"/>
            <a:chExt cx="2080112" cy="1406566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F3D4D43C-8CD1-80FD-DCAF-077AF198A28B}"/>
                </a:ext>
              </a:extLst>
            </p:cNvPr>
            <p:cNvGrpSpPr/>
            <p:nvPr userDrawn="1"/>
          </p:nvGrpSpPr>
          <p:grpSpPr>
            <a:xfrm>
              <a:off x="7857724" y="318591"/>
              <a:ext cx="2080110" cy="584948"/>
              <a:chOff x="7857724" y="318591"/>
              <a:chExt cx="2080110" cy="584948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2984C063-1996-A0C6-4105-3D3C3AE1027C}"/>
                  </a:ext>
                </a:extLst>
              </p:cNvPr>
              <p:cNvSpPr/>
              <p:nvPr/>
            </p:nvSpPr>
            <p:spPr>
              <a:xfrm>
                <a:off x="7857724" y="318591"/>
                <a:ext cx="1528161" cy="584948"/>
              </a:xfrm>
              <a:custGeom>
                <a:avLst/>
                <a:gdLst>
                  <a:gd name="connsiteX0" fmla="*/ 152967 w 1528161"/>
                  <a:gd name="connsiteY0" fmla="*/ 453381 h 584948"/>
                  <a:gd name="connsiteX1" fmla="*/ 275518 w 1528161"/>
                  <a:gd name="connsiteY1" fmla="*/ 453381 h 584948"/>
                  <a:gd name="connsiteX2" fmla="*/ 357751 w 1528161"/>
                  <a:gd name="connsiteY2" fmla="*/ 389181 h 584948"/>
                  <a:gd name="connsiteX3" fmla="*/ 275518 w 1528161"/>
                  <a:gd name="connsiteY3" fmla="*/ 321813 h 584948"/>
                  <a:gd name="connsiteX4" fmla="*/ 152967 w 1528161"/>
                  <a:gd name="connsiteY4" fmla="*/ 321813 h 584948"/>
                  <a:gd name="connsiteX5" fmla="*/ 152967 w 1528161"/>
                  <a:gd name="connsiteY5" fmla="*/ 225513 h 584948"/>
                  <a:gd name="connsiteX6" fmla="*/ 271381 w 1528161"/>
                  <a:gd name="connsiteY6" fmla="*/ 225513 h 584948"/>
                  <a:gd name="connsiteX7" fmla="*/ 333926 w 1528161"/>
                  <a:gd name="connsiteY7" fmla="*/ 170957 h 584948"/>
                  <a:gd name="connsiteX8" fmla="*/ 271409 w 1528161"/>
                  <a:gd name="connsiteY8" fmla="*/ 115603 h 584948"/>
                  <a:gd name="connsiteX9" fmla="*/ 152996 w 1528161"/>
                  <a:gd name="connsiteY9" fmla="*/ 115603 h 584948"/>
                  <a:gd name="connsiteX10" fmla="*/ 0 w 1528161"/>
                  <a:gd name="connsiteY10" fmla="*/ 71 h 584948"/>
                  <a:gd name="connsiteX11" fmla="*/ 274691 w 1528161"/>
                  <a:gd name="connsiteY11" fmla="*/ 71 h 584948"/>
                  <a:gd name="connsiteX12" fmla="*/ 486865 w 1528161"/>
                  <a:gd name="connsiteY12" fmla="*/ 143679 h 584948"/>
                  <a:gd name="connsiteX13" fmla="*/ 409568 w 1528161"/>
                  <a:gd name="connsiteY13" fmla="*/ 259240 h 584948"/>
                  <a:gd name="connsiteX14" fmla="*/ 510747 w 1528161"/>
                  <a:gd name="connsiteY14" fmla="*/ 394802 h 584948"/>
                  <a:gd name="connsiteX15" fmla="*/ 282081 w 1528161"/>
                  <a:gd name="connsiteY15" fmla="*/ 572936 h 584948"/>
                  <a:gd name="connsiteX16" fmla="*/ 0 w 1528161"/>
                  <a:gd name="connsiteY16" fmla="*/ 572936 h 584948"/>
                  <a:gd name="connsiteX17" fmla="*/ 564904 w 1528161"/>
                  <a:gd name="connsiteY17" fmla="*/ 42 h 584948"/>
                  <a:gd name="connsiteX18" fmla="*/ 717899 w 1528161"/>
                  <a:gd name="connsiteY18" fmla="*/ 42 h 584948"/>
                  <a:gd name="connsiteX19" fmla="*/ 717899 w 1528161"/>
                  <a:gd name="connsiteY19" fmla="*/ 444535 h 584948"/>
                  <a:gd name="connsiteX20" fmla="*/ 991763 w 1528161"/>
                  <a:gd name="connsiteY20" fmla="*/ 444535 h 584948"/>
                  <a:gd name="connsiteX21" fmla="*/ 991763 w 1528161"/>
                  <a:gd name="connsiteY21" fmla="*/ 572936 h 584948"/>
                  <a:gd name="connsiteX22" fmla="*/ 564904 w 1528161"/>
                  <a:gd name="connsiteY22" fmla="*/ 572936 h 584948"/>
                  <a:gd name="connsiteX23" fmla="*/ 1528161 w 1528161"/>
                  <a:gd name="connsiteY23" fmla="*/ 336223 h 584948"/>
                  <a:gd name="connsiteX24" fmla="*/ 1272360 w 1528161"/>
                  <a:gd name="connsiteY24" fmla="*/ 584948 h 584948"/>
                  <a:gd name="connsiteX25" fmla="*/ 1016587 w 1528161"/>
                  <a:gd name="connsiteY25" fmla="*/ 336223 h 584948"/>
                  <a:gd name="connsiteX26" fmla="*/ 1016587 w 1528161"/>
                  <a:gd name="connsiteY26" fmla="*/ 42 h 584948"/>
                  <a:gd name="connsiteX27" fmla="*/ 1169583 w 1528161"/>
                  <a:gd name="connsiteY27" fmla="*/ 42 h 584948"/>
                  <a:gd name="connsiteX28" fmla="*/ 1169583 w 1528161"/>
                  <a:gd name="connsiteY28" fmla="*/ 345068 h 584948"/>
                  <a:gd name="connsiteX29" fmla="*/ 1272360 w 1528161"/>
                  <a:gd name="connsiteY29" fmla="*/ 456576 h 584948"/>
                  <a:gd name="connsiteX30" fmla="*/ 1375194 w 1528161"/>
                  <a:gd name="connsiteY30" fmla="*/ 345068 h 584948"/>
                  <a:gd name="connsiteX31" fmla="*/ 1375194 w 1528161"/>
                  <a:gd name="connsiteY31" fmla="*/ 14 h 584948"/>
                  <a:gd name="connsiteX32" fmla="*/ 1528161 w 1528161"/>
                  <a:gd name="connsiteY32" fmla="*/ 14 h 5849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28161" h="584948">
                    <a:moveTo>
                      <a:pt x="152967" y="453381"/>
                    </a:moveTo>
                    <a:lnTo>
                      <a:pt x="275518" y="453381"/>
                    </a:lnTo>
                    <a:cubicBezTo>
                      <a:pt x="324025" y="453381"/>
                      <a:pt x="357751" y="436546"/>
                      <a:pt x="357751" y="389181"/>
                    </a:cubicBezTo>
                    <a:cubicBezTo>
                      <a:pt x="357751" y="338677"/>
                      <a:pt x="321571" y="321813"/>
                      <a:pt x="275518" y="321813"/>
                    </a:cubicBezTo>
                    <a:lnTo>
                      <a:pt x="152967" y="321813"/>
                    </a:lnTo>
                    <a:close/>
                    <a:moveTo>
                      <a:pt x="152967" y="225513"/>
                    </a:moveTo>
                    <a:lnTo>
                      <a:pt x="271381" y="225513"/>
                    </a:lnTo>
                    <a:cubicBezTo>
                      <a:pt x="297717" y="225513"/>
                      <a:pt x="333926" y="211874"/>
                      <a:pt x="333926" y="170957"/>
                    </a:cubicBezTo>
                    <a:cubicBezTo>
                      <a:pt x="333926" y="129242"/>
                      <a:pt x="303481" y="115603"/>
                      <a:pt x="271409" y="115603"/>
                    </a:cubicBezTo>
                    <a:lnTo>
                      <a:pt x="152996" y="115603"/>
                    </a:lnTo>
                    <a:close/>
                    <a:moveTo>
                      <a:pt x="0" y="71"/>
                    </a:moveTo>
                    <a:lnTo>
                      <a:pt x="274691" y="71"/>
                    </a:lnTo>
                    <a:cubicBezTo>
                      <a:pt x="375870" y="-1555"/>
                      <a:pt x="486865" y="24125"/>
                      <a:pt x="486865" y="143679"/>
                    </a:cubicBezTo>
                    <a:cubicBezTo>
                      <a:pt x="486865" y="195040"/>
                      <a:pt x="455621" y="236755"/>
                      <a:pt x="409568" y="259240"/>
                    </a:cubicBezTo>
                    <a:cubicBezTo>
                      <a:pt x="472085" y="276845"/>
                      <a:pt x="510747" y="329831"/>
                      <a:pt x="510747" y="394802"/>
                    </a:cubicBezTo>
                    <a:cubicBezTo>
                      <a:pt x="510747" y="531191"/>
                      <a:pt x="407942" y="572936"/>
                      <a:pt x="282081" y="572936"/>
                    </a:cubicBezTo>
                    <a:lnTo>
                      <a:pt x="0" y="572936"/>
                    </a:lnTo>
                    <a:close/>
                    <a:moveTo>
                      <a:pt x="564904" y="42"/>
                    </a:moveTo>
                    <a:lnTo>
                      <a:pt x="717899" y="42"/>
                    </a:lnTo>
                    <a:lnTo>
                      <a:pt x="717899" y="444535"/>
                    </a:lnTo>
                    <a:lnTo>
                      <a:pt x="991763" y="444535"/>
                    </a:lnTo>
                    <a:lnTo>
                      <a:pt x="991763" y="572936"/>
                    </a:lnTo>
                    <a:lnTo>
                      <a:pt x="564904" y="572936"/>
                    </a:lnTo>
                    <a:close/>
                    <a:moveTo>
                      <a:pt x="1528161" y="336223"/>
                    </a:moveTo>
                    <a:cubicBezTo>
                      <a:pt x="1528161" y="502315"/>
                      <a:pt x="1450009" y="584948"/>
                      <a:pt x="1272360" y="584948"/>
                    </a:cubicBezTo>
                    <a:cubicBezTo>
                      <a:pt x="1094711" y="584948"/>
                      <a:pt x="1016587" y="502315"/>
                      <a:pt x="1016587" y="336223"/>
                    </a:cubicBezTo>
                    <a:lnTo>
                      <a:pt x="1016587" y="42"/>
                    </a:lnTo>
                    <a:lnTo>
                      <a:pt x="1169583" y="42"/>
                    </a:lnTo>
                    <a:lnTo>
                      <a:pt x="1169583" y="345068"/>
                    </a:lnTo>
                    <a:cubicBezTo>
                      <a:pt x="1169583" y="418855"/>
                      <a:pt x="1197545" y="456576"/>
                      <a:pt x="1272360" y="456576"/>
                    </a:cubicBezTo>
                    <a:cubicBezTo>
                      <a:pt x="1347203" y="456576"/>
                      <a:pt x="1375194" y="418855"/>
                      <a:pt x="1375194" y="345068"/>
                    </a:cubicBezTo>
                    <a:lnTo>
                      <a:pt x="1375194" y="14"/>
                    </a:lnTo>
                    <a:lnTo>
                      <a:pt x="1528161" y="14"/>
                    </a:lnTo>
                    <a:close/>
                  </a:path>
                </a:pathLst>
              </a:custGeom>
              <a:solidFill>
                <a:srgbClr val="2CA3E1"/>
              </a:solidFill>
              <a:ln w="285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EFC1B40B-9FDE-5EE9-9373-5952F8F4F89B}"/>
                  </a:ext>
                </a:extLst>
              </p:cNvPr>
              <p:cNvSpPr/>
              <p:nvPr/>
            </p:nvSpPr>
            <p:spPr>
              <a:xfrm>
                <a:off x="9461613" y="318634"/>
                <a:ext cx="476221" cy="572893"/>
              </a:xfrm>
              <a:custGeom>
                <a:avLst/>
                <a:gdLst>
                  <a:gd name="connsiteX0" fmla="*/ 0 w 476221"/>
                  <a:gd name="connsiteY0" fmla="*/ 0 h 572893"/>
                  <a:gd name="connsiteX1" fmla="*/ 467976 w 476221"/>
                  <a:gd name="connsiteY1" fmla="*/ 0 h 572893"/>
                  <a:gd name="connsiteX2" fmla="*/ 467976 w 476221"/>
                  <a:gd name="connsiteY2" fmla="*/ 119555 h 572893"/>
                  <a:gd name="connsiteX3" fmla="*/ 152967 w 476221"/>
                  <a:gd name="connsiteY3" fmla="*/ 119555 h 572893"/>
                  <a:gd name="connsiteX4" fmla="*/ 152967 w 476221"/>
                  <a:gd name="connsiteY4" fmla="*/ 219850 h 572893"/>
                  <a:gd name="connsiteX5" fmla="*/ 440869 w 476221"/>
                  <a:gd name="connsiteY5" fmla="*/ 219850 h 572893"/>
                  <a:gd name="connsiteX6" fmla="*/ 440869 w 476221"/>
                  <a:gd name="connsiteY6" fmla="*/ 335410 h 572893"/>
                  <a:gd name="connsiteX7" fmla="*/ 152967 w 476221"/>
                  <a:gd name="connsiteY7" fmla="*/ 335410 h 572893"/>
                  <a:gd name="connsiteX8" fmla="*/ 152967 w 476221"/>
                  <a:gd name="connsiteY8" fmla="*/ 444493 h 572893"/>
                  <a:gd name="connsiteX9" fmla="*/ 476222 w 476221"/>
                  <a:gd name="connsiteY9" fmla="*/ 444493 h 572893"/>
                  <a:gd name="connsiteX10" fmla="*/ 476222 w 476221"/>
                  <a:gd name="connsiteY10" fmla="*/ 572893 h 572893"/>
                  <a:gd name="connsiteX11" fmla="*/ 0 w 476221"/>
                  <a:gd name="connsiteY11" fmla="*/ 572893 h 5728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76221" h="572893">
                    <a:moveTo>
                      <a:pt x="0" y="0"/>
                    </a:moveTo>
                    <a:lnTo>
                      <a:pt x="467976" y="0"/>
                    </a:lnTo>
                    <a:lnTo>
                      <a:pt x="467976" y="119555"/>
                    </a:lnTo>
                    <a:lnTo>
                      <a:pt x="152967" y="119555"/>
                    </a:lnTo>
                    <a:lnTo>
                      <a:pt x="152967" y="219850"/>
                    </a:lnTo>
                    <a:lnTo>
                      <a:pt x="440869" y="219850"/>
                    </a:lnTo>
                    <a:lnTo>
                      <a:pt x="440869" y="335410"/>
                    </a:lnTo>
                    <a:lnTo>
                      <a:pt x="152967" y="335410"/>
                    </a:lnTo>
                    <a:lnTo>
                      <a:pt x="152967" y="444493"/>
                    </a:lnTo>
                    <a:lnTo>
                      <a:pt x="476222" y="444493"/>
                    </a:lnTo>
                    <a:lnTo>
                      <a:pt x="476222" y="572893"/>
                    </a:lnTo>
                    <a:lnTo>
                      <a:pt x="0" y="572893"/>
                    </a:lnTo>
                    <a:close/>
                  </a:path>
                </a:pathLst>
              </a:custGeom>
              <a:solidFill>
                <a:srgbClr val="2CA3E1"/>
              </a:solidFill>
              <a:ln w="285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D3D5722-88AA-8471-E282-A02094CAFABD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7857722" y="1038476"/>
              <a:ext cx="2080110" cy="686681"/>
              <a:chOff x="10011822" y="312071"/>
              <a:chExt cx="1789355" cy="590698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86425669-B6F6-6BA2-E421-33F95E55F3F4}"/>
                  </a:ext>
                </a:extLst>
              </p:cNvPr>
              <p:cNvSpPr/>
              <p:nvPr userDrawn="1"/>
            </p:nvSpPr>
            <p:spPr>
              <a:xfrm>
                <a:off x="10011822" y="318605"/>
                <a:ext cx="1020238" cy="584106"/>
              </a:xfrm>
              <a:custGeom>
                <a:avLst/>
                <a:gdLst>
                  <a:gd name="connsiteX0" fmla="*/ 209720 w 1020238"/>
                  <a:gd name="connsiteY0" fmla="*/ 219108 h 584106"/>
                  <a:gd name="connsiteX1" fmla="*/ 90479 w 1020238"/>
                  <a:gd name="connsiteY1" fmla="*/ 365912 h 584106"/>
                  <a:gd name="connsiteX2" fmla="*/ 209749 w 1020238"/>
                  <a:gd name="connsiteY2" fmla="*/ 511917 h 584106"/>
                  <a:gd name="connsiteX3" fmla="*/ 327363 w 1020238"/>
                  <a:gd name="connsiteY3" fmla="*/ 365912 h 584106"/>
                  <a:gd name="connsiteX4" fmla="*/ 209720 w 1020238"/>
                  <a:gd name="connsiteY4" fmla="*/ 219079 h 584106"/>
                  <a:gd name="connsiteX5" fmla="*/ 0 w 1020238"/>
                  <a:gd name="connsiteY5" fmla="*/ 0 h 584106"/>
                  <a:gd name="connsiteX6" fmla="*/ 93761 w 1020238"/>
                  <a:gd name="connsiteY6" fmla="*/ 0 h 584106"/>
                  <a:gd name="connsiteX7" fmla="*/ 93761 w 1020238"/>
                  <a:gd name="connsiteY7" fmla="*/ 211832 h 584106"/>
                  <a:gd name="connsiteX8" fmla="*/ 95415 w 1020238"/>
                  <a:gd name="connsiteY8" fmla="*/ 211832 h 584106"/>
                  <a:gd name="connsiteX9" fmla="*/ 222075 w 1020238"/>
                  <a:gd name="connsiteY9" fmla="*/ 146833 h 584106"/>
                  <a:gd name="connsiteX10" fmla="*/ 421095 w 1020238"/>
                  <a:gd name="connsiteY10" fmla="*/ 367481 h 584106"/>
                  <a:gd name="connsiteX11" fmla="*/ 237683 w 1020238"/>
                  <a:gd name="connsiteY11" fmla="*/ 584107 h 584106"/>
                  <a:gd name="connsiteX12" fmla="*/ 90451 w 1020238"/>
                  <a:gd name="connsiteY12" fmla="*/ 515912 h 584106"/>
                  <a:gd name="connsiteX13" fmla="*/ 88824 w 1020238"/>
                  <a:gd name="connsiteY13" fmla="*/ 515912 h 584106"/>
                  <a:gd name="connsiteX14" fmla="*/ 88824 w 1020238"/>
                  <a:gd name="connsiteY14" fmla="*/ 572865 h 584106"/>
                  <a:gd name="connsiteX15" fmla="*/ 29 w 1020238"/>
                  <a:gd name="connsiteY15" fmla="*/ 572865 h 584106"/>
                  <a:gd name="connsiteX16" fmla="*/ 467148 w 1020238"/>
                  <a:gd name="connsiteY16" fmla="*/ 572922 h 584106"/>
                  <a:gd name="connsiteX17" fmla="*/ 560909 w 1020238"/>
                  <a:gd name="connsiteY17" fmla="*/ 572922 h 584106"/>
                  <a:gd name="connsiteX18" fmla="*/ 560909 w 1020238"/>
                  <a:gd name="connsiteY18" fmla="*/ 158075 h 584106"/>
                  <a:gd name="connsiteX19" fmla="*/ 467148 w 1020238"/>
                  <a:gd name="connsiteY19" fmla="*/ 158075 h 584106"/>
                  <a:gd name="connsiteX20" fmla="*/ 626307 w 1020238"/>
                  <a:gd name="connsiteY20" fmla="*/ 29 h 584106"/>
                  <a:gd name="connsiteX21" fmla="*/ 720039 w 1020238"/>
                  <a:gd name="connsiteY21" fmla="*/ 29 h 584106"/>
                  <a:gd name="connsiteX22" fmla="*/ 720039 w 1020238"/>
                  <a:gd name="connsiteY22" fmla="*/ 325823 h 584106"/>
                  <a:gd name="connsiteX23" fmla="*/ 889470 w 1020238"/>
                  <a:gd name="connsiteY23" fmla="*/ 158132 h 584106"/>
                  <a:gd name="connsiteX24" fmla="*/ 1004603 w 1020238"/>
                  <a:gd name="connsiteY24" fmla="*/ 158132 h 584106"/>
                  <a:gd name="connsiteX25" fmla="*/ 841763 w 1020238"/>
                  <a:gd name="connsiteY25" fmla="*/ 310586 h 584106"/>
                  <a:gd name="connsiteX26" fmla="*/ 1020239 w 1020238"/>
                  <a:gd name="connsiteY26" fmla="*/ 572950 h 584106"/>
                  <a:gd name="connsiteX27" fmla="*/ 905934 w 1020238"/>
                  <a:gd name="connsiteY27" fmla="*/ 572950 h 584106"/>
                  <a:gd name="connsiteX28" fmla="*/ 775993 w 1020238"/>
                  <a:gd name="connsiteY28" fmla="*/ 371562 h 584106"/>
                  <a:gd name="connsiteX29" fmla="*/ 720039 w 1020238"/>
                  <a:gd name="connsiteY29" fmla="*/ 424491 h 584106"/>
                  <a:gd name="connsiteX30" fmla="*/ 720039 w 1020238"/>
                  <a:gd name="connsiteY30" fmla="*/ 572950 h 584106"/>
                  <a:gd name="connsiteX31" fmla="*/ 626279 w 1020238"/>
                  <a:gd name="connsiteY31" fmla="*/ 572950 h 5841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020238" h="584106">
                    <a:moveTo>
                      <a:pt x="209720" y="219108"/>
                    </a:moveTo>
                    <a:cubicBezTo>
                      <a:pt x="130797" y="219108"/>
                      <a:pt x="90479" y="277658"/>
                      <a:pt x="90479" y="365912"/>
                    </a:cubicBezTo>
                    <a:cubicBezTo>
                      <a:pt x="90479" y="449344"/>
                      <a:pt x="134078" y="511917"/>
                      <a:pt x="209749" y="511917"/>
                    </a:cubicBezTo>
                    <a:cubicBezTo>
                      <a:pt x="295263" y="511917"/>
                      <a:pt x="327363" y="438101"/>
                      <a:pt x="327363" y="365912"/>
                    </a:cubicBezTo>
                    <a:cubicBezTo>
                      <a:pt x="327363" y="290498"/>
                      <a:pt x="287046" y="219079"/>
                      <a:pt x="209720" y="219079"/>
                    </a:cubicBezTo>
                    <a:moveTo>
                      <a:pt x="0" y="0"/>
                    </a:moveTo>
                    <a:lnTo>
                      <a:pt x="93761" y="0"/>
                    </a:lnTo>
                    <a:lnTo>
                      <a:pt x="93761" y="211832"/>
                    </a:lnTo>
                    <a:lnTo>
                      <a:pt x="95415" y="211832"/>
                    </a:lnTo>
                    <a:cubicBezTo>
                      <a:pt x="120924" y="171714"/>
                      <a:pt x="174396" y="146833"/>
                      <a:pt x="222075" y="146833"/>
                    </a:cubicBezTo>
                    <a:cubicBezTo>
                      <a:pt x="356125" y="146833"/>
                      <a:pt x="421095" y="246329"/>
                      <a:pt x="421095" y="367481"/>
                    </a:cubicBezTo>
                    <a:cubicBezTo>
                      <a:pt x="421095" y="478990"/>
                      <a:pt x="363544" y="584107"/>
                      <a:pt x="237683" y="584107"/>
                    </a:cubicBezTo>
                    <a:cubicBezTo>
                      <a:pt x="180131" y="584107"/>
                      <a:pt x="118442" y="570468"/>
                      <a:pt x="90451" y="515912"/>
                    </a:cubicBezTo>
                    <a:lnTo>
                      <a:pt x="88824" y="515912"/>
                    </a:lnTo>
                    <a:lnTo>
                      <a:pt x="88824" y="572865"/>
                    </a:lnTo>
                    <a:lnTo>
                      <a:pt x="29" y="572865"/>
                    </a:lnTo>
                    <a:close/>
                    <a:moveTo>
                      <a:pt x="467148" y="572922"/>
                    </a:moveTo>
                    <a:lnTo>
                      <a:pt x="560909" y="572922"/>
                    </a:lnTo>
                    <a:lnTo>
                      <a:pt x="560909" y="158075"/>
                    </a:lnTo>
                    <a:lnTo>
                      <a:pt x="467148" y="158075"/>
                    </a:lnTo>
                    <a:close/>
                    <a:moveTo>
                      <a:pt x="626307" y="29"/>
                    </a:moveTo>
                    <a:lnTo>
                      <a:pt x="720039" y="29"/>
                    </a:lnTo>
                    <a:lnTo>
                      <a:pt x="720039" y="325823"/>
                    </a:lnTo>
                    <a:lnTo>
                      <a:pt x="889470" y="158132"/>
                    </a:lnTo>
                    <a:lnTo>
                      <a:pt x="1004603" y="158132"/>
                    </a:lnTo>
                    <a:lnTo>
                      <a:pt x="841763" y="310586"/>
                    </a:lnTo>
                    <a:lnTo>
                      <a:pt x="1020239" y="572950"/>
                    </a:lnTo>
                    <a:lnTo>
                      <a:pt x="905934" y="572950"/>
                    </a:lnTo>
                    <a:lnTo>
                      <a:pt x="775993" y="371562"/>
                    </a:lnTo>
                    <a:lnTo>
                      <a:pt x="720039" y="424491"/>
                    </a:lnTo>
                    <a:lnTo>
                      <a:pt x="720039" y="572950"/>
                    </a:lnTo>
                    <a:lnTo>
                      <a:pt x="626279" y="572950"/>
                    </a:lnTo>
                    <a:close/>
                  </a:path>
                </a:pathLst>
              </a:custGeom>
              <a:solidFill>
                <a:srgbClr val="0090DA"/>
              </a:solidFill>
              <a:ln w="285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0B97EA0C-B6BD-BB2F-4449-94B9DCB93F0B}"/>
                  </a:ext>
                </a:extLst>
              </p:cNvPr>
              <p:cNvSpPr/>
              <p:nvPr/>
            </p:nvSpPr>
            <p:spPr>
              <a:xfrm>
                <a:off x="11000788" y="464411"/>
                <a:ext cx="800389" cy="438358"/>
              </a:xfrm>
              <a:custGeom>
                <a:avLst/>
                <a:gdLst>
                  <a:gd name="connsiteX0" fmla="*/ 312555 w 800389"/>
                  <a:gd name="connsiteY0" fmla="*/ 183184 h 438358"/>
                  <a:gd name="connsiteX1" fmla="*/ 205611 w 800389"/>
                  <a:gd name="connsiteY1" fmla="*/ 73274 h 438358"/>
                  <a:gd name="connsiteX2" fmla="*/ 93761 w 800389"/>
                  <a:gd name="connsiteY2" fmla="*/ 183184 h 438358"/>
                  <a:gd name="connsiteX3" fmla="*/ 93761 w 800389"/>
                  <a:gd name="connsiteY3" fmla="*/ 243390 h 438358"/>
                  <a:gd name="connsiteX4" fmla="*/ 208094 w 800389"/>
                  <a:gd name="connsiteY4" fmla="*/ 366112 h 438358"/>
                  <a:gd name="connsiteX5" fmla="*/ 311727 w 800389"/>
                  <a:gd name="connsiteY5" fmla="*/ 297118 h 438358"/>
                  <a:gd name="connsiteX6" fmla="*/ 400551 w 800389"/>
                  <a:gd name="connsiteY6" fmla="*/ 297118 h 438358"/>
                  <a:gd name="connsiteX7" fmla="*/ 208094 w 800389"/>
                  <a:gd name="connsiteY7" fmla="*/ 438358 h 438358"/>
                  <a:gd name="connsiteX8" fmla="*/ 0 w 800389"/>
                  <a:gd name="connsiteY8" fmla="*/ 220106 h 438358"/>
                  <a:gd name="connsiteX9" fmla="*/ 205611 w 800389"/>
                  <a:gd name="connsiteY9" fmla="*/ 1084 h 438358"/>
                  <a:gd name="connsiteX10" fmla="*/ 406287 w 800389"/>
                  <a:gd name="connsiteY10" fmla="*/ 243390 h 438358"/>
                  <a:gd name="connsiteX11" fmla="*/ 515826 w 800389"/>
                  <a:gd name="connsiteY11" fmla="*/ 292867 h 438358"/>
                  <a:gd name="connsiteX12" fmla="*/ 612012 w 800389"/>
                  <a:gd name="connsiteY12" fmla="*/ 365056 h 438358"/>
                  <a:gd name="connsiteX13" fmla="*/ 706629 w 800389"/>
                  <a:gd name="connsiteY13" fmla="*/ 310500 h 438358"/>
                  <a:gd name="connsiteX14" fmla="*/ 567643 w 800389"/>
                  <a:gd name="connsiteY14" fmla="*/ 241507 h 438358"/>
                  <a:gd name="connsiteX15" fmla="*/ 431111 w 800389"/>
                  <a:gd name="connsiteY15" fmla="*/ 118756 h 438358"/>
                  <a:gd name="connsiteX16" fmla="*/ 608760 w 800389"/>
                  <a:gd name="connsiteY16" fmla="*/ 0 h 438358"/>
                  <a:gd name="connsiteX17" fmla="*/ 786408 w 800389"/>
                  <a:gd name="connsiteY17" fmla="*/ 127573 h 438358"/>
                  <a:gd name="connsiteX18" fmla="*/ 688539 w 800389"/>
                  <a:gd name="connsiteY18" fmla="*/ 127573 h 438358"/>
                  <a:gd name="connsiteX19" fmla="*/ 602168 w 800389"/>
                  <a:gd name="connsiteY19" fmla="*/ 72218 h 438358"/>
                  <a:gd name="connsiteX20" fmla="*/ 524871 w 800389"/>
                  <a:gd name="connsiteY20" fmla="*/ 114733 h 438358"/>
                  <a:gd name="connsiteX21" fmla="*/ 663030 w 800389"/>
                  <a:gd name="connsiteY21" fmla="*/ 181330 h 438358"/>
                  <a:gd name="connsiteX22" fmla="*/ 800389 w 800389"/>
                  <a:gd name="connsiteY22" fmla="*/ 302482 h 438358"/>
                  <a:gd name="connsiteX23" fmla="*/ 610386 w 800389"/>
                  <a:gd name="connsiteY23" fmla="*/ 437274 h 438358"/>
                  <a:gd name="connsiteX24" fmla="*/ 422066 w 800389"/>
                  <a:gd name="connsiteY24" fmla="*/ 292867 h 4383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800389" h="438358">
                    <a:moveTo>
                      <a:pt x="312555" y="183184"/>
                    </a:moveTo>
                    <a:cubicBezTo>
                      <a:pt x="309245" y="125433"/>
                      <a:pt x="268956" y="73274"/>
                      <a:pt x="205611" y="73274"/>
                    </a:cubicBezTo>
                    <a:cubicBezTo>
                      <a:pt x="140641" y="73274"/>
                      <a:pt x="96215" y="121410"/>
                      <a:pt x="93761" y="183184"/>
                    </a:cubicBezTo>
                    <a:close/>
                    <a:moveTo>
                      <a:pt x="93761" y="243390"/>
                    </a:moveTo>
                    <a:cubicBezTo>
                      <a:pt x="93761" y="308360"/>
                      <a:pt x="129941" y="366112"/>
                      <a:pt x="208094" y="366112"/>
                    </a:cubicBezTo>
                    <a:cubicBezTo>
                      <a:pt x="262364" y="366112"/>
                      <a:pt x="295263" y="342857"/>
                      <a:pt x="311727" y="297118"/>
                    </a:cubicBezTo>
                    <a:lnTo>
                      <a:pt x="400551" y="297118"/>
                    </a:lnTo>
                    <a:cubicBezTo>
                      <a:pt x="379979" y="387797"/>
                      <a:pt x="301027" y="438358"/>
                      <a:pt x="208094" y="438358"/>
                    </a:cubicBezTo>
                    <a:cubicBezTo>
                      <a:pt x="74843" y="438358"/>
                      <a:pt x="0" y="347679"/>
                      <a:pt x="0" y="220106"/>
                    </a:cubicBezTo>
                    <a:cubicBezTo>
                      <a:pt x="0" y="102178"/>
                      <a:pt x="78952" y="1084"/>
                      <a:pt x="205611" y="1084"/>
                    </a:cubicBezTo>
                    <a:cubicBezTo>
                      <a:pt x="339690" y="1084"/>
                      <a:pt x="421923" y="119013"/>
                      <a:pt x="406287" y="243390"/>
                    </a:cubicBezTo>
                    <a:close/>
                    <a:moveTo>
                      <a:pt x="515826" y="292867"/>
                    </a:moveTo>
                    <a:cubicBezTo>
                      <a:pt x="520734" y="345796"/>
                      <a:pt x="561850" y="365056"/>
                      <a:pt x="612012" y="365056"/>
                    </a:cubicBezTo>
                    <a:cubicBezTo>
                      <a:pt x="647393" y="365056"/>
                      <a:pt x="709083" y="357837"/>
                      <a:pt x="706629" y="310500"/>
                    </a:cubicBezTo>
                    <a:cubicBezTo>
                      <a:pt x="704146" y="262364"/>
                      <a:pt x="635894" y="256743"/>
                      <a:pt x="567643" y="241507"/>
                    </a:cubicBezTo>
                    <a:cubicBezTo>
                      <a:pt x="498535" y="227040"/>
                      <a:pt x="431111" y="202986"/>
                      <a:pt x="431111" y="118756"/>
                    </a:cubicBezTo>
                    <a:cubicBezTo>
                      <a:pt x="431111" y="28105"/>
                      <a:pt x="531434" y="0"/>
                      <a:pt x="608760" y="0"/>
                    </a:cubicBezTo>
                    <a:cubicBezTo>
                      <a:pt x="695929" y="0"/>
                      <a:pt x="774881" y="35296"/>
                      <a:pt x="786408" y="127573"/>
                    </a:cubicBezTo>
                    <a:lnTo>
                      <a:pt x="688539" y="127573"/>
                    </a:lnTo>
                    <a:cubicBezTo>
                      <a:pt x="680292" y="84259"/>
                      <a:pt x="643285" y="72218"/>
                      <a:pt x="602168" y="72218"/>
                    </a:cubicBezTo>
                    <a:cubicBezTo>
                      <a:pt x="575033" y="72218"/>
                      <a:pt x="524871" y="78638"/>
                      <a:pt x="524871" y="114733"/>
                    </a:cubicBezTo>
                    <a:cubicBezTo>
                      <a:pt x="524871" y="159673"/>
                      <a:pt x="593950" y="166093"/>
                      <a:pt x="663030" y="181330"/>
                    </a:cubicBezTo>
                    <a:cubicBezTo>
                      <a:pt x="731282" y="196566"/>
                      <a:pt x="800389" y="220649"/>
                      <a:pt x="800389" y="302482"/>
                    </a:cubicBezTo>
                    <a:cubicBezTo>
                      <a:pt x="800389" y="401179"/>
                      <a:pt x="698383" y="437274"/>
                      <a:pt x="610386" y="437274"/>
                    </a:cubicBezTo>
                    <a:cubicBezTo>
                      <a:pt x="503471" y="437274"/>
                      <a:pt x="423692" y="390765"/>
                      <a:pt x="422066" y="292867"/>
                    </a:cubicBezTo>
                    <a:close/>
                  </a:path>
                </a:pathLst>
              </a:custGeom>
              <a:solidFill>
                <a:srgbClr val="0090DA"/>
              </a:solidFill>
              <a:ln w="285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675DC0A2-08A5-736F-AE0A-57303F23F9EA}"/>
                  </a:ext>
                </a:extLst>
              </p:cNvPr>
              <p:cNvSpPr/>
              <p:nvPr/>
            </p:nvSpPr>
            <p:spPr>
              <a:xfrm>
                <a:off x="10470924" y="312071"/>
                <a:ext cx="109853" cy="107057"/>
              </a:xfrm>
              <a:custGeom>
                <a:avLst/>
                <a:gdLst>
                  <a:gd name="connsiteX0" fmla="*/ 109853 w 109853"/>
                  <a:gd name="connsiteY0" fmla="*/ 53529 h 107057"/>
                  <a:gd name="connsiteX1" fmla="*/ 54927 w 109853"/>
                  <a:gd name="connsiteY1" fmla="*/ 107057 h 107057"/>
                  <a:gd name="connsiteX2" fmla="*/ 0 w 109853"/>
                  <a:gd name="connsiteY2" fmla="*/ 53529 h 107057"/>
                  <a:gd name="connsiteX3" fmla="*/ 54927 w 109853"/>
                  <a:gd name="connsiteY3" fmla="*/ 0 h 107057"/>
                  <a:gd name="connsiteX4" fmla="*/ 109853 w 109853"/>
                  <a:gd name="connsiteY4" fmla="*/ 53529 h 1070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9853" h="107057">
                    <a:moveTo>
                      <a:pt x="109853" y="53529"/>
                    </a:moveTo>
                    <a:cubicBezTo>
                      <a:pt x="109853" y="83089"/>
                      <a:pt x="85258" y="107057"/>
                      <a:pt x="54927" y="107057"/>
                    </a:cubicBezTo>
                    <a:cubicBezTo>
                      <a:pt x="24596" y="107057"/>
                      <a:pt x="0" y="83089"/>
                      <a:pt x="0" y="53529"/>
                    </a:cubicBezTo>
                    <a:cubicBezTo>
                      <a:pt x="0" y="23968"/>
                      <a:pt x="24596" y="0"/>
                      <a:pt x="54927" y="0"/>
                    </a:cubicBezTo>
                    <a:cubicBezTo>
                      <a:pt x="85258" y="0"/>
                      <a:pt x="109853" y="23968"/>
                      <a:pt x="109853" y="53529"/>
                    </a:cubicBezTo>
                  </a:path>
                </a:pathLst>
              </a:custGeom>
              <a:solidFill>
                <a:srgbClr val="EA8735"/>
              </a:solidFill>
              <a:ln w="285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7B333-FF9C-1FB4-A97D-38D51177B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12A66-822E-4D68-834D-298940211017}" type="slidenum">
              <a:rPr lang="en-US" smtClean="0"/>
              <a:t>12</a:t>
            </a:fld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E85590E-282A-76B1-1372-B0B30695E175}"/>
              </a:ext>
            </a:extLst>
          </p:cNvPr>
          <p:cNvCxnSpPr/>
          <p:nvPr/>
        </p:nvCxnSpPr>
        <p:spPr>
          <a:xfrm>
            <a:off x="11411339" y="6356791"/>
            <a:ext cx="0" cy="364243"/>
          </a:xfrm>
          <a:prstGeom prst="line">
            <a:avLst/>
          </a:prstGeom>
          <a:ln>
            <a:solidFill>
              <a:srgbClr val="EA87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BCBABEC-7199-2D40-1E4F-570B604F9726}"/>
              </a:ext>
            </a:extLst>
          </p:cNvPr>
          <p:cNvGrpSpPr/>
          <p:nvPr/>
        </p:nvGrpSpPr>
        <p:grpSpPr>
          <a:xfrm>
            <a:off x="2563813" y="5357221"/>
            <a:ext cx="7064374" cy="523220"/>
            <a:chOff x="2563813" y="5774927"/>
            <a:chExt cx="7064374" cy="523220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1826086-CB66-6097-1A6A-723F7C5E6248}"/>
                </a:ext>
              </a:extLst>
            </p:cNvPr>
            <p:cNvSpPr txBox="1"/>
            <p:nvPr/>
          </p:nvSpPr>
          <p:spPr>
            <a:xfrm>
              <a:off x="3302421" y="5774927"/>
              <a:ext cx="632576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2800" b="1">
                  <a:solidFill>
                    <a:srgbClr val="091F2F"/>
                  </a:solidFill>
                  <a:latin typeface="Montserrat" pitchFamily="2" charset="0"/>
                </a:defRPr>
              </a:lvl1pPr>
            </a:lstStyle>
            <a:p>
              <a:r>
                <a:rPr lang="en-US" dirty="0">
                  <a:solidFill>
                    <a:srgbClr val="0D0D2F"/>
                  </a:solidFill>
                  <a:latin typeface="Lyft Pro UI" panose="02000503030000000000" pitchFamily="50" charset="0"/>
                </a:rPr>
                <a:t>Conclusion</a:t>
              </a:r>
            </a:p>
          </p:txBody>
        </p:sp>
        <p:pic>
          <p:nvPicPr>
            <p:cNvPr id="6" name="Graphic 5" descr="Rewind with solid fill">
              <a:extLst>
                <a:ext uri="{FF2B5EF4-FFF2-40B4-BE49-F238E27FC236}">
                  <a16:creationId xmlns:a16="http://schemas.microsoft.com/office/drawing/2014/main" id="{BA112B71-DC8B-058B-84EF-B4CDA13132C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flipH="1">
              <a:off x="2563813" y="5780121"/>
              <a:ext cx="512832" cy="5128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980225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D9E0E-4E9A-758B-4159-D4FBA8EBE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1D03F3A-B836-58C7-2FDE-7CFCD0A62E9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17" imgH="416" progId="TCLayout.ActiveDocument.1">
                  <p:embed/>
                </p:oleObj>
              </mc:Choice>
              <mc:Fallback>
                <p:oleObj name="think-cell Slide" r:id="rId4" imgW="417" imgH="41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502E2DD-5468-61D5-1D5F-996FCC96E6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 29">
            <a:extLst>
              <a:ext uri="{FF2B5EF4-FFF2-40B4-BE49-F238E27FC236}">
                <a16:creationId xmlns:a16="http://schemas.microsoft.com/office/drawing/2014/main" id="{4C96820D-173A-B4D3-DB50-AD04301468B8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4777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2B2047-B041-D645-DB99-2D98C4A54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12A66-822E-4D68-834D-298940211017}" type="slidenum">
              <a:rPr lang="en-US" smtClean="0"/>
              <a:t>13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5078B06-DCF9-B79B-5913-EFD0234B3712}"/>
              </a:ext>
            </a:extLst>
          </p:cNvPr>
          <p:cNvGrpSpPr>
            <a:grpSpLocks noChangeAspect="1"/>
          </p:cNvGrpSpPr>
          <p:nvPr/>
        </p:nvGrpSpPr>
        <p:grpSpPr>
          <a:xfrm>
            <a:off x="11523824" y="6371722"/>
            <a:ext cx="494499" cy="334378"/>
            <a:chOff x="7857722" y="318591"/>
            <a:chExt cx="2080112" cy="140656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B1DD0F8-127E-89EC-C423-C5A15F1D199E}"/>
                </a:ext>
              </a:extLst>
            </p:cNvPr>
            <p:cNvGrpSpPr/>
            <p:nvPr userDrawn="1"/>
          </p:nvGrpSpPr>
          <p:grpSpPr>
            <a:xfrm>
              <a:off x="7857724" y="318591"/>
              <a:ext cx="2080110" cy="584948"/>
              <a:chOff x="7857724" y="318591"/>
              <a:chExt cx="2080110" cy="584948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6D13A07E-250A-F6C5-9280-3E977B8CBF57}"/>
                  </a:ext>
                </a:extLst>
              </p:cNvPr>
              <p:cNvSpPr/>
              <p:nvPr/>
            </p:nvSpPr>
            <p:spPr>
              <a:xfrm>
                <a:off x="7857724" y="318591"/>
                <a:ext cx="1528161" cy="584948"/>
              </a:xfrm>
              <a:custGeom>
                <a:avLst/>
                <a:gdLst>
                  <a:gd name="connsiteX0" fmla="*/ 152967 w 1528161"/>
                  <a:gd name="connsiteY0" fmla="*/ 453381 h 584948"/>
                  <a:gd name="connsiteX1" fmla="*/ 275518 w 1528161"/>
                  <a:gd name="connsiteY1" fmla="*/ 453381 h 584948"/>
                  <a:gd name="connsiteX2" fmla="*/ 357751 w 1528161"/>
                  <a:gd name="connsiteY2" fmla="*/ 389181 h 584948"/>
                  <a:gd name="connsiteX3" fmla="*/ 275518 w 1528161"/>
                  <a:gd name="connsiteY3" fmla="*/ 321813 h 584948"/>
                  <a:gd name="connsiteX4" fmla="*/ 152967 w 1528161"/>
                  <a:gd name="connsiteY4" fmla="*/ 321813 h 584948"/>
                  <a:gd name="connsiteX5" fmla="*/ 152967 w 1528161"/>
                  <a:gd name="connsiteY5" fmla="*/ 225513 h 584948"/>
                  <a:gd name="connsiteX6" fmla="*/ 271381 w 1528161"/>
                  <a:gd name="connsiteY6" fmla="*/ 225513 h 584948"/>
                  <a:gd name="connsiteX7" fmla="*/ 333926 w 1528161"/>
                  <a:gd name="connsiteY7" fmla="*/ 170957 h 584948"/>
                  <a:gd name="connsiteX8" fmla="*/ 271409 w 1528161"/>
                  <a:gd name="connsiteY8" fmla="*/ 115603 h 584948"/>
                  <a:gd name="connsiteX9" fmla="*/ 152996 w 1528161"/>
                  <a:gd name="connsiteY9" fmla="*/ 115603 h 584948"/>
                  <a:gd name="connsiteX10" fmla="*/ 0 w 1528161"/>
                  <a:gd name="connsiteY10" fmla="*/ 71 h 584948"/>
                  <a:gd name="connsiteX11" fmla="*/ 274691 w 1528161"/>
                  <a:gd name="connsiteY11" fmla="*/ 71 h 584948"/>
                  <a:gd name="connsiteX12" fmla="*/ 486865 w 1528161"/>
                  <a:gd name="connsiteY12" fmla="*/ 143679 h 584948"/>
                  <a:gd name="connsiteX13" fmla="*/ 409568 w 1528161"/>
                  <a:gd name="connsiteY13" fmla="*/ 259240 h 584948"/>
                  <a:gd name="connsiteX14" fmla="*/ 510747 w 1528161"/>
                  <a:gd name="connsiteY14" fmla="*/ 394802 h 584948"/>
                  <a:gd name="connsiteX15" fmla="*/ 282081 w 1528161"/>
                  <a:gd name="connsiteY15" fmla="*/ 572936 h 584948"/>
                  <a:gd name="connsiteX16" fmla="*/ 0 w 1528161"/>
                  <a:gd name="connsiteY16" fmla="*/ 572936 h 584948"/>
                  <a:gd name="connsiteX17" fmla="*/ 564904 w 1528161"/>
                  <a:gd name="connsiteY17" fmla="*/ 42 h 584948"/>
                  <a:gd name="connsiteX18" fmla="*/ 717899 w 1528161"/>
                  <a:gd name="connsiteY18" fmla="*/ 42 h 584948"/>
                  <a:gd name="connsiteX19" fmla="*/ 717899 w 1528161"/>
                  <a:gd name="connsiteY19" fmla="*/ 444535 h 584948"/>
                  <a:gd name="connsiteX20" fmla="*/ 991763 w 1528161"/>
                  <a:gd name="connsiteY20" fmla="*/ 444535 h 584948"/>
                  <a:gd name="connsiteX21" fmla="*/ 991763 w 1528161"/>
                  <a:gd name="connsiteY21" fmla="*/ 572936 h 584948"/>
                  <a:gd name="connsiteX22" fmla="*/ 564904 w 1528161"/>
                  <a:gd name="connsiteY22" fmla="*/ 572936 h 584948"/>
                  <a:gd name="connsiteX23" fmla="*/ 1528161 w 1528161"/>
                  <a:gd name="connsiteY23" fmla="*/ 336223 h 584948"/>
                  <a:gd name="connsiteX24" fmla="*/ 1272360 w 1528161"/>
                  <a:gd name="connsiteY24" fmla="*/ 584948 h 584948"/>
                  <a:gd name="connsiteX25" fmla="*/ 1016587 w 1528161"/>
                  <a:gd name="connsiteY25" fmla="*/ 336223 h 584948"/>
                  <a:gd name="connsiteX26" fmla="*/ 1016587 w 1528161"/>
                  <a:gd name="connsiteY26" fmla="*/ 42 h 584948"/>
                  <a:gd name="connsiteX27" fmla="*/ 1169583 w 1528161"/>
                  <a:gd name="connsiteY27" fmla="*/ 42 h 584948"/>
                  <a:gd name="connsiteX28" fmla="*/ 1169583 w 1528161"/>
                  <a:gd name="connsiteY28" fmla="*/ 345068 h 584948"/>
                  <a:gd name="connsiteX29" fmla="*/ 1272360 w 1528161"/>
                  <a:gd name="connsiteY29" fmla="*/ 456576 h 584948"/>
                  <a:gd name="connsiteX30" fmla="*/ 1375194 w 1528161"/>
                  <a:gd name="connsiteY30" fmla="*/ 345068 h 584948"/>
                  <a:gd name="connsiteX31" fmla="*/ 1375194 w 1528161"/>
                  <a:gd name="connsiteY31" fmla="*/ 14 h 584948"/>
                  <a:gd name="connsiteX32" fmla="*/ 1528161 w 1528161"/>
                  <a:gd name="connsiteY32" fmla="*/ 14 h 5849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28161" h="584948">
                    <a:moveTo>
                      <a:pt x="152967" y="453381"/>
                    </a:moveTo>
                    <a:lnTo>
                      <a:pt x="275518" y="453381"/>
                    </a:lnTo>
                    <a:cubicBezTo>
                      <a:pt x="324025" y="453381"/>
                      <a:pt x="357751" y="436546"/>
                      <a:pt x="357751" y="389181"/>
                    </a:cubicBezTo>
                    <a:cubicBezTo>
                      <a:pt x="357751" y="338677"/>
                      <a:pt x="321571" y="321813"/>
                      <a:pt x="275518" y="321813"/>
                    </a:cubicBezTo>
                    <a:lnTo>
                      <a:pt x="152967" y="321813"/>
                    </a:lnTo>
                    <a:close/>
                    <a:moveTo>
                      <a:pt x="152967" y="225513"/>
                    </a:moveTo>
                    <a:lnTo>
                      <a:pt x="271381" y="225513"/>
                    </a:lnTo>
                    <a:cubicBezTo>
                      <a:pt x="297717" y="225513"/>
                      <a:pt x="333926" y="211874"/>
                      <a:pt x="333926" y="170957"/>
                    </a:cubicBezTo>
                    <a:cubicBezTo>
                      <a:pt x="333926" y="129242"/>
                      <a:pt x="303481" y="115603"/>
                      <a:pt x="271409" y="115603"/>
                    </a:cubicBezTo>
                    <a:lnTo>
                      <a:pt x="152996" y="115603"/>
                    </a:lnTo>
                    <a:close/>
                    <a:moveTo>
                      <a:pt x="0" y="71"/>
                    </a:moveTo>
                    <a:lnTo>
                      <a:pt x="274691" y="71"/>
                    </a:lnTo>
                    <a:cubicBezTo>
                      <a:pt x="375870" y="-1555"/>
                      <a:pt x="486865" y="24125"/>
                      <a:pt x="486865" y="143679"/>
                    </a:cubicBezTo>
                    <a:cubicBezTo>
                      <a:pt x="486865" y="195040"/>
                      <a:pt x="455621" y="236755"/>
                      <a:pt x="409568" y="259240"/>
                    </a:cubicBezTo>
                    <a:cubicBezTo>
                      <a:pt x="472085" y="276845"/>
                      <a:pt x="510747" y="329831"/>
                      <a:pt x="510747" y="394802"/>
                    </a:cubicBezTo>
                    <a:cubicBezTo>
                      <a:pt x="510747" y="531191"/>
                      <a:pt x="407942" y="572936"/>
                      <a:pt x="282081" y="572936"/>
                    </a:cubicBezTo>
                    <a:lnTo>
                      <a:pt x="0" y="572936"/>
                    </a:lnTo>
                    <a:close/>
                    <a:moveTo>
                      <a:pt x="564904" y="42"/>
                    </a:moveTo>
                    <a:lnTo>
                      <a:pt x="717899" y="42"/>
                    </a:lnTo>
                    <a:lnTo>
                      <a:pt x="717899" y="444535"/>
                    </a:lnTo>
                    <a:lnTo>
                      <a:pt x="991763" y="444535"/>
                    </a:lnTo>
                    <a:lnTo>
                      <a:pt x="991763" y="572936"/>
                    </a:lnTo>
                    <a:lnTo>
                      <a:pt x="564904" y="572936"/>
                    </a:lnTo>
                    <a:close/>
                    <a:moveTo>
                      <a:pt x="1528161" y="336223"/>
                    </a:moveTo>
                    <a:cubicBezTo>
                      <a:pt x="1528161" y="502315"/>
                      <a:pt x="1450009" y="584948"/>
                      <a:pt x="1272360" y="584948"/>
                    </a:cubicBezTo>
                    <a:cubicBezTo>
                      <a:pt x="1094711" y="584948"/>
                      <a:pt x="1016587" y="502315"/>
                      <a:pt x="1016587" y="336223"/>
                    </a:cubicBezTo>
                    <a:lnTo>
                      <a:pt x="1016587" y="42"/>
                    </a:lnTo>
                    <a:lnTo>
                      <a:pt x="1169583" y="42"/>
                    </a:lnTo>
                    <a:lnTo>
                      <a:pt x="1169583" y="345068"/>
                    </a:lnTo>
                    <a:cubicBezTo>
                      <a:pt x="1169583" y="418855"/>
                      <a:pt x="1197545" y="456576"/>
                      <a:pt x="1272360" y="456576"/>
                    </a:cubicBezTo>
                    <a:cubicBezTo>
                      <a:pt x="1347203" y="456576"/>
                      <a:pt x="1375194" y="418855"/>
                      <a:pt x="1375194" y="345068"/>
                    </a:cubicBezTo>
                    <a:lnTo>
                      <a:pt x="1375194" y="14"/>
                    </a:lnTo>
                    <a:lnTo>
                      <a:pt x="1528161" y="14"/>
                    </a:lnTo>
                    <a:close/>
                  </a:path>
                </a:pathLst>
              </a:custGeom>
              <a:solidFill>
                <a:srgbClr val="2CA3E1"/>
              </a:solidFill>
              <a:ln w="285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048BE998-6E23-C517-B8C8-57ABA32A1715}"/>
                  </a:ext>
                </a:extLst>
              </p:cNvPr>
              <p:cNvSpPr/>
              <p:nvPr/>
            </p:nvSpPr>
            <p:spPr>
              <a:xfrm>
                <a:off x="9461613" y="318634"/>
                <a:ext cx="476221" cy="572893"/>
              </a:xfrm>
              <a:custGeom>
                <a:avLst/>
                <a:gdLst>
                  <a:gd name="connsiteX0" fmla="*/ 0 w 476221"/>
                  <a:gd name="connsiteY0" fmla="*/ 0 h 572893"/>
                  <a:gd name="connsiteX1" fmla="*/ 467976 w 476221"/>
                  <a:gd name="connsiteY1" fmla="*/ 0 h 572893"/>
                  <a:gd name="connsiteX2" fmla="*/ 467976 w 476221"/>
                  <a:gd name="connsiteY2" fmla="*/ 119555 h 572893"/>
                  <a:gd name="connsiteX3" fmla="*/ 152967 w 476221"/>
                  <a:gd name="connsiteY3" fmla="*/ 119555 h 572893"/>
                  <a:gd name="connsiteX4" fmla="*/ 152967 w 476221"/>
                  <a:gd name="connsiteY4" fmla="*/ 219850 h 572893"/>
                  <a:gd name="connsiteX5" fmla="*/ 440869 w 476221"/>
                  <a:gd name="connsiteY5" fmla="*/ 219850 h 572893"/>
                  <a:gd name="connsiteX6" fmla="*/ 440869 w 476221"/>
                  <a:gd name="connsiteY6" fmla="*/ 335410 h 572893"/>
                  <a:gd name="connsiteX7" fmla="*/ 152967 w 476221"/>
                  <a:gd name="connsiteY7" fmla="*/ 335410 h 572893"/>
                  <a:gd name="connsiteX8" fmla="*/ 152967 w 476221"/>
                  <a:gd name="connsiteY8" fmla="*/ 444493 h 572893"/>
                  <a:gd name="connsiteX9" fmla="*/ 476222 w 476221"/>
                  <a:gd name="connsiteY9" fmla="*/ 444493 h 572893"/>
                  <a:gd name="connsiteX10" fmla="*/ 476222 w 476221"/>
                  <a:gd name="connsiteY10" fmla="*/ 572893 h 572893"/>
                  <a:gd name="connsiteX11" fmla="*/ 0 w 476221"/>
                  <a:gd name="connsiteY11" fmla="*/ 572893 h 5728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76221" h="572893">
                    <a:moveTo>
                      <a:pt x="0" y="0"/>
                    </a:moveTo>
                    <a:lnTo>
                      <a:pt x="467976" y="0"/>
                    </a:lnTo>
                    <a:lnTo>
                      <a:pt x="467976" y="119555"/>
                    </a:lnTo>
                    <a:lnTo>
                      <a:pt x="152967" y="119555"/>
                    </a:lnTo>
                    <a:lnTo>
                      <a:pt x="152967" y="219850"/>
                    </a:lnTo>
                    <a:lnTo>
                      <a:pt x="440869" y="219850"/>
                    </a:lnTo>
                    <a:lnTo>
                      <a:pt x="440869" y="335410"/>
                    </a:lnTo>
                    <a:lnTo>
                      <a:pt x="152967" y="335410"/>
                    </a:lnTo>
                    <a:lnTo>
                      <a:pt x="152967" y="444493"/>
                    </a:lnTo>
                    <a:lnTo>
                      <a:pt x="476222" y="444493"/>
                    </a:lnTo>
                    <a:lnTo>
                      <a:pt x="476222" y="572893"/>
                    </a:lnTo>
                    <a:lnTo>
                      <a:pt x="0" y="572893"/>
                    </a:lnTo>
                    <a:close/>
                  </a:path>
                </a:pathLst>
              </a:custGeom>
              <a:solidFill>
                <a:srgbClr val="2CA3E1"/>
              </a:solidFill>
              <a:ln w="285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B55F5BF2-72F9-8A22-2D8F-05037220701C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7857722" y="1038476"/>
              <a:ext cx="2080110" cy="686681"/>
              <a:chOff x="10011822" y="312071"/>
              <a:chExt cx="1789355" cy="590698"/>
            </a:xfrm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C200AEB4-230D-FCB5-B71C-D5B909260158}"/>
                  </a:ext>
                </a:extLst>
              </p:cNvPr>
              <p:cNvSpPr/>
              <p:nvPr userDrawn="1"/>
            </p:nvSpPr>
            <p:spPr>
              <a:xfrm>
                <a:off x="10011822" y="318605"/>
                <a:ext cx="1020238" cy="584106"/>
              </a:xfrm>
              <a:custGeom>
                <a:avLst/>
                <a:gdLst>
                  <a:gd name="connsiteX0" fmla="*/ 209720 w 1020238"/>
                  <a:gd name="connsiteY0" fmla="*/ 219108 h 584106"/>
                  <a:gd name="connsiteX1" fmla="*/ 90479 w 1020238"/>
                  <a:gd name="connsiteY1" fmla="*/ 365912 h 584106"/>
                  <a:gd name="connsiteX2" fmla="*/ 209749 w 1020238"/>
                  <a:gd name="connsiteY2" fmla="*/ 511917 h 584106"/>
                  <a:gd name="connsiteX3" fmla="*/ 327363 w 1020238"/>
                  <a:gd name="connsiteY3" fmla="*/ 365912 h 584106"/>
                  <a:gd name="connsiteX4" fmla="*/ 209720 w 1020238"/>
                  <a:gd name="connsiteY4" fmla="*/ 219079 h 584106"/>
                  <a:gd name="connsiteX5" fmla="*/ 0 w 1020238"/>
                  <a:gd name="connsiteY5" fmla="*/ 0 h 584106"/>
                  <a:gd name="connsiteX6" fmla="*/ 93761 w 1020238"/>
                  <a:gd name="connsiteY6" fmla="*/ 0 h 584106"/>
                  <a:gd name="connsiteX7" fmla="*/ 93761 w 1020238"/>
                  <a:gd name="connsiteY7" fmla="*/ 211832 h 584106"/>
                  <a:gd name="connsiteX8" fmla="*/ 95415 w 1020238"/>
                  <a:gd name="connsiteY8" fmla="*/ 211832 h 584106"/>
                  <a:gd name="connsiteX9" fmla="*/ 222075 w 1020238"/>
                  <a:gd name="connsiteY9" fmla="*/ 146833 h 584106"/>
                  <a:gd name="connsiteX10" fmla="*/ 421095 w 1020238"/>
                  <a:gd name="connsiteY10" fmla="*/ 367481 h 584106"/>
                  <a:gd name="connsiteX11" fmla="*/ 237683 w 1020238"/>
                  <a:gd name="connsiteY11" fmla="*/ 584107 h 584106"/>
                  <a:gd name="connsiteX12" fmla="*/ 90451 w 1020238"/>
                  <a:gd name="connsiteY12" fmla="*/ 515912 h 584106"/>
                  <a:gd name="connsiteX13" fmla="*/ 88824 w 1020238"/>
                  <a:gd name="connsiteY13" fmla="*/ 515912 h 584106"/>
                  <a:gd name="connsiteX14" fmla="*/ 88824 w 1020238"/>
                  <a:gd name="connsiteY14" fmla="*/ 572865 h 584106"/>
                  <a:gd name="connsiteX15" fmla="*/ 29 w 1020238"/>
                  <a:gd name="connsiteY15" fmla="*/ 572865 h 584106"/>
                  <a:gd name="connsiteX16" fmla="*/ 467148 w 1020238"/>
                  <a:gd name="connsiteY16" fmla="*/ 572922 h 584106"/>
                  <a:gd name="connsiteX17" fmla="*/ 560909 w 1020238"/>
                  <a:gd name="connsiteY17" fmla="*/ 572922 h 584106"/>
                  <a:gd name="connsiteX18" fmla="*/ 560909 w 1020238"/>
                  <a:gd name="connsiteY18" fmla="*/ 158075 h 584106"/>
                  <a:gd name="connsiteX19" fmla="*/ 467148 w 1020238"/>
                  <a:gd name="connsiteY19" fmla="*/ 158075 h 584106"/>
                  <a:gd name="connsiteX20" fmla="*/ 626307 w 1020238"/>
                  <a:gd name="connsiteY20" fmla="*/ 29 h 584106"/>
                  <a:gd name="connsiteX21" fmla="*/ 720039 w 1020238"/>
                  <a:gd name="connsiteY21" fmla="*/ 29 h 584106"/>
                  <a:gd name="connsiteX22" fmla="*/ 720039 w 1020238"/>
                  <a:gd name="connsiteY22" fmla="*/ 325823 h 584106"/>
                  <a:gd name="connsiteX23" fmla="*/ 889470 w 1020238"/>
                  <a:gd name="connsiteY23" fmla="*/ 158132 h 584106"/>
                  <a:gd name="connsiteX24" fmla="*/ 1004603 w 1020238"/>
                  <a:gd name="connsiteY24" fmla="*/ 158132 h 584106"/>
                  <a:gd name="connsiteX25" fmla="*/ 841763 w 1020238"/>
                  <a:gd name="connsiteY25" fmla="*/ 310586 h 584106"/>
                  <a:gd name="connsiteX26" fmla="*/ 1020239 w 1020238"/>
                  <a:gd name="connsiteY26" fmla="*/ 572950 h 584106"/>
                  <a:gd name="connsiteX27" fmla="*/ 905934 w 1020238"/>
                  <a:gd name="connsiteY27" fmla="*/ 572950 h 584106"/>
                  <a:gd name="connsiteX28" fmla="*/ 775993 w 1020238"/>
                  <a:gd name="connsiteY28" fmla="*/ 371562 h 584106"/>
                  <a:gd name="connsiteX29" fmla="*/ 720039 w 1020238"/>
                  <a:gd name="connsiteY29" fmla="*/ 424491 h 584106"/>
                  <a:gd name="connsiteX30" fmla="*/ 720039 w 1020238"/>
                  <a:gd name="connsiteY30" fmla="*/ 572950 h 584106"/>
                  <a:gd name="connsiteX31" fmla="*/ 626279 w 1020238"/>
                  <a:gd name="connsiteY31" fmla="*/ 572950 h 5841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020238" h="584106">
                    <a:moveTo>
                      <a:pt x="209720" y="219108"/>
                    </a:moveTo>
                    <a:cubicBezTo>
                      <a:pt x="130797" y="219108"/>
                      <a:pt x="90479" y="277658"/>
                      <a:pt x="90479" y="365912"/>
                    </a:cubicBezTo>
                    <a:cubicBezTo>
                      <a:pt x="90479" y="449344"/>
                      <a:pt x="134078" y="511917"/>
                      <a:pt x="209749" y="511917"/>
                    </a:cubicBezTo>
                    <a:cubicBezTo>
                      <a:pt x="295263" y="511917"/>
                      <a:pt x="327363" y="438101"/>
                      <a:pt x="327363" y="365912"/>
                    </a:cubicBezTo>
                    <a:cubicBezTo>
                      <a:pt x="327363" y="290498"/>
                      <a:pt x="287046" y="219079"/>
                      <a:pt x="209720" y="219079"/>
                    </a:cubicBezTo>
                    <a:moveTo>
                      <a:pt x="0" y="0"/>
                    </a:moveTo>
                    <a:lnTo>
                      <a:pt x="93761" y="0"/>
                    </a:lnTo>
                    <a:lnTo>
                      <a:pt x="93761" y="211832"/>
                    </a:lnTo>
                    <a:lnTo>
                      <a:pt x="95415" y="211832"/>
                    </a:lnTo>
                    <a:cubicBezTo>
                      <a:pt x="120924" y="171714"/>
                      <a:pt x="174396" y="146833"/>
                      <a:pt x="222075" y="146833"/>
                    </a:cubicBezTo>
                    <a:cubicBezTo>
                      <a:pt x="356125" y="146833"/>
                      <a:pt x="421095" y="246329"/>
                      <a:pt x="421095" y="367481"/>
                    </a:cubicBezTo>
                    <a:cubicBezTo>
                      <a:pt x="421095" y="478990"/>
                      <a:pt x="363544" y="584107"/>
                      <a:pt x="237683" y="584107"/>
                    </a:cubicBezTo>
                    <a:cubicBezTo>
                      <a:pt x="180131" y="584107"/>
                      <a:pt x="118442" y="570468"/>
                      <a:pt x="90451" y="515912"/>
                    </a:cubicBezTo>
                    <a:lnTo>
                      <a:pt x="88824" y="515912"/>
                    </a:lnTo>
                    <a:lnTo>
                      <a:pt x="88824" y="572865"/>
                    </a:lnTo>
                    <a:lnTo>
                      <a:pt x="29" y="572865"/>
                    </a:lnTo>
                    <a:close/>
                    <a:moveTo>
                      <a:pt x="467148" y="572922"/>
                    </a:moveTo>
                    <a:lnTo>
                      <a:pt x="560909" y="572922"/>
                    </a:lnTo>
                    <a:lnTo>
                      <a:pt x="560909" y="158075"/>
                    </a:lnTo>
                    <a:lnTo>
                      <a:pt x="467148" y="158075"/>
                    </a:lnTo>
                    <a:close/>
                    <a:moveTo>
                      <a:pt x="626307" y="29"/>
                    </a:moveTo>
                    <a:lnTo>
                      <a:pt x="720039" y="29"/>
                    </a:lnTo>
                    <a:lnTo>
                      <a:pt x="720039" y="325823"/>
                    </a:lnTo>
                    <a:lnTo>
                      <a:pt x="889470" y="158132"/>
                    </a:lnTo>
                    <a:lnTo>
                      <a:pt x="1004603" y="158132"/>
                    </a:lnTo>
                    <a:lnTo>
                      <a:pt x="841763" y="310586"/>
                    </a:lnTo>
                    <a:lnTo>
                      <a:pt x="1020239" y="572950"/>
                    </a:lnTo>
                    <a:lnTo>
                      <a:pt x="905934" y="572950"/>
                    </a:lnTo>
                    <a:lnTo>
                      <a:pt x="775993" y="371562"/>
                    </a:lnTo>
                    <a:lnTo>
                      <a:pt x="720039" y="424491"/>
                    </a:lnTo>
                    <a:lnTo>
                      <a:pt x="720039" y="572950"/>
                    </a:lnTo>
                    <a:lnTo>
                      <a:pt x="626279" y="572950"/>
                    </a:lnTo>
                    <a:close/>
                  </a:path>
                </a:pathLst>
              </a:custGeom>
              <a:solidFill>
                <a:srgbClr val="0090DA"/>
              </a:solidFill>
              <a:ln w="285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BE189DC6-AA1C-A116-585B-C1FD36325789}"/>
                  </a:ext>
                </a:extLst>
              </p:cNvPr>
              <p:cNvSpPr/>
              <p:nvPr/>
            </p:nvSpPr>
            <p:spPr>
              <a:xfrm>
                <a:off x="11000788" y="464411"/>
                <a:ext cx="800389" cy="438358"/>
              </a:xfrm>
              <a:custGeom>
                <a:avLst/>
                <a:gdLst>
                  <a:gd name="connsiteX0" fmla="*/ 312555 w 800389"/>
                  <a:gd name="connsiteY0" fmla="*/ 183184 h 438358"/>
                  <a:gd name="connsiteX1" fmla="*/ 205611 w 800389"/>
                  <a:gd name="connsiteY1" fmla="*/ 73274 h 438358"/>
                  <a:gd name="connsiteX2" fmla="*/ 93761 w 800389"/>
                  <a:gd name="connsiteY2" fmla="*/ 183184 h 438358"/>
                  <a:gd name="connsiteX3" fmla="*/ 93761 w 800389"/>
                  <a:gd name="connsiteY3" fmla="*/ 243390 h 438358"/>
                  <a:gd name="connsiteX4" fmla="*/ 208094 w 800389"/>
                  <a:gd name="connsiteY4" fmla="*/ 366112 h 438358"/>
                  <a:gd name="connsiteX5" fmla="*/ 311727 w 800389"/>
                  <a:gd name="connsiteY5" fmla="*/ 297118 h 438358"/>
                  <a:gd name="connsiteX6" fmla="*/ 400551 w 800389"/>
                  <a:gd name="connsiteY6" fmla="*/ 297118 h 438358"/>
                  <a:gd name="connsiteX7" fmla="*/ 208094 w 800389"/>
                  <a:gd name="connsiteY7" fmla="*/ 438358 h 438358"/>
                  <a:gd name="connsiteX8" fmla="*/ 0 w 800389"/>
                  <a:gd name="connsiteY8" fmla="*/ 220106 h 438358"/>
                  <a:gd name="connsiteX9" fmla="*/ 205611 w 800389"/>
                  <a:gd name="connsiteY9" fmla="*/ 1084 h 438358"/>
                  <a:gd name="connsiteX10" fmla="*/ 406287 w 800389"/>
                  <a:gd name="connsiteY10" fmla="*/ 243390 h 438358"/>
                  <a:gd name="connsiteX11" fmla="*/ 515826 w 800389"/>
                  <a:gd name="connsiteY11" fmla="*/ 292867 h 438358"/>
                  <a:gd name="connsiteX12" fmla="*/ 612012 w 800389"/>
                  <a:gd name="connsiteY12" fmla="*/ 365056 h 438358"/>
                  <a:gd name="connsiteX13" fmla="*/ 706629 w 800389"/>
                  <a:gd name="connsiteY13" fmla="*/ 310500 h 438358"/>
                  <a:gd name="connsiteX14" fmla="*/ 567643 w 800389"/>
                  <a:gd name="connsiteY14" fmla="*/ 241507 h 438358"/>
                  <a:gd name="connsiteX15" fmla="*/ 431111 w 800389"/>
                  <a:gd name="connsiteY15" fmla="*/ 118756 h 438358"/>
                  <a:gd name="connsiteX16" fmla="*/ 608760 w 800389"/>
                  <a:gd name="connsiteY16" fmla="*/ 0 h 438358"/>
                  <a:gd name="connsiteX17" fmla="*/ 786408 w 800389"/>
                  <a:gd name="connsiteY17" fmla="*/ 127573 h 438358"/>
                  <a:gd name="connsiteX18" fmla="*/ 688539 w 800389"/>
                  <a:gd name="connsiteY18" fmla="*/ 127573 h 438358"/>
                  <a:gd name="connsiteX19" fmla="*/ 602168 w 800389"/>
                  <a:gd name="connsiteY19" fmla="*/ 72218 h 438358"/>
                  <a:gd name="connsiteX20" fmla="*/ 524871 w 800389"/>
                  <a:gd name="connsiteY20" fmla="*/ 114733 h 438358"/>
                  <a:gd name="connsiteX21" fmla="*/ 663030 w 800389"/>
                  <a:gd name="connsiteY21" fmla="*/ 181330 h 438358"/>
                  <a:gd name="connsiteX22" fmla="*/ 800389 w 800389"/>
                  <a:gd name="connsiteY22" fmla="*/ 302482 h 438358"/>
                  <a:gd name="connsiteX23" fmla="*/ 610386 w 800389"/>
                  <a:gd name="connsiteY23" fmla="*/ 437274 h 438358"/>
                  <a:gd name="connsiteX24" fmla="*/ 422066 w 800389"/>
                  <a:gd name="connsiteY24" fmla="*/ 292867 h 4383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800389" h="438358">
                    <a:moveTo>
                      <a:pt x="312555" y="183184"/>
                    </a:moveTo>
                    <a:cubicBezTo>
                      <a:pt x="309245" y="125433"/>
                      <a:pt x="268956" y="73274"/>
                      <a:pt x="205611" y="73274"/>
                    </a:cubicBezTo>
                    <a:cubicBezTo>
                      <a:pt x="140641" y="73274"/>
                      <a:pt x="96215" y="121410"/>
                      <a:pt x="93761" y="183184"/>
                    </a:cubicBezTo>
                    <a:close/>
                    <a:moveTo>
                      <a:pt x="93761" y="243390"/>
                    </a:moveTo>
                    <a:cubicBezTo>
                      <a:pt x="93761" y="308360"/>
                      <a:pt x="129941" y="366112"/>
                      <a:pt x="208094" y="366112"/>
                    </a:cubicBezTo>
                    <a:cubicBezTo>
                      <a:pt x="262364" y="366112"/>
                      <a:pt x="295263" y="342857"/>
                      <a:pt x="311727" y="297118"/>
                    </a:cubicBezTo>
                    <a:lnTo>
                      <a:pt x="400551" y="297118"/>
                    </a:lnTo>
                    <a:cubicBezTo>
                      <a:pt x="379979" y="387797"/>
                      <a:pt x="301027" y="438358"/>
                      <a:pt x="208094" y="438358"/>
                    </a:cubicBezTo>
                    <a:cubicBezTo>
                      <a:pt x="74843" y="438358"/>
                      <a:pt x="0" y="347679"/>
                      <a:pt x="0" y="220106"/>
                    </a:cubicBezTo>
                    <a:cubicBezTo>
                      <a:pt x="0" y="102178"/>
                      <a:pt x="78952" y="1084"/>
                      <a:pt x="205611" y="1084"/>
                    </a:cubicBezTo>
                    <a:cubicBezTo>
                      <a:pt x="339690" y="1084"/>
                      <a:pt x="421923" y="119013"/>
                      <a:pt x="406287" y="243390"/>
                    </a:cubicBezTo>
                    <a:close/>
                    <a:moveTo>
                      <a:pt x="515826" y="292867"/>
                    </a:moveTo>
                    <a:cubicBezTo>
                      <a:pt x="520734" y="345796"/>
                      <a:pt x="561850" y="365056"/>
                      <a:pt x="612012" y="365056"/>
                    </a:cubicBezTo>
                    <a:cubicBezTo>
                      <a:pt x="647393" y="365056"/>
                      <a:pt x="709083" y="357837"/>
                      <a:pt x="706629" y="310500"/>
                    </a:cubicBezTo>
                    <a:cubicBezTo>
                      <a:pt x="704146" y="262364"/>
                      <a:pt x="635894" y="256743"/>
                      <a:pt x="567643" y="241507"/>
                    </a:cubicBezTo>
                    <a:cubicBezTo>
                      <a:pt x="498535" y="227040"/>
                      <a:pt x="431111" y="202986"/>
                      <a:pt x="431111" y="118756"/>
                    </a:cubicBezTo>
                    <a:cubicBezTo>
                      <a:pt x="431111" y="28105"/>
                      <a:pt x="531434" y="0"/>
                      <a:pt x="608760" y="0"/>
                    </a:cubicBezTo>
                    <a:cubicBezTo>
                      <a:pt x="695929" y="0"/>
                      <a:pt x="774881" y="35296"/>
                      <a:pt x="786408" y="127573"/>
                    </a:cubicBezTo>
                    <a:lnTo>
                      <a:pt x="688539" y="127573"/>
                    </a:lnTo>
                    <a:cubicBezTo>
                      <a:pt x="680292" y="84259"/>
                      <a:pt x="643285" y="72218"/>
                      <a:pt x="602168" y="72218"/>
                    </a:cubicBezTo>
                    <a:cubicBezTo>
                      <a:pt x="575033" y="72218"/>
                      <a:pt x="524871" y="78638"/>
                      <a:pt x="524871" y="114733"/>
                    </a:cubicBezTo>
                    <a:cubicBezTo>
                      <a:pt x="524871" y="159673"/>
                      <a:pt x="593950" y="166093"/>
                      <a:pt x="663030" y="181330"/>
                    </a:cubicBezTo>
                    <a:cubicBezTo>
                      <a:pt x="731282" y="196566"/>
                      <a:pt x="800389" y="220649"/>
                      <a:pt x="800389" y="302482"/>
                    </a:cubicBezTo>
                    <a:cubicBezTo>
                      <a:pt x="800389" y="401179"/>
                      <a:pt x="698383" y="437274"/>
                      <a:pt x="610386" y="437274"/>
                    </a:cubicBezTo>
                    <a:cubicBezTo>
                      <a:pt x="503471" y="437274"/>
                      <a:pt x="423692" y="390765"/>
                      <a:pt x="422066" y="292867"/>
                    </a:cubicBezTo>
                    <a:close/>
                  </a:path>
                </a:pathLst>
              </a:custGeom>
              <a:solidFill>
                <a:srgbClr val="0090DA"/>
              </a:solidFill>
              <a:ln w="285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3AB4B59A-8C0C-1B6F-D35E-97FA3D901C3E}"/>
                  </a:ext>
                </a:extLst>
              </p:cNvPr>
              <p:cNvSpPr/>
              <p:nvPr/>
            </p:nvSpPr>
            <p:spPr>
              <a:xfrm>
                <a:off x="10470924" y="312071"/>
                <a:ext cx="109853" cy="107057"/>
              </a:xfrm>
              <a:custGeom>
                <a:avLst/>
                <a:gdLst>
                  <a:gd name="connsiteX0" fmla="*/ 109853 w 109853"/>
                  <a:gd name="connsiteY0" fmla="*/ 53529 h 107057"/>
                  <a:gd name="connsiteX1" fmla="*/ 54927 w 109853"/>
                  <a:gd name="connsiteY1" fmla="*/ 107057 h 107057"/>
                  <a:gd name="connsiteX2" fmla="*/ 0 w 109853"/>
                  <a:gd name="connsiteY2" fmla="*/ 53529 h 107057"/>
                  <a:gd name="connsiteX3" fmla="*/ 54927 w 109853"/>
                  <a:gd name="connsiteY3" fmla="*/ 0 h 107057"/>
                  <a:gd name="connsiteX4" fmla="*/ 109853 w 109853"/>
                  <a:gd name="connsiteY4" fmla="*/ 53529 h 1070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9853" h="107057">
                    <a:moveTo>
                      <a:pt x="109853" y="53529"/>
                    </a:moveTo>
                    <a:cubicBezTo>
                      <a:pt x="109853" y="83089"/>
                      <a:pt x="85258" y="107057"/>
                      <a:pt x="54927" y="107057"/>
                    </a:cubicBezTo>
                    <a:cubicBezTo>
                      <a:pt x="24596" y="107057"/>
                      <a:pt x="0" y="83089"/>
                      <a:pt x="0" y="53529"/>
                    </a:cubicBezTo>
                    <a:cubicBezTo>
                      <a:pt x="0" y="23968"/>
                      <a:pt x="24596" y="0"/>
                      <a:pt x="54927" y="0"/>
                    </a:cubicBezTo>
                    <a:cubicBezTo>
                      <a:pt x="85258" y="0"/>
                      <a:pt x="109853" y="23968"/>
                      <a:pt x="109853" y="53529"/>
                    </a:cubicBezTo>
                  </a:path>
                </a:pathLst>
              </a:custGeom>
              <a:solidFill>
                <a:srgbClr val="EA8735"/>
              </a:solidFill>
              <a:ln w="285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87797BD-D01E-0CEB-B11B-94D003685218}"/>
              </a:ext>
            </a:extLst>
          </p:cNvPr>
          <p:cNvCxnSpPr/>
          <p:nvPr/>
        </p:nvCxnSpPr>
        <p:spPr>
          <a:xfrm>
            <a:off x="11411339" y="6356791"/>
            <a:ext cx="0" cy="364243"/>
          </a:xfrm>
          <a:prstGeom prst="line">
            <a:avLst/>
          </a:prstGeom>
          <a:ln>
            <a:solidFill>
              <a:srgbClr val="EA87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B7C38CC-574D-7DE1-2E0D-0097433731BA}"/>
              </a:ext>
            </a:extLst>
          </p:cNvPr>
          <p:cNvSpPr txBox="1"/>
          <p:nvPr/>
        </p:nvSpPr>
        <p:spPr>
          <a:xfrm>
            <a:off x="321221" y="334149"/>
            <a:ext cx="33652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Lyft Pro UI" panose="02000503030000000000" pitchFamily="50" charset="0"/>
              </a:rPr>
              <a:t>Conclusion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29C3DFB-B712-106B-E951-59BB50D35752}"/>
              </a:ext>
            </a:extLst>
          </p:cNvPr>
          <p:cNvGrpSpPr/>
          <p:nvPr/>
        </p:nvGrpSpPr>
        <p:grpSpPr>
          <a:xfrm>
            <a:off x="1088662" y="1359924"/>
            <a:ext cx="10014677" cy="4853992"/>
            <a:chOff x="1030756" y="1464699"/>
            <a:chExt cx="10014677" cy="4853992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41CBEBD-01AC-922A-FC87-FFB3C4A1144E}"/>
                </a:ext>
              </a:extLst>
            </p:cNvPr>
            <p:cNvGrpSpPr/>
            <p:nvPr/>
          </p:nvGrpSpPr>
          <p:grpSpPr>
            <a:xfrm>
              <a:off x="1030756" y="2723297"/>
              <a:ext cx="10014677" cy="1078199"/>
              <a:chOff x="358048" y="1428751"/>
              <a:chExt cx="5749382" cy="2000250"/>
            </a:xfrm>
          </p:grpSpPr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47DA61D4-C8BA-9561-E55F-72D02A8AE513}"/>
                  </a:ext>
                </a:extLst>
              </p:cNvPr>
              <p:cNvSpPr/>
              <p:nvPr/>
            </p:nvSpPr>
            <p:spPr>
              <a:xfrm>
                <a:off x="358048" y="1428751"/>
                <a:ext cx="5749382" cy="2000250"/>
              </a:xfrm>
              <a:prstGeom prst="roundRect">
                <a:avLst>
                  <a:gd name="adj" fmla="val 8119"/>
                </a:avLst>
              </a:prstGeom>
              <a:solidFill>
                <a:schemeClr val="bg1"/>
              </a:solidFill>
              <a:ln>
                <a:solidFill>
                  <a:srgbClr val="4777A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E2FBB620-F589-3BE5-DC18-47422DBC4D2A}"/>
                  </a:ext>
                </a:extLst>
              </p:cNvPr>
              <p:cNvSpPr txBox="1"/>
              <p:nvPr/>
            </p:nvSpPr>
            <p:spPr>
              <a:xfrm>
                <a:off x="568113" y="1644046"/>
                <a:ext cx="5329253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Clr>
                    <a:srgbClr val="EA8735"/>
                  </a:buClr>
                  <a:buSzPct val="150000"/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rgbClr val="0D0D2F"/>
                    </a:solidFill>
                    <a:latin typeface="Lyft Pro UI" panose="02000503030000000000" pitchFamily="50" charset="0"/>
                  </a:rPr>
                  <a:t>Weather and MBTA strongly shape </a:t>
                </a:r>
                <a:r>
                  <a:rPr lang="en-US" sz="2400" dirty="0" err="1">
                    <a:solidFill>
                      <a:srgbClr val="0D0D2F"/>
                    </a:solidFill>
                    <a:latin typeface="Lyft Pro UI" panose="02000503030000000000" pitchFamily="50" charset="0"/>
                  </a:rPr>
                  <a:t>Bluebikes</a:t>
                </a:r>
                <a:r>
                  <a:rPr lang="en-US" sz="2400" dirty="0">
                    <a:solidFill>
                      <a:srgbClr val="0D0D2F"/>
                    </a:solidFill>
                    <a:latin typeface="Lyft Pro UI" panose="02000503030000000000" pitchFamily="50" charset="0"/>
                  </a:rPr>
                  <a:t> demand, with warm days and transit links driving most of the 9,100 average daily trips</a:t>
                </a: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31AEA7DF-6EC2-6437-FC06-E43527339345}"/>
                </a:ext>
              </a:extLst>
            </p:cNvPr>
            <p:cNvGrpSpPr/>
            <p:nvPr/>
          </p:nvGrpSpPr>
          <p:grpSpPr>
            <a:xfrm>
              <a:off x="1030756" y="1464699"/>
              <a:ext cx="10014677" cy="1078199"/>
              <a:chOff x="6187440" y="1428750"/>
              <a:chExt cx="5749382" cy="2000250"/>
            </a:xfrm>
          </p:grpSpPr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C5D9B64D-6DAD-1AEF-890E-202BAD98F821}"/>
                  </a:ext>
                </a:extLst>
              </p:cNvPr>
              <p:cNvSpPr/>
              <p:nvPr/>
            </p:nvSpPr>
            <p:spPr>
              <a:xfrm>
                <a:off x="6187440" y="1428750"/>
                <a:ext cx="5749382" cy="2000250"/>
              </a:xfrm>
              <a:prstGeom prst="roundRect">
                <a:avLst>
                  <a:gd name="adj" fmla="val 8119"/>
                </a:avLst>
              </a:prstGeom>
              <a:solidFill>
                <a:schemeClr val="bg1"/>
              </a:solidFill>
              <a:ln>
                <a:solidFill>
                  <a:srgbClr val="4777A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C3B83D7-D764-0BFD-C831-A921B29BF3F1}"/>
                  </a:ext>
                </a:extLst>
              </p:cNvPr>
              <p:cNvSpPr txBox="1"/>
              <p:nvPr/>
            </p:nvSpPr>
            <p:spPr>
              <a:xfrm>
                <a:off x="6397504" y="1644045"/>
                <a:ext cx="5329253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Clr>
                    <a:srgbClr val="EA8735"/>
                  </a:buClr>
                  <a:buSzPct val="150000"/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rgbClr val="0D0D2F"/>
                    </a:solidFill>
                    <a:latin typeface="Lyft Pro UI" panose="02000503030000000000" pitchFamily="50" charset="0"/>
                  </a:rPr>
                  <a:t>Our forecasting model, at 87% accuracy, helps spot busy periods like October weekends for smarter bike and staff plans</a:t>
                </a: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5188954-4B0C-87CF-0ED9-97F49ABC8140}"/>
                </a:ext>
              </a:extLst>
            </p:cNvPr>
            <p:cNvGrpSpPr/>
            <p:nvPr/>
          </p:nvGrpSpPr>
          <p:grpSpPr>
            <a:xfrm>
              <a:off x="1030756" y="5240492"/>
              <a:ext cx="10014677" cy="1078199"/>
              <a:chOff x="6187440" y="3810953"/>
              <a:chExt cx="5749382" cy="2000250"/>
            </a:xfrm>
          </p:grpSpPr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EF420FFD-D16C-7235-6CD7-42EDA71D0AC0}"/>
                  </a:ext>
                </a:extLst>
              </p:cNvPr>
              <p:cNvSpPr/>
              <p:nvPr/>
            </p:nvSpPr>
            <p:spPr>
              <a:xfrm>
                <a:off x="6187440" y="3810953"/>
                <a:ext cx="5749382" cy="2000250"/>
              </a:xfrm>
              <a:prstGeom prst="roundRect">
                <a:avLst>
                  <a:gd name="adj" fmla="val 8119"/>
                </a:avLst>
              </a:prstGeom>
              <a:solidFill>
                <a:schemeClr val="bg1"/>
              </a:solidFill>
              <a:ln>
                <a:solidFill>
                  <a:srgbClr val="4777A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08CE030-6896-1836-BF6C-DB00998D11E7}"/>
                  </a:ext>
                </a:extLst>
              </p:cNvPr>
              <p:cNvSpPr txBox="1"/>
              <p:nvPr/>
            </p:nvSpPr>
            <p:spPr>
              <a:xfrm>
                <a:off x="6397504" y="4026248"/>
                <a:ext cx="5329253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Clr>
                    <a:srgbClr val="EA8735"/>
                  </a:buClr>
                  <a:buSzPct val="150000"/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rgbClr val="0D0D2F"/>
                    </a:solidFill>
                    <a:latin typeface="Lyft Pro UI" panose="02000503030000000000" pitchFamily="50" charset="0"/>
                  </a:rPr>
                  <a:t>Next steps: Add real-time weather to the model and track in use to lift rides and make Boston mobility easier for all</a:t>
                </a: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A3A230B-9BC7-C56E-9306-9CCB20D3B34D}"/>
                </a:ext>
              </a:extLst>
            </p:cNvPr>
            <p:cNvGrpSpPr/>
            <p:nvPr/>
          </p:nvGrpSpPr>
          <p:grpSpPr>
            <a:xfrm>
              <a:off x="1030756" y="3981895"/>
              <a:ext cx="10014677" cy="1078199"/>
              <a:chOff x="358048" y="3810953"/>
              <a:chExt cx="5749382" cy="2000250"/>
            </a:xfrm>
          </p:grpSpPr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4E7B2B3A-8A88-70B6-0746-750EFE1ED671}"/>
                  </a:ext>
                </a:extLst>
              </p:cNvPr>
              <p:cNvSpPr/>
              <p:nvPr/>
            </p:nvSpPr>
            <p:spPr>
              <a:xfrm>
                <a:off x="358048" y="3810953"/>
                <a:ext cx="5749382" cy="2000250"/>
              </a:xfrm>
              <a:prstGeom prst="roundRect">
                <a:avLst>
                  <a:gd name="adj" fmla="val 8119"/>
                </a:avLst>
              </a:prstGeom>
              <a:solidFill>
                <a:schemeClr val="bg1"/>
              </a:solidFill>
              <a:ln>
                <a:solidFill>
                  <a:srgbClr val="4777A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CEE403A-49C9-AC9F-3014-180EA0D5E32C}"/>
                  </a:ext>
                </a:extLst>
              </p:cNvPr>
              <p:cNvSpPr txBox="1"/>
              <p:nvPr/>
            </p:nvSpPr>
            <p:spPr>
              <a:xfrm>
                <a:off x="568113" y="4026248"/>
                <a:ext cx="5329253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Clr>
                    <a:srgbClr val="EA8735"/>
                  </a:buClr>
                  <a:buSzPct val="150000"/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rgbClr val="0D0D2F"/>
                    </a:solidFill>
                    <a:latin typeface="Lyft Pro UI" panose="02000503030000000000" pitchFamily="50" charset="0"/>
                  </a:rPr>
                  <a:t>Recommendations: Add docks near Green and Red lines, cut operations on snowy days, and promote summer casual rides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430563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C8D43-006A-A3D0-1661-14CC504CE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8CD041B-3C01-F626-373C-DEEAEFBB69B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954715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17" imgH="416" progId="TCLayout.ActiveDocument.1">
                  <p:embed/>
                </p:oleObj>
              </mc:Choice>
              <mc:Fallback>
                <p:oleObj name="think-cell Slide" r:id="rId4" imgW="417" imgH="41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D03F3A-B836-58C7-2FDE-7CFCD0A62E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F4DC004-36BA-0142-4018-5613C572FA02}"/>
              </a:ext>
            </a:extLst>
          </p:cNvPr>
          <p:cNvSpPr/>
          <p:nvPr/>
        </p:nvSpPr>
        <p:spPr>
          <a:xfrm>
            <a:off x="2305050" y="1909763"/>
            <a:ext cx="7581900" cy="3038475"/>
          </a:xfrm>
          <a:prstGeom prst="roundRect">
            <a:avLst>
              <a:gd name="adj" fmla="val 4629"/>
            </a:avLst>
          </a:prstGeom>
          <a:solidFill>
            <a:schemeClr val="bg1"/>
          </a:solidFill>
          <a:ln w="76200">
            <a:solidFill>
              <a:srgbClr val="0D0D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889ED4-E9D7-9020-F6E8-2EBA48EBA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12A66-822E-4D68-834D-298940211017}" type="slidenum">
              <a:rPr lang="en-US" smtClean="0"/>
              <a:t>14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390A03B-ED51-0286-2633-C4FA4B0FEA66}"/>
              </a:ext>
            </a:extLst>
          </p:cNvPr>
          <p:cNvGrpSpPr>
            <a:grpSpLocks noChangeAspect="1"/>
          </p:cNvGrpSpPr>
          <p:nvPr/>
        </p:nvGrpSpPr>
        <p:grpSpPr>
          <a:xfrm>
            <a:off x="11523824" y="6371722"/>
            <a:ext cx="494499" cy="334378"/>
            <a:chOff x="7857722" y="318591"/>
            <a:chExt cx="2080112" cy="140656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D74C640-3808-0AD4-B36D-EF759ACA59A9}"/>
                </a:ext>
              </a:extLst>
            </p:cNvPr>
            <p:cNvGrpSpPr/>
            <p:nvPr userDrawn="1"/>
          </p:nvGrpSpPr>
          <p:grpSpPr>
            <a:xfrm>
              <a:off x="7857724" y="318591"/>
              <a:ext cx="2080110" cy="584948"/>
              <a:chOff x="7857724" y="318591"/>
              <a:chExt cx="2080110" cy="584948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EDD403F8-87BA-A134-9A4C-B2EA22B44CBE}"/>
                  </a:ext>
                </a:extLst>
              </p:cNvPr>
              <p:cNvSpPr/>
              <p:nvPr/>
            </p:nvSpPr>
            <p:spPr>
              <a:xfrm>
                <a:off x="7857724" y="318591"/>
                <a:ext cx="1528161" cy="584948"/>
              </a:xfrm>
              <a:custGeom>
                <a:avLst/>
                <a:gdLst>
                  <a:gd name="connsiteX0" fmla="*/ 152967 w 1528161"/>
                  <a:gd name="connsiteY0" fmla="*/ 453381 h 584948"/>
                  <a:gd name="connsiteX1" fmla="*/ 275518 w 1528161"/>
                  <a:gd name="connsiteY1" fmla="*/ 453381 h 584948"/>
                  <a:gd name="connsiteX2" fmla="*/ 357751 w 1528161"/>
                  <a:gd name="connsiteY2" fmla="*/ 389181 h 584948"/>
                  <a:gd name="connsiteX3" fmla="*/ 275518 w 1528161"/>
                  <a:gd name="connsiteY3" fmla="*/ 321813 h 584948"/>
                  <a:gd name="connsiteX4" fmla="*/ 152967 w 1528161"/>
                  <a:gd name="connsiteY4" fmla="*/ 321813 h 584948"/>
                  <a:gd name="connsiteX5" fmla="*/ 152967 w 1528161"/>
                  <a:gd name="connsiteY5" fmla="*/ 225513 h 584948"/>
                  <a:gd name="connsiteX6" fmla="*/ 271381 w 1528161"/>
                  <a:gd name="connsiteY6" fmla="*/ 225513 h 584948"/>
                  <a:gd name="connsiteX7" fmla="*/ 333926 w 1528161"/>
                  <a:gd name="connsiteY7" fmla="*/ 170957 h 584948"/>
                  <a:gd name="connsiteX8" fmla="*/ 271409 w 1528161"/>
                  <a:gd name="connsiteY8" fmla="*/ 115603 h 584948"/>
                  <a:gd name="connsiteX9" fmla="*/ 152996 w 1528161"/>
                  <a:gd name="connsiteY9" fmla="*/ 115603 h 584948"/>
                  <a:gd name="connsiteX10" fmla="*/ 0 w 1528161"/>
                  <a:gd name="connsiteY10" fmla="*/ 71 h 584948"/>
                  <a:gd name="connsiteX11" fmla="*/ 274691 w 1528161"/>
                  <a:gd name="connsiteY11" fmla="*/ 71 h 584948"/>
                  <a:gd name="connsiteX12" fmla="*/ 486865 w 1528161"/>
                  <a:gd name="connsiteY12" fmla="*/ 143679 h 584948"/>
                  <a:gd name="connsiteX13" fmla="*/ 409568 w 1528161"/>
                  <a:gd name="connsiteY13" fmla="*/ 259240 h 584948"/>
                  <a:gd name="connsiteX14" fmla="*/ 510747 w 1528161"/>
                  <a:gd name="connsiteY14" fmla="*/ 394802 h 584948"/>
                  <a:gd name="connsiteX15" fmla="*/ 282081 w 1528161"/>
                  <a:gd name="connsiteY15" fmla="*/ 572936 h 584948"/>
                  <a:gd name="connsiteX16" fmla="*/ 0 w 1528161"/>
                  <a:gd name="connsiteY16" fmla="*/ 572936 h 584948"/>
                  <a:gd name="connsiteX17" fmla="*/ 564904 w 1528161"/>
                  <a:gd name="connsiteY17" fmla="*/ 42 h 584948"/>
                  <a:gd name="connsiteX18" fmla="*/ 717899 w 1528161"/>
                  <a:gd name="connsiteY18" fmla="*/ 42 h 584948"/>
                  <a:gd name="connsiteX19" fmla="*/ 717899 w 1528161"/>
                  <a:gd name="connsiteY19" fmla="*/ 444535 h 584948"/>
                  <a:gd name="connsiteX20" fmla="*/ 991763 w 1528161"/>
                  <a:gd name="connsiteY20" fmla="*/ 444535 h 584948"/>
                  <a:gd name="connsiteX21" fmla="*/ 991763 w 1528161"/>
                  <a:gd name="connsiteY21" fmla="*/ 572936 h 584948"/>
                  <a:gd name="connsiteX22" fmla="*/ 564904 w 1528161"/>
                  <a:gd name="connsiteY22" fmla="*/ 572936 h 584948"/>
                  <a:gd name="connsiteX23" fmla="*/ 1528161 w 1528161"/>
                  <a:gd name="connsiteY23" fmla="*/ 336223 h 584948"/>
                  <a:gd name="connsiteX24" fmla="*/ 1272360 w 1528161"/>
                  <a:gd name="connsiteY24" fmla="*/ 584948 h 584948"/>
                  <a:gd name="connsiteX25" fmla="*/ 1016587 w 1528161"/>
                  <a:gd name="connsiteY25" fmla="*/ 336223 h 584948"/>
                  <a:gd name="connsiteX26" fmla="*/ 1016587 w 1528161"/>
                  <a:gd name="connsiteY26" fmla="*/ 42 h 584948"/>
                  <a:gd name="connsiteX27" fmla="*/ 1169583 w 1528161"/>
                  <a:gd name="connsiteY27" fmla="*/ 42 h 584948"/>
                  <a:gd name="connsiteX28" fmla="*/ 1169583 w 1528161"/>
                  <a:gd name="connsiteY28" fmla="*/ 345068 h 584948"/>
                  <a:gd name="connsiteX29" fmla="*/ 1272360 w 1528161"/>
                  <a:gd name="connsiteY29" fmla="*/ 456576 h 584948"/>
                  <a:gd name="connsiteX30" fmla="*/ 1375194 w 1528161"/>
                  <a:gd name="connsiteY30" fmla="*/ 345068 h 584948"/>
                  <a:gd name="connsiteX31" fmla="*/ 1375194 w 1528161"/>
                  <a:gd name="connsiteY31" fmla="*/ 14 h 584948"/>
                  <a:gd name="connsiteX32" fmla="*/ 1528161 w 1528161"/>
                  <a:gd name="connsiteY32" fmla="*/ 14 h 5849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28161" h="584948">
                    <a:moveTo>
                      <a:pt x="152967" y="453381"/>
                    </a:moveTo>
                    <a:lnTo>
                      <a:pt x="275518" y="453381"/>
                    </a:lnTo>
                    <a:cubicBezTo>
                      <a:pt x="324025" y="453381"/>
                      <a:pt x="357751" y="436546"/>
                      <a:pt x="357751" y="389181"/>
                    </a:cubicBezTo>
                    <a:cubicBezTo>
                      <a:pt x="357751" y="338677"/>
                      <a:pt x="321571" y="321813"/>
                      <a:pt x="275518" y="321813"/>
                    </a:cubicBezTo>
                    <a:lnTo>
                      <a:pt x="152967" y="321813"/>
                    </a:lnTo>
                    <a:close/>
                    <a:moveTo>
                      <a:pt x="152967" y="225513"/>
                    </a:moveTo>
                    <a:lnTo>
                      <a:pt x="271381" y="225513"/>
                    </a:lnTo>
                    <a:cubicBezTo>
                      <a:pt x="297717" y="225513"/>
                      <a:pt x="333926" y="211874"/>
                      <a:pt x="333926" y="170957"/>
                    </a:cubicBezTo>
                    <a:cubicBezTo>
                      <a:pt x="333926" y="129242"/>
                      <a:pt x="303481" y="115603"/>
                      <a:pt x="271409" y="115603"/>
                    </a:cubicBezTo>
                    <a:lnTo>
                      <a:pt x="152996" y="115603"/>
                    </a:lnTo>
                    <a:close/>
                    <a:moveTo>
                      <a:pt x="0" y="71"/>
                    </a:moveTo>
                    <a:lnTo>
                      <a:pt x="274691" y="71"/>
                    </a:lnTo>
                    <a:cubicBezTo>
                      <a:pt x="375870" y="-1555"/>
                      <a:pt x="486865" y="24125"/>
                      <a:pt x="486865" y="143679"/>
                    </a:cubicBezTo>
                    <a:cubicBezTo>
                      <a:pt x="486865" y="195040"/>
                      <a:pt x="455621" y="236755"/>
                      <a:pt x="409568" y="259240"/>
                    </a:cubicBezTo>
                    <a:cubicBezTo>
                      <a:pt x="472085" y="276845"/>
                      <a:pt x="510747" y="329831"/>
                      <a:pt x="510747" y="394802"/>
                    </a:cubicBezTo>
                    <a:cubicBezTo>
                      <a:pt x="510747" y="531191"/>
                      <a:pt x="407942" y="572936"/>
                      <a:pt x="282081" y="572936"/>
                    </a:cubicBezTo>
                    <a:lnTo>
                      <a:pt x="0" y="572936"/>
                    </a:lnTo>
                    <a:close/>
                    <a:moveTo>
                      <a:pt x="564904" y="42"/>
                    </a:moveTo>
                    <a:lnTo>
                      <a:pt x="717899" y="42"/>
                    </a:lnTo>
                    <a:lnTo>
                      <a:pt x="717899" y="444535"/>
                    </a:lnTo>
                    <a:lnTo>
                      <a:pt x="991763" y="444535"/>
                    </a:lnTo>
                    <a:lnTo>
                      <a:pt x="991763" y="572936"/>
                    </a:lnTo>
                    <a:lnTo>
                      <a:pt x="564904" y="572936"/>
                    </a:lnTo>
                    <a:close/>
                    <a:moveTo>
                      <a:pt x="1528161" y="336223"/>
                    </a:moveTo>
                    <a:cubicBezTo>
                      <a:pt x="1528161" y="502315"/>
                      <a:pt x="1450009" y="584948"/>
                      <a:pt x="1272360" y="584948"/>
                    </a:cubicBezTo>
                    <a:cubicBezTo>
                      <a:pt x="1094711" y="584948"/>
                      <a:pt x="1016587" y="502315"/>
                      <a:pt x="1016587" y="336223"/>
                    </a:cubicBezTo>
                    <a:lnTo>
                      <a:pt x="1016587" y="42"/>
                    </a:lnTo>
                    <a:lnTo>
                      <a:pt x="1169583" y="42"/>
                    </a:lnTo>
                    <a:lnTo>
                      <a:pt x="1169583" y="345068"/>
                    </a:lnTo>
                    <a:cubicBezTo>
                      <a:pt x="1169583" y="418855"/>
                      <a:pt x="1197545" y="456576"/>
                      <a:pt x="1272360" y="456576"/>
                    </a:cubicBezTo>
                    <a:cubicBezTo>
                      <a:pt x="1347203" y="456576"/>
                      <a:pt x="1375194" y="418855"/>
                      <a:pt x="1375194" y="345068"/>
                    </a:cubicBezTo>
                    <a:lnTo>
                      <a:pt x="1375194" y="14"/>
                    </a:lnTo>
                    <a:lnTo>
                      <a:pt x="1528161" y="14"/>
                    </a:lnTo>
                    <a:close/>
                  </a:path>
                </a:pathLst>
              </a:custGeom>
              <a:solidFill>
                <a:srgbClr val="2CA3E1"/>
              </a:solidFill>
              <a:ln w="285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68F7B701-3C56-36EB-1F1D-D0EE825D3562}"/>
                  </a:ext>
                </a:extLst>
              </p:cNvPr>
              <p:cNvSpPr/>
              <p:nvPr/>
            </p:nvSpPr>
            <p:spPr>
              <a:xfrm>
                <a:off x="9461613" y="318634"/>
                <a:ext cx="476221" cy="572893"/>
              </a:xfrm>
              <a:custGeom>
                <a:avLst/>
                <a:gdLst>
                  <a:gd name="connsiteX0" fmla="*/ 0 w 476221"/>
                  <a:gd name="connsiteY0" fmla="*/ 0 h 572893"/>
                  <a:gd name="connsiteX1" fmla="*/ 467976 w 476221"/>
                  <a:gd name="connsiteY1" fmla="*/ 0 h 572893"/>
                  <a:gd name="connsiteX2" fmla="*/ 467976 w 476221"/>
                  <a:gd name="connsiteY2" fmla="*/ 119555 h 572893"/>
                  <a:gd name="connsiteX3" fmla="*/ 152967 w 476221"/>
                  <a:gd name="connsiteY3" fmla="*/ 119555 h 572893"/>
                  <a:gd name="connsiteX4" fmla="*/ 152967 w 476221"/>
                  <a:gd name="connsiteY4" fmla="*/ 219850 h 572893"/>
                  <a:gd name="connsiteX5" fmla="*/ 440869 w 476221"/>
                  <a:gd name="connsiteY5" fmla="*/ 219850 h 572893"/>
                  <a:gd name="connsiteX6" fmla="*/ 440869 w 476221"/>
                  <a:gd name="connsiteY6" fmla="*/ 335410 h 572893"/>
                  <a:gd name="connsiteX7" fmla="*/ 152967 w 476221"/>
                  <a:gd name="connsiteY7" fmla="*/ 335410 h 572893"/>
                  <a:gd name="connsiteX8" fmla="*/ 152967 w 476221"/>
                  <a:gd name="connsiteY8" fmla="*/ 444493 h 572893"/>
                  <a:gd name="connsiteX9" fmla="*/ 476222 w 476221"/>
                  <a:gd name="connsiteY9" fmla="*/ 444493 h 572893"/>
                  <a:gd name="connsiteX10" fmla="*/ 476222 w 476221"/>
                  <a:gd name="connsiteY10" fmla="*/ 572893 h 572893"/>
                  <a:gd name="connsiteX11" fmla="*/ 0 w 476221"/>
                  <a:gd name="connsiteY11" fmla="*/ 572893 h 5728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76221" h="572893">
                    <a:moveTo>
                      <a:pt x="0" y="0"/>
                    </a:moveTo>
                    <a:lnTo>
                      <a:pt x="467976" y="0"/>
                    </a:lnTo>
                    <a:lnTo>
                      <a:pt x="467976" y="119555"/>
                    </a:lnTo>
                    <a:lnTo>
                      <a:pt x="152967" y="119555"/>
                    </a:lnTo>
                    <a:lnTo>
                      <a:pt x="152967" y="219850"/>
                    </a:lnTo>
                    <a:lnTo>
                      <a:pt x="440869" y="219850"/>
                    </a:lnTo>
                    <a:lnTo>
                      <a:pt x="440869" y="335410"/>
                    </a:lnTo>
                    <a:lnTo>
                      <a:pt x="152967" y="335410"/>
                    </a:lnTo>
                    <a:lnTo>
                      <a:pt x="152967" y="444493"/>
                    </a:lnTo>
                    <a:lnTo>
                      <a:pt x="476222" y="444493"/>
                    </a:lnTo>
                    <a:lnTo>
                      <a:pt x="476222" y="572893"/>
                    </a:lnTo>
                    <a:lnTo>
                      <a:pt x="0" y="572893"/>
                    </a:lnTo>
                    <a:close/>
                  </a:path>
                </a:pathLst>
              </a:custGeom>
              <a:solidFill>
                <a:srgbClr val="2CA3E1"/>
              </a:solidFill>
              <a:ln w="285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B4BC11F9-3C0E-6E8C-783A-7643415F43E7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7857722" y="1038476"/>
              <a:ext cx="2080110" cy="686681"/>
              <a:chOff x="10011822" y="312071"/>
              <a:chExt cx="1789355" cy="590698"/>
            </a:xfrm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455EF53D-81AB-169C-48A7-DA566491A271}"/>
                  </a:ext>
                </a:extLst>
              </p:cNvPr>
              <p:cNvSpPr/>
              <p:nvPr userDrawn="1"/>
            </p:nvSpPr>
            <p:spPr>
              <a:xfrm>
                <a:off x="10011822" y="318605"/>
                <a:ext cx="1020238" cy="584106"/>
              </a:xfrm>
              <a:custGeom>
                <a:avLst/>
                <a:gdLst>
                  <a:gd name="connsiteX0" fmla="*/ 209720 w 1020238"/>
                  <a:gd name="connsiteY0" fmla="*/ 219108 h 584106"/>
                  <a:gd name="connsiteX1" fmla="*/ 90479 w 1020238"/>
                  <a:gd name="connsiteY1" fmla="*/ 365912 h 584106"/>
                  <a:gd name="connsiteX2" fmla="*/ 209749 w 1020238"/>
                  <a:gd name="connsiteY2" fmla="*/ 511917 h 584106"/>
                  <a:gd name="connsiteX3" fmla="*/ 327363 w 1020238"/>
                  <a:gd name="connsiteY3" fmla="*/ 365912 h 584106"/>
                  <a:gd name="connsiteX4" fmla="*/ 209720 w 1020238"/>
                  <a:gd name="connsiteY4" fmla="*/ 219079 h 584106"/>
                  <a:gd name="connsiteX5" fmla="*/ 0 w 1020238"/>
                  <a:gd name="connsiteY5" fmla="*/ 0 h 584106"/>
                  <a:gd name="connsiteX6" fmla="*/ 93761 w 1020238"/>
                  <a:gd name="connsiteY6" fmla="*/ 0 h 584106"/>
                  <a:gd name="connsiteX7" fmla="*/ 93761 w 1020238"/>
                  <a:gd name="connsiteY7" fmla="*/ 211832 h 584106"/>
                  <a:gd name="connsiteX8" fmla="*/ 95415 w 1020238"/>
                  <a:gd name="connsiteY8" fmla="*/ 211832 h 584106"/>
                  <a:gd name="connsiteX9" fmla="*/ 222075 w 1020238"/>
                  <a:gd name="connsiteY9" fmla="*/ 146833 h 584106"/>
                  <a:gd name="connsiteX10" fmla="*/ 421095 w 1020238"/>
                  <a:gd name="connsiteY10" fmla="*/ 367481 h 584106"/>
                  <a:gd name="connsiteX11" fmla="*/ 237683 w 1020238"/>
                  <a:gd name="connsiteY11" fmla="*/ 584107 h 584106"/>
                  <a:gd name="connsiteX12" fmla="*/ 90451 w 1020238"/>
                  <a:gd name="connsiteY12" fmla="*/ 515912 h 584106"/>
                  <a:gd name="connsiteX13" fmla="*/ 88824 w 1020238"/>
                  <a:gd name="connsiteY13" fmla="*/ 515912 h 584106"/>
                  <a:gd name="connsiteX14" fmla="*/ 88824 w 1020238"/>
                  <a:gd name="connsiteY14" fmla="*/ 572865 h 584106"/>
                  <a:gd name="connsiteX15" fmla="*/ 29 w 1020238"/>
                  <a:gd name="connsiteY15" fmla="*/ 572865 h 584106"/>
                  <a:gd name="connsiteX16" fmla="*/ 467148 w 1020238"/>
                  <a:gd name="connsiteY16" fmla="*/ 572922 h 584106"/>
                  <a:gd name="connsiteX17" fmla="*/ 560909 w 1020238"/>
                  <a:gd name="connsiteY17" fmla="*/ 572922 h 584106"/>
                  <a:gd name="connsiteX18" fmla="*/ 560909 w 1020238"/>
                  <a:gd name="connsiteY18" fmla="*/ 158075 h 584106"/>
                  <a:gd name="connsiteX19" fmla="*/ 467148 w 1020238"/>
                  <a:gd name="connsiteY19" fmla="*/ 158075 h 584106"/>
                  <a:gd name="connsiteX20" fmla="*/ 626307 w 1020238"/>
                  <a:gd name="connsiteY20" fmla="*/ 29 h 584106"/>
                  <a:gd name="connsiteX21" fmla="*/ 720039 w 1020238"/>
                  <a:gd name="connsiteY21" fmla="*/ 29 h 584106"/>
                  <a:gd name="connsiteX22" fmla="*/ 720039 w 1020238"/>
                  <a:gd name="connsiteY22" fmla="*/ 325823 h 584106"/>
                  <a:gd name="connsiteX23" fmla="*/ 889470 w 1020238"/>
                  <a:gd name="connsiteY23" fmla="*/ 158132 h 584106"/>
                  <a:gd name="connsiteX24" fmla="*/ 1004603 w 1020238"/>
                  <a:gd name="connsiteY24" fmla="*/ 158132 h 584106"/>
                  <a:gd name="connsiteX25" fmla="*/ 841763 w 1020238"/>
                  <a:gd name="connsiteY25" fmla="*/ 310586 h 584106"/>
                  <a:gd name="connsiteX26" fmla="*/ 1020239 w 1020238"/>
                  <a:gd name="connsiteY26" fmla="*/ 572950 h 584106"/>
                  <a:gd name="connsiteX27" fmla="*/ 905934 w 1020238"/>
                  <a:gd name="connsiteY27" fmla="*/ 572950 h 584106"/>
                  <a:gd name="connsiteX28" fmla="*/ 775993 w 1020238"/>
                  <a:gd name="connsiteY28" fmla="*/ 371562 h 584106"/>
                  <a:gd name="connsiteX29" fmla="*/ 720039 w 1020238"/>
                  <a:gd name="connsiteY29" fmla="*/ 424491 h 584106"/>
                  <a:gd name="connsiteX30" fmla="*/ 720039 w 1020238"/>
                  <a:gd name="connsiteY30" fmla="*/ 572950 h 584106"/>
                  <a:gd name="connsiteX31" fmla="*/ 626279 w 1020238"/>
                  <a:gd name="connsiteY31" fmla="*/ 572950 h 5841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020238" h="584106">
                    <a:moveTo>
                      <a:pt x="209720" y="219108"/>
                    </a:moveTo>
                    <a:cubicBezTo>
                      <a:pt x="130797" y="219108"/>
                      <a:pt x="90479" y="277658"/>
                      <a:pt x="90479" y="365912"/>
                    </a:cubicBezTo>
                    <a:cubicBezTo>
                      <a:pt x="90479" y="449344"/>
                      <a:pt x="134078" y="511917"/>
                      <a:pt x="209749" y="511917"/>
                    </a:cubicBezTo>
                    <a:cubicBezTo>
                      <a:pt x="295263" y="511917"/>
                      <a:pt x="327363" y="438101"/>
                      <a:pt x="327363" y="365912"/>
                    </a:cubicBezTo>
                    <a:cubicBezTo>
                      <a:pt x="327363" y="290498"/>
                      <a:pt x="287046" y="219079"/>
                      <a:pt x="209720" y="219079"/>
                    </a:cubicBezTo>
                    <a:moveTo>
                      <a:pt x="0" y="0"/>
                    </a:moveTo>
                    <a:lnTo>
                      <a:pt x="93761" y="0"/>
                    </a:lnTo>
                    <a:lnTo>
                      <a:pt x="93761" y="211832"/>
                    </a:lnTo>
                    <a:lnTo>
                      <a:pt x="95415" y="211832"/>
                    </a:lnTo>
                    <a:cubicBezTo>
                      <a:pt x="120924" y="171714"/>
                      <a:pt x="174396" y="146833"/>
                      <a:pt x="222075" y="146833"/>
                    </a:cubicBezTo>
                    <a:cubicBezTo>
                      <a:pt x="356125" y="146833"/>
                      <a:pt x="421095" y="246329"/>
                      <a:pt x="421095" y="367481"/>
                    </a:cubicBezTo>
                    <a:cubicBezTo>
                      <a:pt x="421095" y="478990"/>
                      <a:pt x="363544" y="584107"/>
                      <a:pt x="237683" y="584107"/>
                    </a:cubicBezTo>
                    <a:cubicBezTo>
                      <a:pt x="180131" y="584107"/>
                      <a:pt x="118442" y="570468"/>
                      <a:pt x="90451" y="515912"/>
                    </a:cubicBezTo>
                    <a:lnTo>
                      <a:pt x="88824" y="515912"/>
                    </a:lnTo>
                    <a:lnTo>
                      <a:pt x="88824" y="572865"/>
                    </a:lnTo>
                    <a:lnTo>
                      <a:pt x="29" y="572865"/>
                    </a:lnTo>
                    <a:close/>
                    <a:moveTo>
                      <a:pt x="467148" y="572922"/>
                    </a:moveTo>
                    <a:lnTo>
                      <a:pt x="560909" y="572922"/>
                    </a:lnTo>
                    <a:lnTo>
                      <a:pt x="560909" y="158075"/>
                    </a:lnTo>
                    <a:lnTo>
                      <a:pt x="467148" y="158075"/>
                    </a:lnTo>
                    <a:close/>
                    <a:moveTo>
                      <a:pt x="626307" y="29"/>
                    </a:moveTo>
                    <a:lnTo>
                      <a:pt x="720039" y="29"/>
                    </a:lnTo>
                    <a:lnTo>
                      <a:pt x="720039" y="325823"/>
                    </a:lnTo>
                    <a:lnTo>
                      <a:pt x="889470" y="158132"/>
                    </a:lnTo>
                    <a:lnTo>
                      <a:pt x="1004603" y="158132"/>
                    </a:lnTo>
                    <a:lnTo>
                      <a:pt x="841763" y="310586"/>
                    </a:lnTo>
                    <a:lnTo>
                      <a:pt x="1020239" y="572950"/>
                    </a:lnTo>
                    <a:lnTo>
                      <a:pt x="905934" y="572950"/>
                    </a:lnTo>
                    <a:lnTo>
                      <a:pt x="775993" y="371562"/>
                    </a:lnTo>
                    <a:lnTo>
                      <a:pt x="720039" y="424491"/>
                    </a:lnTo>
                    <a:lnTo>
                      <a:pt x="720039" y="572950"/>
                    </a:lnTo>
                    <a:lnTo>
                      <a:pt x="626279" y="572950"/>
                    </a:lnTo>
                    <a:close/>
                  </a:path>
                </a:pathLst>
              </a:custGeom>
              <a:solidFill>
                <a:srgbClr val="0090DA"/>
              </a:solidFill>
              <a:ln w="285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335264DF-6D3A-7268-6A78-096EFFE68AF2}"/>
                  </a:ext>
                </a:extLst>
              </p:cNvPr>
              <p:cNvSpPr/>
              <p:nvPr/>
            </p:nvSpPr>
            <p:spPr>
              <a:xfrm>
                <a:off x="11000788" y="464411"/>
                <a:ext cx="800389" cy="438358"/>
              </a:xfrm>
              <a:custGeom>
                <a:avLst/>
                <a:gdLst>
                  <a:gd name="connsiteX0" fmla="*/ 312555 w 800389"/>
                  <a:gd name="connsiteY0" fmla="*/ 183184 h 438358"/>
                  <a:gd name="connsiteX1" fmla="*/ 205611 w 800389"/>
                  <a:gd name="connsiteY1" fmla="*/ 73274 h 438358"/>
                  <a:gd name="connsiteX2" fmla="*/ 93761 w 800389"/>
                  <a:gd name="connsiteY2" fmla="*/ 183184 h 438358"/>
                  <a:gd name="connsiteX3" fmla="*/ 93761 w 800389"/>
                  <a:gd name="connsiteY3" fmla="*/ 243390 h 438358"/>
                  <a:gd name="connsiteX4" fmla="*/ 208094 w 800389"/>
                  <a:gd name="connsiteY4" fmla="*/ 366112 h 438358"/>
                  <a:gd name="connsiteX5" fmla="*/ 311727 w 800389"/>
                  <a:gd name="connsiteY5" fmla="*/ 297118 h 438358"/>
                  <a:gd name="connsiteX6" fmla="*/ 400551 w 800389"/>
                  <a:gd name="connsiteY6" fmla="*/ 297118 h 438358"/>
                  <a:gd name="connsiteX7" fmla="*/ 208094 w 800389"/>
                  <a:gd name="connsiteY7" fmla="*/ 438358 h 438358"/>
                  <a:gd name="connsiteX8" fmla="*/ 0 w 800389"/>
                  <a:gd name="connsiteY8" fmla="*/ 220106 h 438358"/>
                  <a:gd name="connsiteX9" fmla="*/ 205611 w 800389"/>
                  <a:gd name="connsiteY9" fmla="*/ 1084 h 438358"/>
                  <a:gd name="connsiteX10" fmla="*/ 406287 w 800389"/>
                  <a:gd name="connsiteY10" fmla="*/ 243390 h 438358"/>
                  <a:gd name="connsiteX11" fmla="*/ 515826 w 800389"/>
                  <a:gd name="connsiteY11" fmla="*/ 292867 h 438358"/>
                  <a:gd name="connsiteX12" fmla="*/ 612012 w 800389"/>
                  <a:gd name="connsiteY12" fmla="*/ 365056 h 438358"/>
                  <a:gd name="connsiteX13" fmla="*/ 706629 w 800389"/>
                  <a:gd name="connsiteY13" fmla="*/ 310500 h 438358"/>
                  <a:gd name="connsiteX14" fmla="*/ 567643 w 800389"/>
                  <a:gd name="connsiteY14" fmla="*/ 241507 h 438358"/>
                  <a:gd name="connsiteX15" fmla="*/ 431111 w 800389"/>
                  <a:gd name="connsiteY15" fmla="*/ 118756 h 438358"/>
                  <a:gd name="connsiteX16" fmla="*/ 608760 w 800389"/>
                  <a:gd name="connsiteY16" fmla="*/ 0 h 438358"/>
                  <a:gd name="connsiteX17" fmla="*/ 786408 w 800389"/>
                  <a:gd name="connsiteY17" fmla="*/ 127573 h 438358"/>
                  <a:gd name="connsiteX18" fmla="*/ 688539 w 800389"/>
                  <a:gd name="connsiteY18" fmla="*/ 127573 h 438358"/>
                  <a:gd name="connsiteX19" fmla="*/ 602168 w 800389"/>
                  <a:gd name="connsiteY19" fmla="*/ 72218 h 438358"/>
                  <a:gd name="connsiteX20" fmla="*/ 524871 w 800389"/>
                  <a:gd name="connsiteY20" fmla="*/ 114733 h 438358"/>
                  <a:gd name="connsiteX21" fmla="*/ 663030 w 800389"/>
                  <a:gd name="connsiteY21" fmla="*/ 181330 h 438358"/>
                  <a:gd name="connsiteX22" fmla="*/ 800389 w 800389"/>
                  <a:gd name="connsiteY22" fmla="*/ 302482 h 438358"/>
                  <a:gd name="connsiteX23" fmla="*/ 610386 w 800389"/>
                  <a:gd name="connsiteY23" fmla="*/ 437274 h 438358"/>
                  <a:gd name="connsiteX24" fmla="*/ 422066 w 800389"/>
                  <a:gd name="connsiteY24" fmla="*/ 292867 h 4383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800389" h="438358">
                    <a:moveTo>
                      <a:pt x="312555" y="183184"/>
                    </a:moveTo>
                    <a:cubicBezTo>
                      <a:pt x="309245" y="125433"/>
                      <a:pt x="268956" y="73274"/>
                      <a:pt x="205611" y="73274"/>
                    </a:cubicBezTo>
                    <a:cubicBezTo>
                      <a:pt x="140641" y="73274"/>
                      <a:pt x="96215" y="121410"/>
                      <a:pt x="93761" y="183184"/>
                    </a:cubicBezTo>
                    <a:close/>
                    <a:moveTo>
                      <a:pt x="93761" y="243390"/>
                    </a:moveTo>
                    <a:cubicBezTo>
                      <a:pt x="93761" y="308360"/>
                      <a:pt x="129941" y="366112"/>
                      <a:pt x="208094" y="366112"/>
                    </a:cubicBezTo>
                    <a:cubicBezTo>
                      <a:pt x="262364" y="366112"/>
                      <a:pt x="295263" y="342857"/>
                      <a:pt x="311727" y="297118"/>
                    </a:cubicBezTo>
                    <a:lnTo>
                      <a:pt x="400551" y="297118"/>
                    </a:lnTo>
                    <a:cubicBezTo>
                      <a:pt x="379979" y="387797"/>
                      <a:pt x="301027" y="438358"/>
                      <a:pt x="208094" y="438358"/>
                    </a:cubicBezTo>
                    <a:cubicBezTo>
                      <a:pt x="74843" y="438358"/>
                      <a:pt x="0" y="347679"/>
                      <a:pt x="0" y="220106"/>
                    </a:cubicBezTo>
                    <a:cubicBezTo>
                      <a:pt x="0" y="102178"/>
                      <a:pt x="78952" y="1084"/>
                      <a:pt x="205611" y="1084"/>
                    </a:cubicBezTo>
                    <a:cubicBezTo>
                      <a:pt x="339690" y="1084"/>
                      <a:pt x="421923" y="119013"/>
                      <a:pt x="406287" y="243390"/>
                    </a:cubicBezTo>
                    <a:close/>
                    <a:moveTo>
                      <a:pt x="515826" y="292867"/>
                    </a:moveTo>
                    <a:cubicBezTo>
                      <a:pt x="520734" y="345796"/>
                      <a:pt x="561850" y="365056"/>
                      <a:pt x="612012" y="365056"/>
                    </a:cubicBezTo>
                    <a:cubicBezTo>
                      <a:pt x="647393" y="365056"/>
                      <a:pt x="709083" y="357837"/>
                      <a:pt x="706629" y="310500"/>
                    </a:cubicBezTo>
                    <a:cubicBezTo>
                      <a:pt x="704146" y="262364"/>
                      <a:pt x="635894" y="256743"/>
                      <a:pt x="567643" y="241507"/>
                    </a:cubicBezTo>
                    <a:cubicBezTo>
                      <a:pt x="498535" y="227040"/>
                      <a:pt x="431111" y="202986"/>
                      <a:pt x="431111" y="118756"/>
                    </a:cubicBezTo>
                    <a:cubicBezTo>
                      <a:pt x="431111" y="28105"/>
                      <a:pt x="531434" y="0"/>
                      <a:pt x="608760" y="0"/>
                    </a:cubicBezTo>
                    <a:cubicBezTo>
                      <a:pt x="695929" y="0"/>
                      <a:pt x="774881" y="35296"/>
                      <a:pt x="786408" y="127573"/>
                    </a:cubicBezTo>
                    <a:lnTo>
                      <a:pt x="688539" y="127573"/>
                    </a:lnTo>
                    <a:cubicBezTo>
                      <a:pt x="680292" y="84259"/>
                      <a:pt x="643285" y="72218"/>
                      <a:pt x="602168" y="72218"/>
                    </a:cubicBezTo>
                    <a:cubicBezTo>
                      <a:pt x="575033" y="72218"/>
                      <a:pt x="524871" y="78638"/>
                      <a:pt x="524871" y="114733"/>
                    </a:cubicBezTo>
                    <a:cubicBezTo>
                      <a:pt x="524871" y="159673"/>
                      <a:pt x="593950" y="166093"/>
                      <a:pt x="663030" y="181330"/>
                    </a:cubicBezTo>
                    <a:cubicBezTo>
                      <a:pt x="731282" y="196566"/>
                      <a:pt x="800389" y="220649"/>
                      <a:pt x="800389" y="302482"/>
                    </a:cubicBezTo>
                    <a:cubicBezTo>
                      <a:pt x="800389" y="401179"/>
                      <a:pt x="698383" y="437274"/>
                      <a:pt x="610386" y="437274"/>
                    </a:cubicBezTo>
                    <a:cubicBezTo>
                      <a:pt x="503471" y="437274"/>
                      <a:pt x="423692" y="390765"/>
                      <a:pt x="422066" y="292867"/>
                    </a:cubicBezTo>
                    <a:close/>
                  </a:path>
                </a:pathLst>
              </a:custGeom>
              <a:solidFill>
                <a:srgbClr val="0090DA"/>
              </a:solidFill>
              <a:ln w="285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96D67B60-330E-B5B6-C4B3-00E8F17D3C67}"/>
                  </a:ext>
                </a:extLst>
              </p:cNvPr>
              <p:cNvSpPr/>
              <p:nvPr/>
            </p:nvSpPr>
            <p:spPr>
              <a:xfrm>
                <a:off x="10470924" y="312071"/>
                <a:ext cx="109853" cy="107057"/>
              </a:xfrm>
              <a:custGeom>
                <a:avLst/>
                <a:gdLst>
                  <a:gd name="connsiteX0" fmla="*/ 109853 w 109853"/>
                  <a:gd name="connsiteY0" fmla="*/ 53529 h 107057"/>
                  <a:gd name="connsiteX1" fmla="*/ 54927 w 109853"/>
                  <a:gd name="connsiteY1" fmla="*/ 107057 h 107057"/>
                  <a:gd name="connsiteX2" fmla="*/ 0 w 109853"/>
                  <a:gd name="connsiteY2" fmla="*/ 53529 h 107057"/>
                  <a:gd name="connsiteX3" fmla="*/ 54927 w 109853"/>
                  <a:gd name="connsiteY3" fmla="*/ 0 h 107057"/>
                  <a:gd name="connsiteX4" fmla="*/ 109853 w 109853"/>
                  <a:gd name="connsiteY4" fmla="*/ 53529 h 1070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9853" h="107057">
                    <a:moveTo>
                      <a:pt x="109853" y="53529"/>
                    </a:moveTo>
                    <a:cubicBezTo>
                      <a:pt x="109853" y="83089"/>
                      <a:pt x="85258" y="107057"/>
                      <a:pt x="54927" y="107057"/>
                    </a:cubicBezTo>
                    <a:cubicBezTo>
                      <a:pt x="24596" y="107057"/>
                      <a:pt x="0" y="83089"/>
                      <a:pt x="0" y="53529"/>
                    </a:cubicBezTo>
                    <a:cubicBezTo>
                      <a:pt x="0" y="23968"/>
                      <a:pt x="24596" y="0"/>
                      <a:pt x="54927" y="0"/>
                    </a:cubicBezTo>
                    <a:cubicBezTo>
                      <a:pt x="85258" y="0"/>
                      <a:pt x="109853" y="23968"/>
                      <a:pt x="109853" y="53529"/>
                    </a:cubicBezTo>
                  </a:path>
                </a:pathLst>
              </a:custGeom>
              <a:solidFill>
                <a:srgbClr val="EA8735"/>
              </a:solidFill>
              <a:ln w="285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1E38F5F-AE4B-A84F-530C-1A48C164C1B5}"/>
              </a:ext>
            </a:extLst>
          </p:cNvPr>
          <p:cNvCxnSpPr/>
          <p:nvPr/>
        </p:nvCxnSpPr>
        <p:spPr>
          <a:xfrm>
            <a:off x="11411339" y="6356791"/>
            <a:ext cx="0" cy="364243"/>
          </a:xfrm>
          <a:prstGeom prst="line">
            <a:avLst/>
          </a:prstGeom>
          <a:ln>
            <a:solidFill>
              <a:srgbClr val="EA87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E1DA72C-6713-D8E0-CB23-4237A33B4CF9}"/>
              </a:ext>
            </a:extLst>
          </p:cNvPr>
          <p:cNvSpPr txBox="1"/>
          <p:nvPr/>
        </p:nvSpPr>
        <p:spPr>
          <a:xfrm>
            <a:off x="4413384" y="3013502"/>
            <a:ext cx="33652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0D0D2F"/>
                </a:solidFill>
                <a:latin typeface="Lyft Pro UI" panose="02000503030000000000" pitchFamily="50" charset="0"/>
              </a:rPr>
              <a:t>Live Demo</a:t>
            </a:r>
          </a:p>
        </p:txBody>
      </p:sp>
    </p:spTree>
    <p:extLst>
      <p:ext uri="{BB962C8B-B14F-4D97-AF65-F5344CB8AC3E}">
        <p14:creationId xmlns:p14="http://schemas.microsoft.com/office/powerpoint/2010/main" val="193562761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32687&quot;&gt;&lt;version val=&quot;38530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m/%d&lt;/m_strFormatTime&gt;&lt;m_yearfmt&gt;&lt;begin val=&quot;0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6&quot;&gt;&lt;elem m_fUsage=&quot;2.08706799678066090564E+00&quot;&gt;&lt;m_msothmcolidx val=&quot;0&quot;/&gt;&lt;m_rgb r=&quot;FB&quot; g=&quot;4D&quot; b=&quot;42&quot;/&gt;&lt;/elem&gt;&lt;elem m_fUsage=&quot;1.92056285761000955503E+00&quot;&gt;&lt;m_msothmcolidx val=&quot;0&quot;/&gt;&lt;m_rgb r=&quot;42&quot; g=&quot;72&quot; b=&quot;B7&quot;/&gt;&lt;/elem&gt;&lt;elem m_fUsage=&quot;1.89556613910000004708E+00&quot;&gt;&lt;m_msothmcolidx val=&quot;0&quot;/&gt;&lt;m_rgb r=&quot;EA&quot; g=&quot;87&quot; b=&quot;35&quot;/&gt;&lt;/elem&gt;&lt;elem m_fUsage=&quot;1.60597803257100024688E+00&quot;&gt;&lt;m_msothmcolidx val=&quot;0&quot;/&gt;&lt;m_rgb r=&quot;0D&quot; g=&quot;0D&quot; b=&quot;2F&quot;/&gt;&lt;/elem&gt;&lt;elem m_fUsage=&quot;1.00000000000000000000E+00&quot;&gt;&lt;m_msothmcolidx val=&quot;0&quot;/&gt;&lt;m_rgb r=&quot;D2&quot; g=&quot;B5&quot; b=&quot;2D&quot;/&gt;&lt;/elem&gt;&lt;elem m_fUsage=&quot;6.04531161973079544936E-01&quot;&gt;&lt;m_msothmcolidx val=&quot;0&quot;/&gt;&lt;m_rgb r=&quot;09&quot; g=&quot;1F&quot; b=&quot;2F&quot;/&gt;&lt;/elem&gt;&lt;/m_vecMRU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voP9UyDtXMopMFueRDfbQ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Uf9h1tCS2jQ.lCHrwSkO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eH9Q.v90qBdglV4PHO4.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dMNgPTw6c0PgqIuCBrTr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K1OqtfU4Zgxg93bsfHiUw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4T79JdzIxJaD.cOaZbVNQ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osOn1qiQh9msX70MCnevQ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wlBvvE7rTwTTKAEsgiEc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0GXDA2xN3y0d.3xe9HKg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ZjrQGB_94mQzY4pqgTWX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sOLhTvNoGLaVavruK2HRQ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97TfjJ2CgYJHiWUALwaW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NY3NiZR9euCu3B5n0InHA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52KepVjzVE8gTnDqvKhaA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OIzFVkc.90uOoWV6oyDj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zrf6Y6kIsdL6HVDbuA4JA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dnraQfyBWRXzoXryBUEwQ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8FvqVjKwdmfVH3W_sF.pQ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eBj0USHEBtuTp8LOTaj3Q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F92Dx6jkOMai8HX44ze1w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V.E40QP9_U6h7GgbyB16g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oUaUHjDAp7NCrpORPW0Q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AoYiLpp.mwadCJEs3w4S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3XfigyDzXOoQ7hBqu0M.w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dQ9P_nvImYzr.8nzy1jow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uiYjj9O8XdB97Va3FeO9g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52KepVjzVE8gTnDqvKhaA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OIzFVkc.90uOoWV6oyDjg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zrf6Y6kIsdL6HVDbuA4JA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dnraQfyBWRXzoXryBUEwQ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8FvqVjKwdmfVH3W_sF.pQ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eBj0USHEBtuTp8LOTaj3Q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41yvZj.fSTDYOXDVnhRdA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uiYjj9O8XdB97Va3FeO9g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F92Dx6jkOMai8HX44ze1w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V.E40QP9_U6h7GgbyB16g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oUaUHjDAp7NCrpORPW0Q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AoYiLpp.mwadCJEs3w4SA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3XfigyDzXOoQ7hBqu0M.w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DF3MHiPOrUk96uYPuTy8w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qBmE80PIxUkgEBoGdXFgA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kmHP5vrcWQQccPuY.5juA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ELM2KD3lovp62oYmNWRYw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yDoXCV2YKij27FAD6Er9Q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aSU7BtHJgVMc_ITHBZiTw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mKj05HRqBb0CEEmfP_Etw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iA6AMZUzdI2haBtNepeaA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4647</TotalTime>
  <Words>753</Words>
  <Application>Microsoft Macintosh PowerPoint</Application>
  <PresentationFormat>Widescreen</PresentationFormat>
  <Paragraphs>169</Paragraphs>
  <Slides>15</Slides>
  <Notes>14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Lyft Pro UI</vt:lpstr>
      <vt:lpstr>Aptos</vt:lpstr>
      <vt:lpstr>Aptos Display</vt:lpstr>
      <vt:lpstr>Arial</vt:lpstr>
      <vt:lpstr>Office Theme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Mohammed Al Qanaq</dc:creator>
  <cp:lastModifiedBy>Xiaoqing Ye</cp:lastModifiedBy>
  <cp:revision>23</cp:revision>
  <dcterms:created xsi:type="dcterms:W3CDTF">2025-11-30T08:16:34Z</dcterms:created>
  <dcterms:modified xsi:type="dcterms:W3CDTF">2025-12-09T18:34:43Z</dcterms:modified>
</cp:coreProperties>
</file>